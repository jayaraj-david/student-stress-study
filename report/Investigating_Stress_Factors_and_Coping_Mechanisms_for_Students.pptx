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37"/>
  </p:notesMasterIdLst>
  <p:sldIdLst>
    <p:sldId id="374" r:id="rId2"/>
    <p:sldId id="257" r:id="rId3"/>
    <p:sldId id="375" r:id="rId4"/>
    <p:sldId id="376" r:id="rId5"/>
    <p:sldId id="378" r:id="rId6"/>
    <p:sldId id="379" r:id="rId7"/>
    <p:sldId id="382" r:id="rId8"/>
    <p:sldId id="381" r:id="rId9"/>
    <p:sldId id="383" r:id="rId10"/>
    <p:sldId id="384" r:id="rId11"/>
    <p:sldId id="386" r:id="rId12"/>
    <p:sldId id="387" r:id="rId13"/>
    <p:sldId id="388" r:id="rId14"/>
    <p:sldId id="389" r:id="rId15"/>
    <p:sldId id="391" r:id="rId16"/>
    <p:sldId id="400" r:id="rId17"/>
    <p:sldId id="393" r:id="rId18"/>
    <p:sldId id="394" r:id="rId19"/>
    <p:sldId id="395" r:id="rId20"/>
    <p:sldId id="397" r:id="rId21"/>
    <p:sldId id="398" r:id="rId22"/>
    <p:sldId id="399" r:id="rId23"/>
    <p:sldId id="401" r:id="rId24"/>
    <p:sldId id="402" r:id="rId25"/>
    <p:sldId id="403" r:id="rId26"/>
    <p:sldId id="404" r:id="rId27"/>
    <p:sldId id="405" r:id="rId28"/>
    <p:sldId id="406" r:id="rId29"/>
    <p:sldId id="407" r:id="rId30"/>
    <p:sldId id="408" r:id="rId31"/>
    <p:sldId id="409" r:id="rId32"/>
    <p:sldId id="410" r:id="rId33"/>
    <p:sldId id="411" r:id="rId34"/>
    <p:sldId id="412" r:id="rId35"/>
    <p:sldId id="413" r:id="rId36"/>
  </p:sldIdLst>
  <p:sldSz cx="9144000" cy="5143500" type="screen16x9"/>
  <p:notesSz cx="6858000" cy="9144000"/>
  <p:embeddedFontLst>
    <p:embeddedFont>
      <p:font typeface="Cambria Math" panose="02040503050406030204" pitchFamily="18" charset="0"/>
      <p:regular r:id="rId38"/>
    </p:embeddedFont>
    <p:embeddedFont>
      <p:font typeface="Grandview" panose="020B0502040204020203" pitchFamily="34" charset="0"/>
      <p:regular r:id="rId39"/>
      <p:bold r:id="rId40"/>
      <p:italic r:id="rId41"/>
      <p:boldItalic r:id="rId42"/>
    </p:embeddedFont>
    <p:embeddedFont>
      <p:font typeface="Helvetica" panose="020B0604020202020204" pitchFamily="34" charset="0"/>
      <p:regular r:id="rId43"/>
      <p:bold r:id="rId44"/>
      <p:italic r:id="rId45"/>
      <p:boldItalic r:id="rId46"/>
    </p:embeddedFont>
    <p:embeddedFont>
      <p:font typeface="Karla" pitchFamily="2" charset="0"/>
      <p:regular r:id="rId47"/>
      <p:bold r:id="rId48"/>
      <p:italic r:id="rId49"/>
      <p:boldItalic r:id="rId50"/>
    </p:embeddedFont>
    <p:embeddedFont>
      <p:font typeface="Open Sans" panose="020B0606030504020204" pitchFamily="34" charset="0"/>
      <p:regular r:id="rId51"/>
      <p:bold r:id="rId52"/>
      <p:italic r:id="rId53"/>
      <p:boldItalic r:id="rId54"/>
    </p:embeddedFont>
    <p:embeddedFont>
      <p:font typeface="Open Sans ExtraBold" panose="020B0906030804020204" pitchFamily="34" charset="0"/>
      <p:bold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p15:clr>
            <a:srgbClr val="9AA0A6"/>
          </p15:clr>
        </p15:guide>
        <p15:guide id="2" orient="horz" pos="162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26B85"/>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C85EF79-D8E3-47E4-A771-FF063A27DA16}">
  <a:tblStyle styleId="{AC85EF79-D8E3-47E4-A771-FF063A27DA1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5" d="100"/>
          <a:sy n="105" d="100"/>
        </p:scale>
        <p:origin x="758" y="62"/>
      </p:cViewPr>
      <p:guideLst>
        <p:guide pos="2880"/>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font" Target="fonts/font18.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4.fntdata"/><Relationship Id="rId54" Type="http://schemas.openxmlformats.org/officeDocument/2006/relationships/font" Target="fonts/font1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7605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8fb8d6ea64_0_5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8fb8d6ea64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7"/>
        <p:cNvGrpSpPr/>
        <p:nvPr/>
      </p:nvGrpSpPr>
      <p:grpSpPr>
        <a:xfrm>
          <a:off x="0" y="0"/>
          <a:ext cx="0" cy="0"/>
          <a:chOff x="0" y="0"/>
          <a:chExt cx="0" cy="0"/>
        </a:xfrm>
      </p:grpSpPr>
      <p:sp>
        <p:nvSpPr>
          <p:cNvPr id="1968" name="Google Shape;1968;gbbc23113e9_0_9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9" name="Google Shape;1969;gbbc23113e9_0_9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4059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5344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bbda8b8de6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bbda8b8de6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2072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7"/>
        <p:cNvGrpSpPr/>
        <p:nvPr/>
      </p:nvGrpSpPr>
      <p:grpSpPr>
        <a:xfrm>
          <a:off x="0" y="0"/>
          <a:ext cx="0" cy="0"/>
          <a:chOff x="0" y="0"/>
          <a:chExt cx="0" cy="0"/>
        </a:xfrm>
      </p:grpSpPr>
      <p:sp>
        <p:nvSpPr>
          <p:cNvPr id="1968" name="Google Shape;1968;gbbc23113e9_0_9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9" name="Google Shape;1969;gbbc23113e9_0_9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4075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483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bbda8b8de6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bbda8b8de6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6212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7"/>
        <p:cNvGrpSpPr/>
        <p:nvPr/>
      </p:nvGrpSpPr>
      <p:grpSpPr>
        <a:xfrm>
          <a:off x="0" y="0"/>
          <a:ext cx="0" cy="0"/>
          <a:chOff x="0" y="0"/>
          <a:chExt cx="0" cy="0"/>
        </a:xfrm>
      </p:grpSpPr>
      <p:sp>
        <p:nvSpPr>
          <p:cNvPr id="1968" name="Google Shape;1968;gbbc23113e9_0_9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9" name="Google Shape;1969;gbbc23113e9_0_9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27827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19202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4033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33732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7966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7"/>
        <p:cNvGrpSpPr/>
        <p:nvPr/>
      </p:nvGrpSpPr>
      <p:grpSpPr>
        <a:xfrm>
          <a:off x="0" y="0"/>
          <a:ext cx="0" cy="0"/>
          <a:chOff x="0" y="0"/>
          <a:chExt cx="0" cy="0"/>
        </a:xfrm>
      </p:grpSpPr>
      <p:sp>
        <p:nvSpPr>
          <p:cNvPr id="1968" name="Google Shape;1968;gbbc23113e9_0_9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9" name="Google Shape;1969;gbbc23113e9_0_9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30897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bbda8b8de6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bbda8b8de6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57398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8177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2713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80517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22135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bbda8b8de6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bbda8b8de6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09794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102749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46524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23145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bbda8b8de6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bbda8b8de6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580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09311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7"/>
        <p:cNvGrpSpPr/>
        <p:nvPr/>
      </p:nvGrpSpPr>
      <p:grpSpPr>
        <a:xfrm>
          <a:off x="0" y="0"/>
          <a:ext cx="0" cy="0"/>
          <a:chOff x="0" y="0"/>
          <a:chExt cx="0" cy="0"/>
        </a:xfrm>
      </p:grpSpPr>
      <p:sp>
        <p:nvSpPr>
          <p:cNvPr id="1968" name="Google Shape;1968;gbbc23113e9_0_9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9" name="Google Shape;1969;gbbc23113e9_0_9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57178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bbda8b8de6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bbda8b8de6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97713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37533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12112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73732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5"/>
        <p:cNvGrpSpPr/>
        <p:nvPr/>
      </p:nvGrpSpPr>
      <p:grpSpPr>
        <a:xfrm>
          <a:off x="0" y="0"/>
          <a:ext cx="0" cy="0"/>
          <a:chOff x="0" y="0"/>
          <a:chExt cx="0" cy="0"/>
        </a:xfrm>
      </p:grpSpPr>
      <p:sp>
        <p:nvSpPr>
          <p:cNvPr id="1716" name="Google Shape;1716;gbbda8b8de6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7" name="Google Shape;1717;gbbda8b8de6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729859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9"/>
        <p:cNvGrpSpPr/>
        <p:nvPr/>
      </p:nvGrpSpPr>
      <p:grpSpPr>
        <a:xfrm>
          <a:off x="0" y="0"/>
          <a:ext cx="0" cy="0"/>
          <a:chOff x="0" y="0"/>
          <a:chExt cx="0" cy="0"/>
        </a:xfrm>
      </p:grpSpPr>
      <p:sp>
        <p:nvSpPr>
          <p:cNvPr id="1710" name="Google Shape;1710;gaa3af7fec5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1" name="Google Shape;1711;gaa3af7fec5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33485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7"/>
        <p:cNvGrpSpPr/>
        <p:nvPr/>
      </p:nvGrpSpPr>
      <p:grpSpPr>
        <a:xfrm>
          <a:off x="0" y="0"/>
          <a:ext cx="0" cy="0"/>
          <a:chOff x="0" y="0"/>
          <a:chExt cx="0" cy="0"/>
        </a:xfrm>
      </p:grpSpPr>
      <p:sp>
        <p:nvSpPr>
          <p:cNvPr id="1968" name="Google Shape;1968;gbbc23113e9_0_9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9" name="Google Shape;1969;gbbc23113e9_0_9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9429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p:nvPr/>
        </p:nvSpPr>
        <p:spPr>
          <a:xfrm flipH="1">
            <a:off x="-33" y="0"/>
            <a:ext cx="1211135" cy="770513"/>
          </a:xfrm>
          <a:custGeom>
            <a:avLst/>
            <a:gdLst/>
            <a:ahLst/>
            <a:cxnLst/>
            <a:rect l="l" t="t" r="r" b="b"/>
            <a:pathLst>
              <a:path w="28933" h="18408" extrusionOk="0">
                <a:moveTo>
                  <a:pt x="1" y="1"/>
                </a:moveTo>
                <a:cubicBezTo>
                  <a:pt x="36" y="477"/>
                  <a:pt x="132" y="953"/>
                  <a:pt x="298" y="1418"/>
                </a:cubicBezTo>
                <a:cubicBezTo>
                  <a:pt x="965" y="3335"/>
                  <a:pt x="2477" y="4847"/>
                  <a:pt x="4180" y="5954"/>
                </a:cubicBezTo>
                <a:cubicBezTo>
                  <a:pt x="7061" y="7823"/>
                  <a:pt x="10490" y="8680"/>
                  <a:pt x="13836" y="9431"/>
                </a:cubicBezTo>
                <a:cubicBezTo>
                  <a:pt x="17205" y="10193"/>
                  <a:pt x="20622" y="10931"/>
                  <a:pt x="23611" y="12633"/>
                </a:cubicBezTo>
                <a:cubicBezTo>
                  <a:pt x="25921" y="13955"/>
                  <a:pt x="27957" y="15979"/>
                  <a:pt x="28933" y="18408"/>
                </a:cubicBezTo>
                <a:lnTo>
                  <a:pt x="289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4"/>
          <p:cNvSpPr/>
          <p:nvPr/>
        </p:nvSpPr>
        <p:spPr>
          <a:xfrm rot="10800000" flipH="1">
            <a:off x="7932867" y="4372975"/>
            <a:ext cx="1211135" cy="770513"/>
          </a:xfrm>
          <a:custGeom>
            <a:avLst/>
            <a:gdLst/>
            <a:ahLst/>
            <a:cxnLst/>
            <a:rect l="l" t="t" r="r" b="b"/>
            <a:pathLst>
              <a:path w="28933" h="18408" extrusionOk="0">
                <a:moveTo>
                  <a:pt x="1" y="1"/>
                </a:moveTo>
                <a:cubicBezTo>
                  <a:pt x="36" y="477"/>
                  <a:pt x="132" y="953"/>
                  <a:pt x="298" y="1418"/>
                </a:cubicBezTo>
                <a:cubicBezTo>
                  <a:pt x="965" y="3335"/>
                  <a:pt x="2477" y="4847"/>
                  <a:pt x="4180" y="5954"/>
                </a:cubicBezTo>
                <a:cubicBezTo>
                  <a:pt x="7061" y="7823"/>
                  <a:pt x="10490" y="8680"/>
                  <a:pt x="13836" y="9431"/>
                </a:cubicBezTo>
                <a:cubicBezTo>
                  <a:pt x="17205" y="10193"/>
                  <a:pt x="20622" y="10931"/>
                  <a:pt x="23611" y="12633"/>
                </a:cubicBezTo>
                <a:cubicBezTo>
                  <a:pt x="25921" y="13955"/>
                  <a:pt x="27957" y="15979"/>
                  <a:pt x="28933" y="18408"/>
                </a:cubicBezTo>
                <a:lnTo>
                  <a:pt x="289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4"/>
          <p:cNvSpPr txBox="1">
            <a:spLocks noGrp="1"/>
          </p:cNvSpPr>
          <p:nvPr>
            <p:ph type="body" idx="1"/>
          </p:nvPr>
        </p:nvSpPr>
        <p:spPr>
          <a:xfrm>
            <a:off x="713100" y="1147950"/>
            <a:ext cx="7809000" cy="35295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Font typeface="Karla"/>
              <a:buChar char="●"/>
              <a:defRPr sz="1200"/>
            </a:lvl1pPr>
            <a:lvl2pPr marL="914400" lvl="1" indent="-304800" rtl="0">
              <a:spcBef>
                <a:spcPts val="0"/>
              </a:spcBef>
              <a:spcAft>
                <a:spcPts val="0"/>
              </a:spcAft>
              <a:buSzPts val="1200"/>
              <a:buFont typeface="Karla"/>
              <a:buChar char="○"/>
              <a:defRPr sz="1200"/>
            </a:lvl2pPr>
            <a:lvl3pPr marL="1371600" lvl="2" indent="-304800" rtl="0">
              <a:spcBef>
                <a:spcPts val="0"/>
              </a:spcBef>
              <a:spcAft>
                <a:spcPts val="0"/>
              </a:spcAft>
              <a:buSzPts val="1200"/>
              <a:buFont typeface="Karla"/>
              <a:buChar char="■"/>
              <a:defRPr sz="1200"/>
            </a:lvl3pPr>
            <a:lvl4pPr marL="1828800" lvl="3" indent="-304800" rtl="0">
              <a:spcBef>
                <a:spcPts val="0"/>
              </a:spcBef>
              <a:spcAft>
                <a:spcPts val="0"/>
              </a:spcAft>
              <a:buSzPts val="1200"/>
              <a:buFont typeface="Karla"/>
              <a:buChar char="●"/>
              <a:defRPr sz="1200"/>
            </a:lvl4pPr>
            <a:lvl5pPr marL="2286000" lvl="4" indent="-304800" rtl="0">
              <a:spcBef>
                <a:spcPts val="0"/>
              </a:spcBef>
              <a:spcAft>
                <a:spcPts val="0"/>
              </a:spcAft>
              <a:buSzPts val="1200"/>
              <a:buFont typeface="Karla"/>
              <a:buChar char="○"/>
              <a:defRPr sz="1200"/>
            </a:lvl5pPr>
            <a:lvl6pPr marL="2743200" lvl="5" indent="-304800" rtl="0">
              <a:spcBef>
                <a:spcPts val="0"/>
              </a:spcBef>
              <a:spcAft>
                <a:spcPts val="0"/>
              </a:spcAft>
              <a:buSzPts val="1200"/>
              <a:buFont typeface="Karla"/>
              <a:buChar char="■"/>
              <a:defRPr sz="1200"/>
            </a:lvl6pPr>
            <a:lvl7pPr marL="3200400" lvl="6" indent="-304800" rtl="0">
              <a:spcBef>
                <a:spcPts val="0"/>
              </a:spcBef>
              <a:spcAft>
                <a:spcPts val="0"/>
              </a:spcAft>
              <a:buSzPts val="1200"/>
              <a:buFont typeface="Karla"/>
              <a:buChar char="●"/>
              <a:defRPr sz="1200"/>
            </a:lvl7pPr>
            <a:lvl8pPr marL="3657600" lvl="7" indent="-304800" rtl="0">
              <a:spcBef>
                <a:spcPts val="0"/>
              </a:spcBef>
              <a:spcAft>
                <a:spcPts val="0"/>
              </a:spcAft>
              <a:buSzPts val="1200"/>
              <a:buFont typeface="Karla"/>
              <a:buChar char="○"/>
              <a:defRPr sz="1200"/>
            </a:lvl8pPr>
            <a:lvl9pPr marL="4114800" lvl="8" indent="-304800" rtl="0">
              <a:spcBef>
                <a:spcPts val="0"/>
              </a:spcBef>
              <a:spcAft>
                <a:spcPts val="0"/>
              </a:spcAft>
              <a:buSzPts val="1200"/>
              <a:buFont typeface="Karla"/>
              <a:buChar char="■"/>
              <a:defRPr sz="1200"/>
            </a:lvl9pPr>
          </a:lstStyle>
          <a:p>
            <a:pPr lvl="0"/>
            <a:r>
              <a:rPr lang="en-US"/>
              <a:t>Click to edit Master text styles</a:t>
            </a:r>
          </a:p>
        </p:txBody>
      </p:sp>
      <p:sp>
        <p:nvSpPr>
          <p:cNvPr id="19" name="Google Shape;19;p4"/>
          <p:cNvSpPr txBox="1">
            <a:spLocks noGrp="1"/>
          </p:cNvSpPr>
          <p:nvPr>
            <p:ph type="title"/>
          </p:nvPr>
        </p:nvSpPr>
        <p:spPr>
          <a:xfrm>
            <a:off x="713100" y="452325"/>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grpSp>
        <p:nvGrpSpPr>
          <p:cNvPr id="20" name="Google Shape;20;p4"/>
          <p:cNvGrpSpPr/>
          <p:nvPr/>
        </p:nvGrpSpPr>
        <p:grpSpPr>
          <a:xfrm>
            <a:off x="342397" y="236482"/>
            <a:ext cx="1168500" cy="605850"/>
            <a:chOff x="342397" y="236482"/>
            <a:chExt cx="1168500" cy="605850"/>
          </a:xfrm>
        </p:grpSpPr>
        <p:sp>
          <p:nvSpPr>
            <p:cNvPr id="21" name="Google Shape;21;p4"/>
            <p:cNvSpPr/>
            <p:nvPr/>
          </p:nvSpPr>
          <p:spPr>
            <a:xfrm rot="5400000">
              <a:off x="1459180" y="236399"/>
              <a:ext cx="51634" cy="51801"/>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p:nvPr/>
          </p:nvSpPr>
          <p:spPr>
            <a:xfrm rot="5400000">
              <a:off x="1459103" y="374953"/>
              <a:ext cx="51787" cy="51801"/>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4"/>
            <p:cNvSpPr/>
            <p:nvPr/>
          </p:nvSpPr>
          <p:spPr>
            <a:xfrm rot="5400000">
              <a:off x="1335104" y="236406"/>
              <a:ext cx="51634" cy="5178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rot="5400000">
              <a:off x="1335028" y="374960"/>
              <a:ext cx="51787" cy="51787"/>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4"/>
            <p:cNvSpPr/>
            <p:nvPr/>
          </p:nvSpPr>
          <p:spPr>
            <a:xfrm rot="5400000">
              <a:off x="1211029" y="236399"/>
              <a:ext cx="51634" cy="51801"/>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4"/>
            <p:cNvSpPr/>
            <p:nvPr/>
          </p:nvSpPr>
          <p:spPr>
            <a:xfrm rot="5400000">
              <a:off x="1210953" y="374953"/>
              <a:ext cx="51787" cy="51801"/>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1086947" y="236399"/>
              <a:ext cx="51634" cy="51801"/>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4"/>
            <p:cNvSpPr/>
            <p:nvPr/>
          </p:nvSpPr>
          <p:spPr>
            <a:xfrm rot="5400000">
              <a:off x="1086870" y="374953"/>
              <a:ext cx="51787" cy="51801"/>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4"/>
            <p:cNvSpPr/>
            <p:nvPr/>
          </p:nvSpPr>
          <p:spPr>
            <a:xfrm rot="5400000">
              <a:off x="962871" y="236406"/>
              <a:ext cx="51634" cy="5178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4"/>
            <p:cNvSpPr/>
            <p:nvPr/>
          </p:nvSpPr>
          <p:spPr>
            <a:xfrm rot="5400000">
              <a:off x="962795" y="374960"/>
              <a:ext cx="51787" cy="51787"/>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4"/>
            <p:cNvSpPr/>
            <p:nvPr/>
          </p:nvSpPr>
          <p:spPr>
            <a:xfrm rot="5400000">
              <a:off x="838796" y="236399"/>
              <a:ext cx="51634" cy="51801"/>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4"/>
            <p:cNvSpPr/>
            <p:nvPr/>
          </p:nvSpPr>
          <p:spPr>
            <a:xfrm rot="5400000">
              <a:off x="838719" y="374953"/>
              <a:ext cx="51787" cy="51801"/>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4"/>
            <p:cNvSpPr/>
            <p:nvPr/>
          </p:nvSpPr>
          <p:spPr>
            <a:xfrm rot="5400000">
              <a:off x="714713" y="236399"/>
              <a:ext cx="51634" cy="51801"/>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rot="5400000">
              <a:off x="714637" y="374953"/>
              <a:ext cx="51787" cy="51801"/>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rot="5400000">
              <a:off x="590638" y="236406"/>
              <a:ext cx="51634" cy="5178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4"/>
            <p:cNvSpPr/>
            <p:nvPr/>
          </p:nvSpPr>
          <p:spPr>
            <a:xfrm rot="5400000">
              <a:off x="590562" y="374960"/>
              <a:ext cx="51787" cy="51787"/>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4"/>
            <p:cNvSpPr/>
            <p:nvPr/>
          </p:nvSpPr>
          <p:spPr>
            <a:xfrm rot="5400000">
              <a:off x="590638" y="513514"/>
              <a:ext cx="51634" cy="5178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4"/>
            <p:cNvSpPr/>
            <p:nvPr/>
          </p:nvSpPr>
          <p:spPr>
            <a:xfrm rot="5400000">
              <a:off x="590562" y="652068"/>
              <a:ext cx="51787" cy="5178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rot="5400000">
              <a:off x="590638" y="790622"/>
              <a:ext cx="51634" cy="5178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4"/>
            <p:cNvSpPr/>
            <p:nvPr/>
          </p:nvSpPr>
          <p:spPr>
            <a:xfrm rot="5400000">
              <a:off x="466563" y="236399"/>
              <a:ext cx="51634" cy="51801"/>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p:nvPr/>
          </p:nvSpPr>
          <p:spPr>
            <a:xfrm rot="5400000">
              <a:off x="466486" y="374953"/>
              <a:ext cx="51787" cy="51801"/>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4"/>
            <p:cNvSpPr/>
            <p:nvPr/>
          </p:nvSpPr>
          <p:spPr>
            <a:xfrm rot="5400000">
              <a:off x="466563" y="513507"/>
              <a:ext cx="51634" cy="51801"/>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rot="5400000">
              <a:off x="466486" y="652061"/>
              <a:ext cx="51787" cy="51801"/>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rot="5400000">
              <a:off x="466563" y="790615"/>
              <a:ext cx="51634" cy="51801"/>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rot="5400000">
              <a:off x="342480" y="236399"/>
              <a:ext cx="51634" cy="51801"/>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rot="5400000">
              <a:off x="342404" y="374953"/>
              <a:ext cx="51787" cy="51801"/>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rot="5400000">
              <a:off x="342480" y="513507"/>
              <a:ext cx="51634" cy="51801"/>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rot="5400000">
              <a:off x="342404" y="652061"/>
              <a:ext cx="51787" cy="51801"/>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rot="5400000">
              <a:off x="342480" y="790615"/>
              <a:ext cx="51634" cy="51801"/>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0"/>
        <p:cNvGrpSpPr/>
        <p:nvPr/>
      </p:nvGrpSpPr>
      <p:grpSpPr>
        <a:xfrm>
          <a:off x="0" y="0"/>
          <a:ext cx="0" cy="0"/>
          <a:chOff x="0" y="0"/>
          <a:chExt cx="0" cy="0"/>
        </a:xfrm>
      </p:grpSpPr>
      <p:grpSp>
        <p:nvGrpSpPr>
          <p:cNvPr id="51" name="Google Shape;51;p5"/>
          <p:cNvGrpSpPr/>
          <p:nvPr/>
        </p:nvGrpSpPr>
        <p:grpSpPr>
          <a:xfrm rot="-5400000">
            <a:off x="107784" y="4210112"/>
            <a:ext cx="882068" cy="1701242"/>
            <a:chOff x="4468700" y="2997225"/>
            <a:chExt cx="1090050" cy="2102375"/>
          </a:xfrm>
        </p:grpSpPr>
        <p:sp>
          <p:nvSpPr>
            <p:cNvPr id="52" name="Google Shape;52;p5"/>
            <p:cNvSpPr/>
            <p:nvPr/>
          </p:nvSpPr>
          <p:spPr>
            <a:xfrm>
              <a:off x="4468700" y="299722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5"/>
            <p:cNvSpPr/>
            <p:nvPr/>
          </p:nvSpPr>
          <p:spPr>
            <a:xfrm>
              <a:off x="4717850" y="2997225"/>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5"/>
            <p:cNvSpPr/>
            <p:nvPr/>
          </p:nvSpPr>
          <p:spPr>
            <a:xfrm>
              <a:off x="4967275" y="299722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5216425" y="2997225"/>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5465850" y="2997225"/>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a:off x="4468700" y="322047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4717850" y="3220475"/>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4967275" y="322047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5216425" y="3220475"/>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5"/>
            <p:cNvSpPr/>
            <p:nvPr/>
          </p:nvSpPr>
          <p:spPr>
            <a:xfrm>
              <a:off x="5465850" y="3220475"/>
              <a:ext cx="92900" cy="93175"/>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5"/>
            <p:cNvSpPr/>
            <p:nvPr/>
          </p:nvSpPr>
          <p:spPr>
            <a:xfrm>
              <a:off x="4468700" y="344370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a:off x="4717850" y="3443700"/>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4967275" y="344370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a:off x="5216425" y="3443700"/>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a:off x="5465850" y="3443700"/>
              <a:ext cx="92900" cy="93200"/>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5"/>
            <p:cNvSpPr/>
            <p:nvPr/>
          </p:nvSpPr>
          <p:spPr>
            <a:xfrm>
              <a:off x="4468700" y="366695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5"/>
            <p:cNvSpPr/>
            <p:nvPr/>
          </p:nvSpPr>
          <p:spPr>
            <a:xfrm>
              <a:off x="4717850" y="3666950"/>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4967275" y="366695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5216425" y="3666950"/>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5"/>
            <p:cNvSpPr/>
            <p:nvPr/>
          </p:nvSpPr>
          <p:spPr>
            <a:xfrm>
              <a:off x="5465850" y="3666950"/>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5"/>
            <p:cNvSpPr/>
            <p:nvPr/>
          </p:nvSpPr>
          <p:spPr>
            <a:xfrm>
              <a:off x="4468700" y="3890200"/>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a:off x="4717850" y="3890200"/>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a:off x="4967275" y="3890200"/>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a:off x="5216425" y="3890200"/>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5465850" y="3890200"/>
              <a:ext cx="92900" cy="93175"/>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a:off x="4468700" y="4113425"/>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5"/>
            <p:cNvSpPr/>
            <p:nvPr/>
          </p:nvSpPr>
          <p:spPr>
            <a:xfrm>
              <a:off x="4717850" y="4113425"/>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5"/>
            <p:cNvSpPr/>
            <p:nvPr/>
          </p:nvSpPr>
          <p:spPr>
            <a:xfrm>
              <a:off x="4967275" y="4113425"/>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5216425" y="4113425"/>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5465850" y="4113425"/>
              <a:ext cx="92900" cy="93200"/>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4468700" y="433667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4717850" y="4336675"/>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4967275" y="433667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5216425" y="4336675"/>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5465850" y="4336675"/>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5"/>
            <p:cNvSpPr/>
            <p:nvPr/>
          </p:nvSpPr>
          <p:spPr>
            <a:xfrm>
              <a:off x="4468700" y="455992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5"/>
            <p:cNvSpPr/>
            <p:nvPr/>
          </p:nvSpPr>
          <p:spPr>
            <a:xfrm>
              <a:off x="4717850" y="4559925"/>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4967275" y="455992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5"/>
            <p:cNvSpPr/>
            <p:nvPr/>
          </p:nvSpPr>
          <p:spPr>
            <a:xfrm>
              <a:off x="5216425" y="4559925"/>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5465850" y="4559925"/>
              <a:ext cx="92900" cy="93175"/>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a:off x="4468700" y="478315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p:nvPr/>
          </p:nvSpPr>
          <p:spPr>
            <a:xfrm>
              <a:off x="4717850" y="4783150"/>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a:off x="4967275" y="478315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5"/>
            <p:cNvSpPr/>
            <p:nvPr/>
          </p:nvSpPr>
          <p:spPr>
            <a:xfrm>
              <a:off x="5216425" y="4783150"/>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5"/>
            <p:cNvSpPr/>
            <p:nvPr/>
          </p:nvSpPr>
          <p:spPr>
            <a:xfrm>
              <a:off x="5465850" y="4783150"/>
              <a:ext cx="92900" cy="93200"/>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5"/>
            <p:cNvSpPr/>
            <p:nvPr/>
          </p:nvSpPr>
          <p:spPr>
            <a:xfrm>
              <a:off x="4468700" y="500640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5"/>
            <p:cNvSpPr/>
            <p:nvPr/>
          </p:nvSpPr>
          <p:spPr>
            <a:xfrm>
              <a:off x="4717850" y="5006400"/>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5"/>
            <p:cNvSpPr/>
            <p:nvPr/>
          </p:nvSpPr>
          <p:spPr>
            <a:xfrm>
              <a:off x="4967275" y="500640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5"/>
            <p:cNvSpPr/>
            <p:nvPr/>
          </p:nvSpPr>
          <p:spPr>
            <a:xfrm>
              <a:off x="5216425" y="5006400"/>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5"/>
            <p:cNvSpPr/>
            <p:nvPr/>
          </p:nvSpPr>
          <p:spPr>
            <a:xfrm>
              <a:off x="5465850" y="5006400"/>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5"/>
          <p:cNvSpPr/>
          <p:nvPr/>
        </p:nvSpPr>
        <p:spPr>
          <a:xfrm>
            <a:off x="0" y="0"/>
            <a:ext cx="1126006" cy="539394"/>
          </a:xfrm>
          <a:custGeom>
            <a:avLst/>
            <a:gdLst/>
            <a:ahLst/>
            <a:cxnLst/>
            <a:rect l="l" t="t" r="r" b="b"/>
            <a:pathLst>
              <a:path w="34649" h="16598" extrusionOk="0">
                <a:moveTo>
                  <a:pt x="1" y="1"/>
                </a:moveTo>
                <a:lnTo>
                  <a:pt x="1" y="16598"/>
                </a:lnTo>
                <a:cubicBezTo>
                  <a:pt x="1537" y="14526"/>
                  <a:pt x="4168" y="13252"/>
                  <a:pt x="6776" y="12847"/>
                </a:cubicBezTo>
                <a:cubicBezTo>
                  <a:pt x="7666" y="12708"/>
                  <a:pt x="8560" y="12653"/>
                  <a:pt x="9457" y="12653"/>
                </a:cubicBezTo>
                <a:cubicBezTo>
                  <a:pt x="11859" y="12653"/>
                  <a:pt x="14280" y="13052"/>
                  <a:pt x="16682" y="13312"/>
                </a:cubicBezTo>
                <a:cubicBezTo>
                  <a:pt x="17331" y="13381"/>
                  <a:pt x="17990" y="13441"/>
                  <a:pt x="18643" y="13441"/>
                </a:cubicBezTo>
                <a:cubicBezTo>
                  <a:pt x="19342" y="13441"/>
                  <a:pt x="20035" y="13372"/>
                  <a:pt x="20706" y="13169"/>
                </a:cubicBezTo>
                <a:cubicBezTo>
                  <a:pt x="24123" y="12133"/>
                  <a:pt x="25778" y="8049"/>
                  <a:pt x="29052" y="6585"/>
                </a:cubicBezTo>
                <a:cubicBezTo>
                  <a:pt x="30302" y="6013"/>
                  <a:pt x="31731" y="5870"/>
                  <a:pt x="32850" y="5073"/>
                </a:cubicBezTo>
                <a:cubicBezTo>
                  <a:pt x="34005" y="4263"/>
                  <a:pt x="34648" y="2787"/>
                  <a:pt x="34541" y="1370"/>
                </a:cubicBezTo>
                <a:cubicBezTo>
                  <a:pt x="34517" y="905"/>
                  <a:pt x="34410" y="441"/>
                  <a:pt x="3423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5"/>
          <p:cNvSpPr/>
          <p:nvPr/>
        </p:nvSpPr>
        <p:spPr>
          <a:xfrm>
            <a:off x="7302026" y="4504551"/>
            <a:ext cx="1613339" cy="638957"/>
          </a:xfrm>
          <a:custGeom>
            <a:avLst/>
            <a:gdLst/>
            <a:ahLst/>
            <a:cxnLst/>
            <a:rect l="l" t="t" r="r" b="b"/>
            <a:pathLst>
              <a:path w="35458" h="14043" extrusionOk="0">
                <a:moveTo>
                  <a:pt x="26783" y="0"/>
                </a:moveTo>
                <a:cubicBezTo>
                  <a:pt x="26690" y="0"/>
                  <a:pt x="26597" y="2"/>
                  <a:pt x="26504" y="5"/>
                </a:cubicBezTo>
                <a:cubicBezTo>
                  <a:pt x="22444" y="136"/>
                  <a:pt x="18777" y="2386"/>
                  <a:pt x="15491" y="4779"/>
                </a:cubicBezTo>
                <a:cubicBezTo>
                  <a:pt x="12205" y="7184"/>
                  <a:pt x="8978" y="9828"/>
                  <a:pt x="5085" y="11018"/>
                </a:cubicBezTo>
                <a:cubicBezTo>
                  <a:pt x="3120" y="11614"/>
                  <a:pt x="656" y="12185"/>
                  <a:pt x="1" y="14042"/>
                </a:cubicBezTo>
                <a:lnTo>
                  <a:pt x="32410" y="14042"/>
                </a:lnTo>
                <a:cubicBezTo>
                  <a:pt x="32803" y="13530"/>
                  <a:pt x="33172" y="12995"/>
                  <a:pt x="33517" y="12435"/>
                </a:cubicBezTo>
                <a:cubicBezTo>
                  <a:pt x="34601" y="10709"/>
                  <a:pt x="35458" y="8732"/>
                  <a:pt x="35303" y="6684"/>
                </a:cubicBezTo>
                <a:cubicBezTo>
                  <a:pt x="35001" y="2717"/>
                  <a:pt x="30765" y="0"/>
                  <a:pt x="2678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5"/>
          <p:cNvSpPr txBox="1">
            <a:spLocks noGrp="1"/>
          </p:cNvSpPr>
          <p:nvPr>
            <p:ph type="subTitle" idx="1"/>
          </p:nvPr>
        </p:nvSpPr>
        <p:spPr>
          <a:xfrm>
            <a:off x="1331237" y="2856950"/>
            <a:ext cx="2949600" cy="420600"/>
          </a:xfrm>
          <a:prstGeom prst="rect">
            <a:avLst/>
          </a:prstGeom>
        </p:spPr>
        <p:txBody>
          <a:bodyPr spcFirstLastPara="1" wrap="square" lIns="91425" tIns="91425" rIns="91425" bIns="91425" anchor="b" anchorCtr="0">
            <a:noAutofit/>
          </a:bodyPr>
          <a:lstStyle>
            <a:lvl1pPr lvl="0" algn="ctr" rtl="0">
              <a:spcBef>
                <a:spcPts val="0"/>
              </a:spcBef>
              <a:spcAft>
                <a:spcPts val="0"/>
              </a:spcAft>
              <a:buNone/>
              <a:defRPr sz="2000" b="1">
                <a:solidFill>
                  <a:schemeClr val="dk1"/>
                </a:solidFill>
                <a:latin typeface="Open Sans"/>
                <a:ea typeface="Open Sans"/>
                <a:cs typeface="Open Sans"/>
                <a:sym typeface="Open Sans"/>
              </a:defRPr>
            </a:lvl1pPr>
            <a:lvl2pPr lvl="1" algn="ctr" rtl="0">
              <a:spcBef>
                <a:spcPts val="0"/>
              </a:spcBef>
              <a:spcAft>
                <a:spcPts val="0"/>
              </a:spcAft>
              <a:buNone/>
              <a:defRPr sz="2000" b="1">
                <a:solidFill>
                  <a:schemeClr val="dk1"/>
                </a:solidFill>
                <a:latin typeface="Open Sans"/>
                <a:ea typeface="Open Sans"/>
                <a:cs typeface="Open Sans"/>
                <a:sym typeface="Open Sans"/>
              </a:defRPr>
            </a:lvl2pPr>
            <a:lvl3pPr lvl="2" algn="ctr" rtl="0">
              <a:spcBef>
                <a:spcPts val="0"/>
              </a:spcBef>
              <a:spcAft>
                <a:spcPts val="0"/>
              </a:spcAft>
              <a:buNone/>
              <a:defRPr sz="2000" b="1">
                <a:solidFill>
                  <a:schemeClr val="dk1"/>
                </a:solidFill>
                <a:latin typeface="Open Sans"/>
                <a:ea typeface="Open Sans"/>
                <a:cs typeface="Open Sans"/>
                <a:sym typeface="Open Sans"/>
              </a:defRPr>
            </a:lvl3pPr>
            <a:lvl4pPr lvl="3" algn="ctr" rtl="0">
              <a:spcBef>
                <a:spcPts val="0"/>
              </a:spcBef>
              <a:spcAft>
                <a:spcPts val="0"/>
              </a:spcAft>
              <a:buNone/>
              <a:defRPr sz="2000" b="1">
                <a:solidFill>
                  <a:schemeClr val="dk1"/>
                </a:solidFill>
                <a:latin typeface="Open Sans"/>
                <a:ea typeface="Open Sans"/>
                <a:cs typeface="Open Sans"/>
                <a:sym typeface="Open Sans"/>
              </a:defRPr>
            </a:lvl4pPr>
            <a:lvl5pPr lvl="4" algn="ctr" rtl="0">
              <a:spcBef>
                <a:spcPts val="0"/>
              </a:spcBef>
              <a:spcAft>
                <a:spcPts val="0"/>
              </a:spcAft>
              <a:buNone/>
              <a:defRPr sz="2000" b="1">
                <a:solidFill>
                  <a:schemeClr val="dk1"/>
                </a:solidFill>
                <a:latin typeface="Open Sans"/>
                <a:ea typeface="Open Sans"/>
                <a:cs typeface="Open Sans"/>
                <a:sym typeface="Open Sans"/>
              </a:defRPr>
            </a:lvl5pPr>
            <a:lvl6pPr lvl="5" algn="ctr" rtl="0">
              <a:spcBef>
                <a:spcPts val="0"/>
              </a:spcBef>
              <a:spcAft>
                <a:spcPts val="0"/>
              </a:spcAft>
              <a:buNone/>
              <a:defRPr sz="2000" b="1">
                <a:solidFill>
                  <a:schemeClr val="dk1"/>
                </a:solidFill>
                <a:latin typeface="Open Sans"/>
                <a:ea typeface="Open Sans"/>
                <a:cs typeface="Open Sans"/>
                <a:sym typeface="Open Sans"/>
              </a:defRPr>
            </a:lvl6pPr>
            <a:lvl7pPr lvl="6" algn="ctr" rtl="0">
              <a:spcBef>
                <a:spcPts val="0"/>
              </a:spcBef>
              <a:spcAft>
                <a:spcPts val="0"/>
              </a:spcAft>
              <a:buNone/>
              <a:defRPr sz="2000" b="1">
                <a:solidFill>
                  <a:schemeClr val="dk1"/>
                </a:solidFill>
                <a:latin typeface="Open Sans"/>
                <a:ea typeface="Open Sans"/>
                <a:cs typeface="Open Sans"/>
                <a:sym typeface="Open Sans"/>
              </a:defRPr>
            </a:lvl7pPr>
            <a:lvl8pPr lvl="7" algn="ctr" rtl="0">
              <a:spcBef>
                <a:spcPts val="0"/>
              </a:spcBef>
              <a:spcAft>
                <a:spcPts val="0"/>
              </a:spcAft>
              <a:buNone/>
              <a:defRPr sz="2000" b="1">
                <a:solidFill>
                  <a:schemeClr val="dk1"/>
                </a:solidFill>
                <a:latin typeface="Open Sans"/>
                <a:ea typeface="Open Sans"/>
                <a:cs typeface="Open Sans"/>
                <a:sym typeface="Open Sans"/>
              </a:defRPr>
            </a:lvl8pPr>
            <a:lvl9pPr lvl="8" algn="ctr" rtl="0">
              <a:spcBef>
                <a:spcPts val="0"/>
              </a:spcBef>
              <a:spcAft>
                <a:spcPts val="0"/>
              </a:spcAft>
              <a:buNone/>
              <a:defRPr sz="2000" b="1">
                <a:solidFill>
                  <a:schemeClr val="dk1"/>
                </a:solidFill>
                <a:latin typeface="Open Sans"/>
                <a:ea typeface="Open Sans"/>
                <a:cs typeface="Open Sans"/>
                <a:sym typeface="Open Sans"/>
              </a:defRPr>
            </a:lvl9pPr>
          </a:lstStyle>
          <a:p>
            <a:r>
              <a:rPr lang="en-US"/>
              <a:t>Click to edit Master subtitle style</a:t>
            </a:r>
            <a:endParaRPr/>
          </a:p>
        </p:txBody>
      </p:sp>
      <p:sp>
        <p:nvSpPr>
          <p:cNvPr id="105" name="Google Shape;105;p5"/>
          <p:cNvSpPr txBox="1">
            <a:spLocks noGrp="1"/>
          </p:cNvSpPr>
          <p:nvPr>
            <p:ph type="subTitle" idx="2"/>
          </p:nvPr>
        </p:nvSpPr>
        <p:spPr>
          <a:xfrm>
            <a:off x="1333775" y="3183300"/>
            <a:ext cx="2946900" cy="120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lvl1pPr>
            <a:lvl2pPr lvl="1" algn="ctr" rtl="0">
              <a:spcBef>
                <a:spcPts val="0"/>
              </a:spcBef>
              <a:spcAft>
                <a:spcPts val="0"/>
              </a:spcAft>
              <a:buNone/>
              <a:defRPr sz="1600" b="1"/>
            </a:lvl2pPr>
            <a:lvl3pPr lvl="2" algn="ctr" rtl="0">
              <a:spcBef>
                <a:spcPts val="0"/>
              </a:spcBef>
              <a:spcAft>
                <a:spcPts val="0"/>
              </a:spcAft>
              <a:buNone/>
              <a:defRPr sz="1600" b="1"/>
            </a:lvl3pPr>
            <a:lvl4pPr lvl="3" algn="ctr" rtl="0">
              <a:spcBef>
                <a:spcPts val="0"/>
              </a:spcBef>
              <a:spcAft>
                <a:spcPts val="0"/>
              </a:spcAft>
              <a:buNone/>
              <a:defRPr sz="1600" b="1"/>
            </a:lvl4pPr>
            <a:lvl5pPr lvl="4" algn="ctr" rtl="0">
              <a:spcBef>
                <a:spcPts val="0"/>
              </a:spcBef>
              <a:spcAft>
                <a:spcPts val="0"/>
              </a:spcAft>
              <a:buNone/>
              <a:defRPr sz="1600" b="1"/>
            </a:lvl5pPr>
            <a:lvl6pPr lvl="5" algn="ctr" rtl="0">
              <a:spcBef>
                <a:spcPts val="0"/>
              </a:spcBef>
              <a:spcAft>
                <a:spcPts val="0"/>
              </a:spcAft>
              <a:buNone/>
              <a:defRPr sz="1600" b="1"/>
            </a:lvl6pPr>
            <a:lvl7pPr lvl="6" algn="ctr" rtl="0">
              <a:spcBef>
                <a:spcPts val="0"/>
              </a:spcBef>
              <a:spcAft>
                <a:spcPts val="0"/>
              </a:spcAft>
              <a:buNone/>
              <a:defRPr sz="1600" b="1"/>
            </a:lvl7pPr>
            <a:lvl8pPr lvl="7" algn="ctr" rtl="0">
              <a:spcBef>
                <a:spcPts val="0"/>
              </a:spcBef>
              <a:spcAft>
                <a:spcPts val="0"/>
              </a:spcAft>
              <a:buNone/>
              <a:defRPr sz="1600" b="1"/>
            </a:lvl8pPr>
            <a:lvl9pPr lvl="8" algn="ctr" rtl="0">
              <a:spcBef>
                <a:spcPts val="0"/>
              </a:spcBef>
              <a:spcAft>
                <a:spcPts val="0"/>
              </a:spcAft>
              <a:buNone/>
              <a:defRPr sz="1600" b="1"/>
            </a:lvl9pPr>
          </a:lstStyle>
          <a:p>
            <a:r>
              <a:rPr lang="en-US"/>
              <a:t>Click to edit Master subtitle style</a:t>
            </a:r>
            <a:endParaRPr/>
          </a:p>
        </p:txBody>
      </p:sp>
      <p:sp>
        <p:nvSpPr>
          <p:cNvPr id="106" name="Google Shape;106;p5"/>
          <p:cNvSpPr txBox="1">
            <a:spLocks noGrp="1"/>
          </p:cNvSpPr>
          <p:nvPr>
            <p:ph type="subTitle" idx="3"/>
          </p:nvPr>
        </p:nvSpPr>
        <p:spPr>
          <a:xfrm>
            <a:off x="4891212" y="2856950"/>
            <a:ext cx="2946900" cy="420600"/>
          </a:xfrm>
          <a:prstGeom prst="rect">
            <a:avLst/>
          </a:prstGeom>
        </p:spPr>
        <p:txBody>
          <a:bodyPr spcFirstLastPara="1" wrap="square" lIns="91425" tIns="91425" rIns="91425" bIns="91425" anchor="b" anchorCtr="0">
            <a:noAutofit/>
          </a:bodyPr>
          <a:lstStyle>
            <a:lvl1pPr lvl="0" algn="ctr" rtl="0">
              <a:spcBef>
                <a:spcPts val="0"/>
              </a:spcBef>
              <a:spcAft>
                <a:spcPts val="0"/>
              </a:spcAft>
              <a:buNone/>
              <a:defRPr sz="2000" b="1">
                <a:solidFill>
                  <a:schemeClr val="dk1"/>
                </a:solidFill>
                <a:latin typeface="Open Sans"/>
                <a:ea typeface="Open Sans"/>
                <a:cs typeface="Open Sans"/>
                <a:sym typeface="Open Sans"/>
              </a:defRPr>
            </a:lvl1pPr>
            <a:lvl2pPr lvl="1" algn="ctr" rtl="0">
              <a:spcBef>
                <a:spcPts val="0"/>
              </a:spcBef>
              <a:spcAft>
                <a:spcPts val="0"/>
              </a:spcAft>
              <a:buNone/>
              <a:defRPr sz="2000" b="1">
                <a:solidFill>
                  <a:schemeClr val="dk1"/>
                </a:solidFill>
                <a:latin typeface="Open Sans"/>
                <a:ea typeface="Open Sans"/>
                <a:cs typeface="Open Sans"/>
                <a:sym typeface="Open Sans"/>
              </a:defRPr>
            </a:lvl2pPr>
            <a:lvl3pPr lvl="2" algn="ctr" rtl="0">
              <a:spcBef>
                <a:spcPts val="0"/>
              </a:spcBef>
              <a:spcAft>
                <a:spcPts val="0"/>
              </a:spcAft>
              <a:buNone/>
              <a:defRPr sz="2000" b="1">
                <a:solidFill>
                  <a:schemeClr val="dk1"/>
                </a:solidFill>
                <a:latin typeface="Open Sans"/>
                <a:ea typeface="Open Sans"/>
                <a:cs typeface="Open Sans"/>
                <a:sym typeface="Open Sans"/>
              </a:defRPr>
            </a:lvl3pPr>
            <a:lvl4pPr lvl="3" algn="ctr" rtl="0">
              <a:spcBef>
                <a:spcPts val="0"/>
              </a:spcBef>
              <a:spcAft>
                <a:spcPts val="0"/>
              </a:spcAft>
              <a:buNone/>
              <a:defRPr sz="2000" b="1">
                <a:solidFill>
                  <a:schemeClr val="dk1"/>
                </a:solidFill>
                <a:latin typeface="Open Sans"/>
                <a:ea typeface="Open Sans"/>
                <a:cs typeface="Open Sans"/>
                <a:sym typeface="Open Sans"/>
              </a:defRPr>
            </a:lvl4pPr>
            <a:lvl5pPr lvl="4" algn="ctr" rtl="0">
              <a:spcBef>
                <a:spcPts val="0"/>
              </a:spcBef>
              <a:spcAft>
                <a:spcPts val="0"/>
              </a:spcAft>
              <a:buNone/>
              <a:defRPr sz="2000" b="1">
                <a:solidFill>
                  <a:schemeClr val="dk1"/>
                </a:solidFill>
                <a:latin typeface="Open Sans"/>
                <a:ea typeface="Open Sans"/>
                <a:cs typeface="Open Sans"/>
                <a:sym typeface="Open Sans"/>
              </a:defRPr>
            </a:lvl5pPr>
            <a:lvl6pPr lvl="5" algn="ctr" rtl="0">
              <a:spcBef>
                <a:spcPts val="0"/>
              </a:spcBef>
              <a:spcAft>
                <a:spcPts val="0"/>
              </a:spcAft>
              <a:buNone/>
              <a:defRPr sz="2000" b="1">
                <a:solidFill>
                  <a:schemeClr val="dk1"/>
                </a:solidFill>
                <a:latin typeface="Open Sans"/>
                <a:ea typeface="Open Sans"/>
                <a:cs typeface="Open Sans"/>
                <a:sym typeface="Open Sans"/>
              </a:defRPr>
            </a:lvl6pPr>
            <a:lvl7pPr lvl="6" algn="ctr" rtl="0">
              <a:spcBef>
                <a:spcPts val="0"/>
              </a:spcBef>
              <a:spcAft>
                <a:spcPts val="0"/>
              </a:spcAft>
              <a:buNone/>
              <a:defRPr sz="2000" b="1">
                <a:solidFill>
                  <a:schemeClr val="dk1"/>
                </a:solidFill>
                <a:latin typeface="Open Sans"/>
                <a:ea typeface="Open Sans"/>
                <a:cs typeface="Open Sans"/>
                <a:sym typeface="Open Sans"/>
              </a:defRPr>
            </a:lvl7pPr>
            <a:lvl8pPr lvl="7" algn="ctr" rtl="0">
              <a:spcBef>
                <a:spcPts val="0"/>
              </a:spcBef>
              <a:spcAft>
                <a:spcPts val="0"/>
              </a:spcAft>
              <a:buNone/>
              <a:defRPr sz="2000" b="1">
                <a:solidFill>
                  <a:schemeClr val="dk1"/>
                </a:solidFill>
                <a:latin typeface="Open Sans"/>
                <a:ea typeface="Open Sans"/>
                <a:cs typeface="Open Sans"/>
                <a:sym typeface="Open Sans"/>
              </a:defRPr>
            </a:lvl8pPr>
            <a:lvl9pPr lvl="8" algn="ctr" rtl="0">
              <a:spcBef>
                <a:spcPts val="0"/>
              </a:spcBef>
              <a:spcAft>
                <a:spcPts val="0"/>
              </a:spcAft>
              <a:buNone/>
              <a:defRPr sz="2000" b="1">
                <a:solidFill>
                  <a:schemeClr val="dk1"/>
                </a:solidFill>
                <a:latin typeface="Open Sans"/>
                <a:ea typeface="Open Sans"/>
                <a:cs typeface="Open Sans"/>
                <a:sym typeface="Open Sans"/>
              </a:defRPr>
            </a:lvl9pPr>
          </a:lstStyle>
          <a:p>
            <a:r>
              <a:rPr lang="en-US"/>
              <a:t>Click to edit Master subtitle style</a:t>
            </a:r>
            <a:endParaRPr/>
          </a:p>
        </p:txBody>
      </p:sp>
      <p:sp>
        <p:nvSpPr>
          <p:cNvPr id="107" name="Google Shape;107;p5"/>
          <p:cNvSpPr txBox="1">
            <a:spLocks noGrp="1"/>
          </p:cNvSpPr>
          <p:nvPr>
            <p:ph type="subTitle" idx="4"/>
          </p:nvPr>
        </p:nvSpPr>
        <p:spPr>
          <a:xfrm>
            <a:off x="4891100" y="3183300"/>
            <a:ext cx="2946900" cy="120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lvl1pPr>
            <a:lvl2pPr lvl="1" algn="ctr" rtl="0">
              <a:spcBef>
                <a:spcPts val="0"/>
              </a:spcBef>
              <a:spcAft>
                <a:spcPts val="0"/>
              </a:spcAft>
              <a:buNone/>
              <a:defRPr sz="1600" b="1"/>
            </a:lvl2pPr>
            <a:lvl3pPr lvl="2" algn="ctr" rtl="0">
              <a:spcBef>
                <a:spcPts val="0"/>
              </a:spcBef>
              <a:spcAft>
                <a:spcPts val="0"/>
              </a:spcAft>
              <a:buNone/>
              <a:defRPr sz="1600" b="1"/>
            </a:lvl3pPr>
            <a:lvl4pPr lvl="3" algn="ctr" rtl="0">
              <a:spcBef>
                <a:spcPts val="0"/>
              </a:spcBef>
              <a:spcAft>
                <a:spcPts val="0"/>
              </a:spcAft>
              <a:buNone/>
              <a:defRPr sz="1600" b="1"/>
            </a:lvl4pPr>
            <a:lvl5pPr lvl="4" algn="ctr" rtl="0">
              <a:spcBef>
                <a:spcPts val="0"/>
              </a:spcBef>
              <a:spcAft>
                <a:spcPts val="0"/>
              </a:spcAft>
              <a:buNone/>
              <a:defRPr sz="1600" b="1"/>
            </a:lvl5pPr>
            <a:lvl6pPr lvl="5" algn="ctr" rtl="0">
              <a:spcBef>
                <a:spcPts val="0"/>
              </a:spcBef>
              <a:spcAft>
                <a:spcPts val="0"/>
              </a:spcAft>
              <a:buNone/>
              <a:defRPr sz="1600" b="1"/>
            </a:lvl6pPr>
            <a:lvl7pPr lvl="6" algn="ctr" rtl="0">
              <a:spcBef>
                <a:spcPts val="0"/>
              </a:spcBef>
              <a:spcAft>
                <a:spcPts val="0"/>
              </a:spcAft>
              <a:buNone/>
              <a:defRPr sz="1600" b="1"/>
            </a:lvl7pPr>
            <a:lvl8pPr lvl="7" algn="ctr" rtl="0">
              <a:spcBef>
                <a:spcPts val="0"/>
              </a:spcBef>
              <a:spcAft>
                <a:spcPts val="0"/>
              </a:spcAft>
              <a:buNone/>
              <a:defRPr sz="1600" b="1"/>
            </a:lvl8pPr>
            <a:lvl9pPr lvl="8" algn="ctr" rtl="0">
              <a:spcBef>
                <a:spcPts val="0"/>
              </a:spcBef>
              <a:spcAft>
                <a:spcPts val="0"/>
              </a:spcAft>
              <a:buNone/>
              <a:defRPr sz="1600" b="1"/>
            </a:lvl9pPr>
          </a:lstStyle>
          <a:p>
            <a:r>
              <a:rPr lang="en-US"/>
              <a:t>Click to edit Master subtitle style</a:t>
            </a:r>
            <a:endParaRPr/>
          </a:p>
        </p:txBody>
      </p:sp>
      <p:sp>
        <p:nvSpPr>
          <p:cNvPr id="108" name="Google Shape;108;p5"/>
          <p:cNvSpPr txBox="1">
            <a:spLocks noGrp="1"/>
          </p:cNvSpPr>
          <p:nvPr>
            <p:ph type="title"/>
          </p:nvPr>
        </p:nvSpPr>
        <p:spPr>
          <a:xfrm>
            <a:off x="713100" y="452325"/>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09" name="Google Shape;109;p5"/>
          <p:cNvSpPr txBox="1">
            <a:spLocks noGrp="1"/>
          </p:cNvSpPr>
          <p:nvPr>
            <p:ph type="title" idx="5" hasCustomPrompt="1"/>
          </p:nvPr>
        </p:nvSpPr>
        <p:spPr>
          <a:xfrm>
            <a:off x="2475550" y="1699850"/>
            <a:ext cx="694800" cy="704100"/>
          </a:xfrm>
          <a:prstGeom prst="rect">
            <a:avLst/>
          </a:prstGeom>
          <a:effectLst>
            <a:outerShdw dist="95250" dir="2700000" algn="bl" rotWithShape="0">
              <a:srgbClr val="000000">
                <a:alpha val="19000"/>
              </a:srgbClr>
            </a:outerShdw>
          </a:effectLst>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3"/>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10" name="Google Shape;110;p5"/>
          <p:cNvSpPr txBox="1">
            <a:spLocks noGrp="1"/>
          </p:cNvSpPr>
          <p:nvPr>
            <p:ph type="title" idx="6" hasCustomPrompt="1"/>
          </p:nvPr>
        </p:nvSpPr>
        <p:spPr>
          <a:xfrm>
            <a:off x="6018100" y="1699850"/>
            <a:ext cx="694800" cy="704100"/>
          </a:xfrm>
          <a:prstGeom prst="rect">
            <a:avLst/>
          </a:prstGeom>
          <a:effectLst>
            <a:outerShdw dist="95250" dir="2700000" algn="bl" rotWithShape="0">
              <a:srgbClr val="000000">
                <a:alpha val="19000"/>
              </a:srgbClr>
            </a:outerShdw>
          </a:effectLst>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3"/>
                </a:solidFill>
              </a:defRPr>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grpSp>
        <p:nvGrpSpPr>
          <p:cNvPr id="111" name="Google Shape;111;p5"/>
          <p:cNvGrpSpPr/>
          <p:nvPr/>
        </p:nvGrpSpPr>
        <p:grpSpPr>
          <a:xfrm rot="-5400000">
            <a:off x="7760959" y="-783288"/>
            <a:ext cx="882068" cy="1701242"/>
            <a:chOff x="4468700" y="2997225"/>
            <a:chExt cx="1090050" cy="2102375"/>
          </a:xfrm>
        </p:grpSpPr>
        <p:sp>
          <p:nvSpPr>
            <p:cNvPr id="112" name="Google Shape;112;p5"/>
            <p:cNvSpPr/>
            <p:nvPr/>
          </p:nvSpPr>
          <p:spPr>
            <a:xfrm>
              <a:off x="4468700" y="299722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5"/>
            <p:cNvSpPr/>
            <p:nvPr/>
          </p:nvSpPr>
          <p:spPr>
            <a:xfrm>
              <a:off x="4717850" y="2997225"/>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5"/>
            <p:cNvSpPr/>
            <p:nvPr/>
          </p:nvSpPr>
          <p:spPr>
            <a:xfrm>
              <a:off x="4967275" y="299722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5"/>
            <p:cNvSpPr/>
            <p:nvPr/>
          </p:nvSpPr>
          <p:spPr>
            <a:xfrm>
              <a:off x="5216425" y="2997225"/>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5"/>
            <p:cNvSpPr/>
            <p:nvPr/>
          </p:nvSpPr>
          <p:spPr>
            <a:xfrm>
              <a:off x="5465850" y="2997225"/>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5"/>
            <p:cNvSpPr/>
            <p:nvPr/>
          </p:nvSpPr>
          <p:spPr>
            <a:xfrm>
              <a:off x="4468700" y="322047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5"/>
            <p:cNvSpPr/>
            <p:nvPr/>
          </p:nvSpPr>
          <p:spPr>
            <a:xfrm>
              <a:off x="4717850" y="3220475"/>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a:off x="4967275" y="322047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a:off x="5216425" y="3220475"/>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5"/>
            <p:cNvSpPr/>
            <p:nvPr/>
          </p:nvSpPr>
          <p:spPr>
            <a:xfrm>
              <a:off x="5465850" y="3220475"/>
              <a:ext cx="92900" cy="93175"/>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5"/>
            <p:cNvSpPr/>
            <p:nvPr/>
          </p:nvSpPr>
          <p:spPr>
            <a:xfrm>
              <a:off x="4468700" y="344370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5"/>
            <p:cNvSpPr/>
            <p:nvPr/>
          </p:nvSpPr>
          <p:spPr>
            <a:xfrm>
              <a:off x="4717850" y="3443700"/>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5"/>
            <p:cNvSpPr/>
            <p:nvPr/>
          </p:nvSpPr>
          <p:spPr>
            <a:xfrm>
              <a:off x="4967275" y="344370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5"/>
            <p:cNvSpPr/>
            <p:nvPr/>
          </p:nvSpPr>
          <p:spPr>
            <a:xfrm>
              <a:off x="5216425" y="3443700"/>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5"/>
            <p:cNvSpPr/>
            <p:nvPr/>
          </p:nvSpPr>
          <p:spPr>
            <a:xfrm>
              <a:off x="5465850" y="3443700"/>
              <a:ext cx="92900" cy="93200"/>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5"/>
            <p:cNvSpPr/>
            <p:nvPr/>
          </p:nvSpPr>
          <p:spPr>
            <a:xfrm>
              <a:off x="4468700" y="366695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5"/>
            <p:cNvSpPr/>
            <p:nvPr/>
          </p:nvSpPr>
          <p:spPr>
            <a:xfrm>
              <a:off x="4717850" y="3666950"/>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5"/>
            <p:cNvSpPr/>
            <p:nvPr/>
          </p:nvSpPr>
          <p:spPr>
            <a:xfrm>
              <a:off x="4967275" y="366695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5"/>
            <p:cNvSpPr/>
            <p:nvPr/>
          </p:nvSpPr>
          <p:spPr>
            <a:xfrm>
              <a:off x="5216425" y="3666950"/>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5"/>
            <p:cNvSpPr/>
            <p:nvPr/>
          </p:nvSpPr>
          <p:spPr>
            <a:xfrm>
              <a:off x="5465850" y="3666950"/>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p:nvPr/>
          </p:nvSpPr>
          <p:spPr>
            <a:xfrm>
              <a:off x="4468700" y="3890200"/>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5"/>
            <p:cNvSpPr/>
            <p:nvPr/>
          </p:nvSpPr>
          <p:spPr>
            <a:xfrm>
              <a:off x="4717850" y="3890200"/>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5"/>
            <p:cNvSpPr/>
            <p:nvPr/>
          </p:nvSpPr>
          <p:spPr>
            <a:xfrm>
              <a:off x="4967275" y="3890200"/>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p:nvPr/>
          </p:nvSpPr>
          <p:spPr>
            <a:xfrm>
              <a:off x="5216425" y="3890200"/>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5"/>
            <p:cNvSpPr/>
            <p:nvPr/>
          </p:nvSpPr>
          <p:spPr>
            <a:xfrm>
              <a:off x="5465850" y="3890200"/>
              <a:ext cx="92900" cy="93175"/>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5"/>
            <p:cNvSpPr/>
            <p:nvPr/>
          </p:nvSpPr>
          <p:spPr>
            <a:xfrm>
              <a:off x="4468700" y="4113425"/>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p:nvPr/>
          </p:nvSpPr>
          <p:spPr>
            <a:xfrm>
              <a:off x="4717850" y="4113425"/>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5"/>
            <p:cNvSpPr/>
            <p:nvPr/>
          </p:nvSpPr>
          <p:spPr>
            <a:xfrm>
              <a:off x="4967275" y="4113425"/>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5"/>
            <p:cNvSpPr/>
            <p:nvPr/>
          </p:nvSpPr>
          <p:spPr>
            <a:xfrm>
              <a:off x="5216425" y="4113425"/>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p:nvPr/>
          </p:nvSpPr>
          <p:spPr>
            <a:xfrm>
              <a:off x="5465850" y="4113425"/>
              <a:ext cx="92900" cy="93200"/>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5"/>
            <p:cNvSpPr/>
            <p:nvPr/>
          </p:nvSpPr>
          <p:spPr>
            <a:xfrm>
              <a:off x="4468700" y="433667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5"/>
            <p:cNvSpPr/>
            <p:nvPr/>
          </p:nvSpPr>
          <p:spPr>
            <a:xfrm>
              <a:off x="4717850" y="4336675"/>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5"/>
            <p:cNvSpPr/>
            <p:nvPr/>
          </p:nvSpPr>
          <p:spPr>
            <a:xfrm>
              <a:off x="4967275" y="433667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5"/>
            <p:cNvSpPr/>
            <p:nvPr/>
          </p:nvSpPr>
          <p:spPr>
            <a:xfrm>
              <a:off x="5216425" y="4336675"/>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p:nvPr/>
          </p:nvSpPr>
          <p:spPr>
            <a:xfrm>
              <a:off x="5465850" y="4336675"/>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5"/>
            <p:cNvSpPr/>
            <p:nvPr/>
          </p:nvSpPr>
          <p:spPr>
            <a:xfrm>
              <a:off x="4468700" y="455992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5"/>
            <p:cNvSpPr/>
            <p:nvPr/>
          </p:nvSpPr>
          <p:spPr>
            <a:xfrm>
              <a:off x="4717850" y="4559925"/>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p:nvPr/>
          </p:nvSpPr>
          <p:spPr>
            <a:xfrm>
              <a:off x="4967275" y="455992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5"/>
            <p:cNvSpPr/>
            <p:nvPr/>
          </p:nvSpPr>
          <p:spPr>
            <a:xfrm>
              <a:off x="5216425" y="4559925"/>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5"/>
            <p:cNvSpPr/>
            <p:nvPr/>
          </p:nvSpPr>
          <p:spPr>
            <a:xfrm>
              <a:off x="5465850" y="4559925"/>
              <a:ext cx="92900" cy="93175"/>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p:nvPr/>
          </p:nvSpPr>
          <p:spPr>
            <a:xfrm>
              <a:off x="4468700" y="478315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5"/>
            <p:cNvSpPr/>
            <p:nvPr/>
          </p:nvSpPr>
          <p:spPr>
            <a:xfrm>
              <a:off x="4717850" y="4783150"/>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5"/>
            <p:cNvSpPr/>
            <p:nvPr/>
          </p:nvSpPr>
          <p:spPr>
            <a:xfrm>
              <a:off x="4967275" y="478315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p:nvPr/>
          </p:nvSpPr>
          <p:spPr>
            <a:xfrm>
              <a:off x="5216425" y="4783150"/>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5"/>
            <p:cNvSpPr/>
            <p:nvPr/>
          </p:nvSpPr>
          <p:spPr>
            <a:xfrm>
              <a:off x="5465850" y="4783150"/>
              <a:ext cx="92900" cy="93200"/>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5"/>
            <p:cNvSpPr/>
            <p:nvPr/>
          </p:nvSpPr>
          <p:spPr>
            <a:xfrm>
              <a:off x="4468700" y="500640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p:nvPr/>
          </p:nvSpPr>
          <p:spPr>
            <a:xfrm>
              <a:off x="4717850" y="5006400"/>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5"/>
            <p:cNvSpPr/>
            <p:nvPr/>
          </p:nvSpPr>
          <p:spPr>
            <a:xfrm>
              <a:off x="4967275" y="500640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5"/>
            <p:cNvSpPr/>
            <p:nvPr/>
          </p:nvSpPr>
          <p:spPr>
            <a:xfrm>
              <a:off x="5216425" y="5006400"/>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p:nvPr/>
          </p:nvSpPr>
          <p:spPr>
            <a:xfrm>
              <a:off x="5465850" y="5006400"/>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03"/>
        <p:cNvGrpSpPr/>
        <p:nvPr/>
      </p:nvGrpSpPr>
      <p:grpSpPr>
        <a:xfrm>
          <a:off x="0" y="0"/>
          <a:ext cx="0" cy="0"/>
          <a:chOff x="0" y="0"/>
          <a:chExt cx="0" cy="0"/>
        </a:xfrm>
      </p:grpSpPr>
      <p:grpSp>
        <p:nvGrpSpPr>
          <p:cNvPr id="204" name="Google Shape;204;p8"/>
          <p:cNvGrpSpPr/>
          <p:nvPr/>
        </p:nvGrpSpPr>
        <p:grpSpPr>
          <a:xfrm rot="5400000">
            <a:off x="716046" y="3216646"/>
            <a:ext cx="1196601" cy="2673995"/>
            <a:chOff x="4468700" y="2997225"/>
            <a:chExt cx="840900" cy="1879125"/>
          </a:xfrm>
        </p:grpSpPr>
        <p:sp>
          <p:nvSpPr>
            <p:cNvPr id="205" name="Google Shape;205;p8"/>
            <p:cNvSpPr/>
            <p:nvPr/>
          </p:nvSpPr>
          <p:spPr>
            <a:xfrm>
              <a:off x="4468700" y="299722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8"/>
            <p:cNvSpPr/>
            <p:nvPr/>
          </p:nvSpPr>
          <p:spPr>
            <a:xfrm>
              <a:off x="4717850" y="2997225"/>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8"/>
            <p:cNvSpPr/>
            <p:nvPr/>
          </p:nvSpPr>
          <p:spPr>
            <a:xfrm>
              <a:off x="4967275" y="299722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8"/>
            <p:cNvSpPr/>
            <p:nvPr/>
          </p:nvSpPr>
          <p:spPr>
            <a:xfrm>
              <a:off x="5216425" y="2997225"/>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8"/>
            <p:cNvSpPr/>
            <p:nvPr/>
          </p:nvSpPr>
          <p:spPr>
            <a:xfrm>
              <a:off x="4468700" y="322047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8"/>
            <p:cNvSpPr/>
            <p:nvPr/>
          </p:nvSpPr>
          <p:spPr>
            <a:xfrm>
              <a:off x="4717850" y="3220475"/>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8"/>
            <p:cNvSpPr/>
            <p:nvPr/>
          </p:nvSpPr>
          <p:spPr>
            <a:xfrm>
              <a:off x="4967275" y="322047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8"/>
            <p:cNvSpPr/>
            <p:nvPr/>
          </p:nvSpPr>
          <p:spPr>
            <a:xfrm>
              <a:off x="5216425" y="3220475"/>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8"/>
            <p:cNvSpPr/>
            <p:nvPr/>
          </p:nvSpPr>
          <p:spPr>
            <a:xfrm>
              <a:off x="4468700" y="344370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8"/>
            <p:cNvSpPr/>
            <p:nvPr/>
          </p:nvSpPr>
          <p:spPr>
            <a:xfrm>
              <a:off x="4717850" y="3443700"/>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8"/>
            <p:cNvSpPr/>
            <p:nvPr/>
          </p:nvSpPr>
          <p:spPr>
            <a:xfrm>
              <a:off x="4967275" y="344370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8"/>
            <p:cNvSpPr/>
            <p:nvPr/>
          </p:nvSpPr>
          <p:spPr>
            <a:xfrm>
              <a:off x="5216425" y="3443700"/>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8"/>
            <p:cNvSpPr/>
            <p:nvPr/>
          </p:nvSpPr>
          <p:spPr>
            <a:xfrm>
              <a:off x="4468700" y="366695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8"/>
            <p:cNvSpPr/>
            <p:nvPr/>
          </p:nvSpPr>
          <p:spPr>
            <a:xfrm>
              <a:off x="4717850" y="3666950"/>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8"/>
            <p:cNvSpPr/>
            <p:nvPr/>
          </p:nvSpPr>
          <p:spPr>
            <a:xfrm>
              <a:off x="4967275" y="366695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8"/>
            <p:cNvSpPr/>
            <p:nvPr/>
          </p:nvSpPr>
          <p:spPr>
            <a:xfrm>
              <a:off x="5216425" y="3666950"/>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8"/>
            <p:cNvSpPr/>
            <p:nvPr/>
          </p:nvSpPr>
          <p:spPr>
            <a:xfrm>
              <a:off x="4468700" y="3890200"/>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8"/>
            <p:cNvSpPr/>
            <p:nvPr/>
          </p:nvSpPr>
          <p:spPr>
            <a:xfrm>
              <a:off x="4717850" y="3890200"/>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8"/>
            <p:cNvSpPr/>
            <p:nvPr/>
          </p:nvSpPr>
          <p:spPr>
            <a:xfrm>
              <a:off x="4967275" y="3890200"/>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8"/>
            <p:cNvSpPr/>
            <p:nvPr/>
          </p:nvSpPr>
          <p:spPr>
            <a:xfrm>
              <a:off x="5216425" y="3890200"/>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8"/>
            <p:cNvSpPr/>
            <p:nvPr/>
          </p:nvSpPr>
          <p:spPr>
            <a:xfrm>
              <a:off x="4468700" y="4113425"/>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8"/>
            <p:cNvSpPr/>
            <p:nvPr/>
          </p:nvSpPr>
          <p:spPr>
            <a:xfrm>
              <a:off x="4717850" y="4113425"/>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8"/>
            <p:cNvSpPr/>
            <p:nvPr/>
          </p:nvSpPr>
          <p:spPr>
            <a:xfrm>
              <a:off x="4967275" y="4113425"/>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8"/>
            <p:cNvSpPr/>
            <p:nvPr/>
          </p:nvSpPr>
          <p:spPr>
            <a:xfrm>
              <a:off x="5216425" y="4113425"/>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8"/>
            <p:cNvSpPr/>
            <p:nvPr/>
          </p:nvSpPr>
          <p:spPr>
            <a:xfrm>
              <a:off x="4468700" y="433667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8"/>
            <p:cNvSpPr/>
            <p:nvPr/>
          </p:nvSpPr>
          <p:spPr>
            <a:xfrm>
              <a:off x="4717850" y="4336675"/>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8"/>
            <p:cNvSpPr/>
            <p:nvPr/>
          </p:nvSpPr>
          <p:spPr>
            <a:xfrm>
              <a:off x="4967275" y="433667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8"/>
            <p:cNvSpPr/>
            <p:nvPr/>
          </p:nvSpPr>
          <p:spPr>
            <a:xfrm>
              <a:off x="5216425" y="4336675"/>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8"/>
            <p:cNvSpPr/>
            <p:nvPr/>
          </p:nvSpPr>
          <p:spPr>
            <a:xfrm>
              <a:off x="4468700" y="455992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8"/>
            <p:cNvSpPr/>
            <p:nvPr/>
          </p:nvSpPr>
          <p:spPr>
            <a:xfrm>
              <a:off x="4717850" y="4559925"/>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8"/>
            <p:cNvSpPr/>
            <p:nvPr/>
          </p:nvSpPr>
          <p:spPr>
            <a:xfrm>
              <a:off x="4967275" y="455992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8"/>
            <p:cNvSpPr/>
            <p:nvPr/>
          </p:nvSpPr>
          <p:spPr>
            <a:xfrm>
              <a:off x="5216425" y="4559925"/>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8"/>
            <p:cNvSpPr/>
            <p:nvPr/>
          </p:nvSpPr>
          <p:spPr>
            <a:xfrm>
              <a:off x="4468700" y="478315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8"/>
            <p:cNvSpPr/>
            <p:nvPr/>
          </p:nvSpPr>
          <p:spPr>
            <a:xfrm>
              <a:off x="4717850" y="4783150"/>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8"/>
            <p:cNvSpPr/>
            <p:nvPr/>
          </p:nvSpPr>
          <p:spPr>
            <a:xfrm>
              <a:off x="4967275" y="478315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8"/>
            <p:cNvSpPr/>
            <p:nvPr/>
          </p:nvSpPr>
          <p:spPr>
            <a:xfrm>
              <a:off x="5216425" y="4783150"/>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 name="Google Shape;241;p8"/>
          <p:cNvGrpSpPr/>
          <p:nvPr/>
        </p:nvGrpSpPr>
        <p:grpSpPr>
          <a:xfrm rot="5400000">
            <a:off x="6551716" y="-834605"/>
            <a:ext cx="1551141" cy="2991680"/>
            <a:chOff x="4468700" y="2997225"/>
            <a:chExt cx="1090050" cy="2102375"/>
          </a:xfrm>
        </p:grpSpPr>
        <p:sp>
          <p:nvSpPr>
            <p:cNvPr id="242" name="Google Shape;242;p8"/>
            <p:cNvSpPr/>
            <p:nvPr/>
          </p:nvSpPr>
          <p:spPr>
            <a:xfrm>
              <a:off x="4468700" y="299722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8"/>
            <p:cNvSpPr/>
            <p:nvPr/>
          </p:nvSpPr>
          <p:spPr>
            <a:xfrm>
              <a:off x="4717850" y="2997225"/>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8"/>
            <p:cNvSpPr/>
            <p:nvPr/>
          </p:nvSpPr>
          <p:spPr>
            <a:xfrm>
              <a:off x="4967275" y="299722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8"/>
            <p:cNvSpPr/>
            <p:nvPr/>
          </p:nvSpPr>
          <p:spPr>
            <a:xfrm>
              <a:off x="5216425" y="2997225"/>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8"/>
            <p:cNvSpPr/>
            <p:nvPr/>
          </p:nvSpPr>
          <p:spPr>
            <a:xfrm>
              <a:off x="5465850" y="2997225"/>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8"/>
            <p:cNvSpPr/>
            <p:nvPr/>
          </p:nvSpPr>
          <p:spPr>
            <a:xfrm>
              <a:off x="4468700" y="322047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8"/>
            <p:cNvSpPr/>
            <p:nvPr/>
          </p:nvSpPr>
          <p:spPr>
            <a:xfrm>
              <a:off x="4717850" y="3220475"/>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p:cNvSpPr/>
            <p:nvPr/>
          </p:nvSpPr>
          <p:spPr>
            <a:xfrm>
              <a:off x="4967275" y="322047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8"/>
            <p:cNvSpPr/>
            <p:nvPr/>
          </p:nvSpPr>
          <p:spPr>
            <a:xfrm>
              <a:off x="5216425" y="3220475"/>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8"/>
            <p:cNvSpPr/>
            <p:nvPr/>
          </p:nvSpPr>
          <p:spPr>
            <a:xfrm>
              <a:off x="5465850" y="3220475"/>
              <a:ext cx="92900" cy="93175"/>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p:nvPr/>
          </p:nvSpPr>
          <p:spPr>
            <a:xfrm>
              <a:off x="4468700" y="344370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8"/>
            <p:cNvSpPr/>
            <p:nvPr/>
          </p:nvSpPr>
          <p:spPr>
            <a:xfrm>
              <a:off x="4717850" y="3443700"/>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8"/>
            <p:cNvSpPr/>
            <p:nvPr/>
          </p:nvSpPr>
          <p:spPr>
            <a:xfrm>
              <a:off x="4967275" y="344370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5216425" y="3443700"/>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p:nvPr/>
          </p:nvSpPr>
          <p:spPr>
            <a:xfrm>
              <a:off x="5465850" y="3443700"/>
              <a:ext cx="92900" cy="93200"/>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8"/>
            <p:cNvSpPr/>
            <p:nvPr/>
          </p:nvSpPr>
          <p:spPr>
            <a:xfrm>
              <a:off x="4468700" y="366695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8"/>
            <p:cNvSpPr/>
            <p:nvPr/>
          </p:nvSpPr>
          <p:spPr>
            <a:xfrm>
              <a:off x="4717850" y="3666950"/>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8"/>
            <p:cNvSpPr/>
            <p:nvPr/>
          </p:nvSpPr>
          <p:spPr>
            <a:xfrm>
              <a:off x="4967275" y="366695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8"/>
            <p:cNvSpPr/>
            <p:nvPr/>
          </p:nvSpPr>
          <p:spPr>
            <a:xfrm>
              <a:off x="5216425" y="3666950"/>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8"/>
            <p:cNvSpPr/>
            <p:nvPr/>
          </p:nvSpPr>
          <p:spPr>
            <a:xfrm>
              <a:off x="5465850" y="3666950"/>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8"/>
            <p:cNvSpPr/>
            <p:nvPr/>
          </p:nvSpPr>
          <p:spPr>
            <a:xfrm>
              <a:off x="4468700" y="3890200"/>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8"/>
            <p:cNvSpPr/>
            <p:nvPr/>
          </p:nvSpPr>
          <p:spPr>
            <a:xfrm>
              <a:off x="4717850" y="3890200"/>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8"/>
            <p:cNvSpPr/>
            <p:nvPr/>
          </p:nvSpPr>
          <p:spPr>
            <a:xfrm>
              <a:off x="4967275" y="3890200"/>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a:off x="5216425" y="3890200"/>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p:nvPr/>
          </p:nvSpPr>
          <p:spPr>
            <a:xfrm>
              <a:off x="5465850" y="3890200"/>
              <a:ext cx="92900" cy="93175"/>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8"/>
            <p:cNvSpPr/>
            <p:nvPr/>
          </p:nvSpPr>
          <p:spPr>
            <a:xfrm>
              <a:off x="4468700" y="4113425"/>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8"/>
            <p:cNvSpPr/>
            <p:nvPr/>
          </p:nvSpPr>
          <p:spPr>
            <a:xfrm>
              <a:off x="4717850" y="4113425"/>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8"/>
            <p:cNvSpPr/>
            <p:nvPr/>
          </p:nvSpPr>
          <p:spPr>
            <a:xfrm>
              <a:off x="4967275" y="4113425"/>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p:nvPr/>
          </p:nvSpPr>
          <p:spPr>
            <a:xfrm>
              <a:off x="5216425" y="4113425"/>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8"/>
            <p:cNvSpPr/>
            <p:nvPr/>
          </p:nvSpPr>
          <p:spPr>
            <a:xfrm>
              <a:off x="5465850" y="4113425"/>
              <a:ext cx="92900" cy="93200"/>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8"/>
            <p:cNvSpPr/>
            <p:nvPr/>
          </p:nvSpPr>
          <p:spPr>
            <a:xfrm>
              <a:off x="4468700" y="433667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8"/>
            <p:cNvSpPr/>
            <p:nvPr/>
          </p:nvSpPr>
          <p:spPr>
            <a:xfrm>
              <a:off x="4717850" y="4336675"/>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8"/>
            <p:cNvSpPr/>
            <p:nvPr/>
          </p:nvSpPr>
          <p:spPr>
            <a:xfrm>
              <a:off x="4967275" y="433667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8"/>
            <p:cNvSpPr/>
            <p:nvPr/>
          </p:nvSpPr>
          <p:spPr>
            <a:xfrm>
              <a:off x="5216425" y="4336675"/>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8"/>
            <p:cNvSpPr/>
            <p:nvPr/>
          </p:nvSpPr>
          <p:spPr>
            <a:xfrm>
              <a:off x="5465850" y="4336675"/>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8"/>
            <p:cNvSpPr/>
            <p:nvPr/>
          </p:nvSpPr>
          <p:spPr>
            <a:xfrm>
              <a:off x="4468700" y="455992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8"/>
            <p:cNvSpPr/>
            <p:nvPr/>
          </p:nvSpPr>
          <p:spPr>
            <a:xfrm>
              <a:off x="4717850" y="4559925"/>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8"/>
            <p:cNvSpPr/>
            <p:nvPr/>
          </p:nvSpPr>
          <p:spPr>
            <a:xfrm>
              <a:off x="4967275" y="455992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8"/>
            <p:cNvSpPr/>
            <p:nvPr/>
          </p:nvSpPr>
          <p:spPr>
            <a:xfrm>
              <a:off x="5216425" y="4559925"/>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8"/>
            <p:cNvSpPr/>
            <p:nvPr/>
          </p:nvSpPr>
          <p:spPr>
            <a:xfrm>
              <a:off x="5465850" y="4559925"/>
              <a:ext cx="92900" cy="93175"/>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8"/>
            <p:cNvSpPr/>
            <p:nvPr/>
          </p:nvSpPr>
          <p:spPr>
            <a:xfrm>
              <a:off x="4468700" y="478315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8"/>
            <p:cNvSpPr/>
            <p:nvPr/>
          </p:nvSpPr>
          <p:spPr>
            <a:xfrm>
              <a:off x="4717850" y="4783150"/>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8"/>
            <p:cNvSpPr/>
            <p:nvPr/>
          </p:nvSpPr>
          <p:spPr>
            <a:xfrm>
              <a:off x="4967275" y="478315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8"/>
            <p:cNvSpPr/>
            <p:nvPr/>
          </p:nvSpPr>
          <p:spPr>
            <a:xfrm>
              <a:off x="5216425" y="4783150"/>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8"/>
            <p:cNvSpPr/>
            <p:nvPr/>
          </p:nvSpPr>
          <p:spPr>
            <a:xfrm>
              <a:off x="5465850" y="4783150"/>
              <a:ext cx="92900" cy="93200"/>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8"/>
            <p:cNvSpPr/>
            <p:nvPr/>
          </p:nvSpPr>
          <p:spPr>
            <a:xfrm>
              <a:off x="4468700" y="500640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8"/>
            <p:cNvSpPr/>
            <p:nvPr/>
          </p:nvSpPr>
          <p:spPr>
            <a:xfrm>
              <a:off x="4717850" y="5006400"/>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8"/>
            <p:cNvSpPr/>
            <p:nvPr/>
          </p:nvSpPr>
          <p:spPr>
            <a:xfrm>
              <a:off x="4967275" y="500640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8"/>
            <p:cNvSpPr/>
            <p:nvPr/>
          </p:nvSpPr>
          <p:spPr>
            <a:xfrm>
              <a:off x="5216425" y="5006400"/>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8"/>
            <p:cNvSpPr/>
            <p:nvPr/>
          </p:nvSpPr>
          <p:spPr>
            <a:xfrm>
              <a:off x="5465850" y="5006400"/>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2" name="Google Shape;292;p8"/>
          <p:cNvSpPr/>
          <p:nvPr/>
        </p:nvSpPr>
        <p:spPr>
          <a:xfrm>
            <a:off x="1459900" y="1178850"/>
            <a:ext cx="6986100" cy="35478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8"/>
          <p:cNvSpPr/>
          <p:nvPr/>
        </p:nvSpPr>
        <p:spPr>
          <a:xfrm>
            <a:off x="1078150" y="800100"/>
            <a:ext cx="6987600" cy="3543300"/>
          </a:xfrm>
          <a:prstGeom prst="rect">
            <a:avLst/>
          </a:prstGeom>
          <a:solidFill>
            <a:schemeClr val="accent1"/>
          </a:solidFill>
          <a:ln>
            <a:noFill/>
          </a:ln>
          <a:effectLst>
            <a:outerShdw dist="228600" dir="2820000" algn="bl" rotWithShape="0">
              <a:srgbClr val="000000">
                <a:alpha val="6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8"/>
          <p:cNvSpPr txBox="1">
            <a:spLocks noGrp="1"/>
          </p:cNvSpPr>
          <p:nvPr>
            <p:ph type="title"/>
          </p:nvPr>
        </p:nvSpPr>
        <p:spPr>
          <a:xfrm>
            <a:off x="2087250" y="1584300"/>
            <a:ext cx="4969500" cy="1974900"/>
          </a:xfrm>
          <a:prstGeom prst="rect">
            <a:avLst/>
          </a:prstGeom>
          <a:effectLst>
            <a:outerShdw dist="95250" dir="2760000" algn="bl" rotWithShape="0">
              <a:srgbClr val="000000">
                <a:alpha val="20000"/>
              </a:srgbClr>
            </a:outerShdw>
          </a:effectLst>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accent3"/>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rPr lang="en-US"/>
              <a:t>Click to edit Master title style</a:t>
            </a:r>
            <a:endParaRPr/>
          </a:p>
        </p:txBody>
      </p:sp>
      <p:sp>
        <p:nvSpPr>
          <p:cNvPr id="295" name="Google Shape;295;p8"/>
          <p:cNvSpPr/>
          <p:nvPr/>
        </p:nvSpPr>
        <p:spPr>
          <a:xfrm>
            <a:off x="1459900" y="1178850"/>
            <a:ext cx="6986100" cy="3547800"/>
          </a:xfrm>
          <a:prstGeom prst="rect">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1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ext">
  <p:cSld name="CUSTOM_8">
    <p:spTree>
      <p:nvGrpSpPr>
        <p:cNvPr id="1" name="Shape 840"/>
        <p:cNvGrpSpPr/>
        <p:nvPr/>
      </p:nvGrpSpPr>
      <p:grpSpPr>
        <a:xfrm>
          <a:off x="0" y="0"/>
          <a:ext cx="0" cy="0"/>
          <a:chOff x="0" y="0"/>
          <a:chExt cx="0" cy="0"/>
        </a:xfrm>
      </p:grpSpPr>
      <p:sp>
        <p:nvSpPr>
          <p:cNvPr id="841" name="Google Shape;841;p21"/>
          <p:cNvSpPr/>
          <p:nvPr/>
        </p:nvSpPr>
        <p:spPr>
          <a:xfrm>
            <a:off x="0" y="4604150"/>
            <a:ext cx="1710194" cy="539344"/>
          </a:xfrm>
          <a:custGeom>
            <a:avLst/>
            <a:gdLst/>
            <a:ahLst/>
            <a:cxnLst/>
            <a:rect l="l" t="t" r="r" b="b"/>
            <a:pathLst>
              <a:path w="33576" h="17352" extrusionOk="0">
                <a:moveTo>
                  <a:pt x="10157" y="1"/>
                </a:moveTo>
                <a:cubicBezTo>
                  <a:pt x="6817" y="1"/>
                  <a:pt x="3384" y="749"/>
                  <a:pt x="0" y="2385"/>
                </a:cubicBezTo>
                <a:lnTo>
                  <a:pt x="0" y="17351"/>
                </a:lnTo>
                <a:lnTo>
                  <a:pt x="33576" y="17351"/>
                </a:lnTo>
                <a:cubicBezTo>
                  <a:pt x="33576" y="16137"/>
                  <a:pt x="33076" y="14803"/>
                  <a:pt x="32445" y="13732"/>
                </a:cubicBezTo>
                <a:cubicBezTo>
                  <a:pt x="27582" y="5503"/>
                  <a:pt x="19212" y="1"/>
                  <a:pt x="10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2" name="Google Shape;842;p21"/>
          <p:cNvGrpSpPr/>
          <p:nvPr/>
        </p:nvGrpSpPr>
        <p:grpSpPr>
          <a:xfrm rot="5400000">
            <a:off x="-617546" y="-777930"/>
            <a:ext cx="882068" cy="1701242"/>
            <a:chOff x="4468700" y="2997225"/>
            <a:chExt cx="1090050" cy="2102375"/>
          </a:xfrm>
        </p:grpSpPr>
        <p:sp>
          <p:nvSpPr>
            <p:cNvPr id="843" name="Google Shape;843;p21"/>
            <p:cNvSpPr/>
            <p:nvPr/>
          </p:nvSpPr>
          <p:spPr>
            <a:xfrm>
              <a:off x="4468700" y="299722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21"/>
            <p:cNvSpPr/>
            <p:nvPr/>
          </p:nvSpPr>
          <p:spPr>
            <a:xfrm>
              <a:off x="4717850" y="2997225"/>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21"/>
            <p:cNvSpPr/>
            <p:nvPr/>
          </p:nvSpPr>
          <p:spPr>
            <a:xfrm>
              <a:off x="4967275" y="299722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21"/>
            <p:cNvSpPr/>
            <p:nvPr/>
          </p:nvSpPr>
          <p:spPr>
            <a:xfrm>
              <a:off x="5216425" y="2997225"/>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21"/>
            <p:cNvSpPr/>
            <p:nvPr/>
          </p:nvSpPr>
          <p:spPr>
            <a:xfrm>
              <a:off x="5465850" y="2997225"/>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21"/>
            <p:cNvSpPr/>
            <p:nvPr/>
          </p:nvSpPr>
          <p:spPr>
            <a:xfrm>
              <a:off x="4468700" y="322047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21"/>
            <p:cNvSpPr/>
            <p:nvPr/>
          </p:nvSpPr>
          <p:spPr>
            <a:xfrm>
              <a:off x="4717850" y="3220475"/>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21"/>
            <p:cNvSpPr/>
            <p:nvPr/>
          </p:nvSpPr>
          <p:spPr>
            <a:xfrm>
              <a:off x="4967275" y="322047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21"/>
            <p:cNvSpPr/>
            <p:nvPr/>
          </p:nvSpPr>
          <p:spPr>
            <a:xfrm>
              <a:off x="5216425" y="3220475"/>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21"/>
            <p:cNvSpPr/>
            <p:nvPr/>
          </p:nvSpPr>
          <p:spPr>
            <a:xfrm>
              <a:off x="5465850" y="3220475"/>
              <a:ext cx="92900" cy="93175"/>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21"/>
            <p:cNvSpPr/>
            <p:nvPr/>
          </p:nvSpPr>
          <p:spPr>
            <a:xfrm>
              <a:off x="4468700" y="344370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1"/>
            <p:cNvSpPr/>
            <p:nvPr/>
          </p:nvSpPr>
          <p:spPr>
            <a:xfrm>
              <a:off x="4717850" y="3443700"/>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1"/>
            <p:cNvSpPr/>
            <p:nvPr/>
          </p:nvSpPr>
          <p:spPr>
            <a:xfrm>
              <a:off x="4967275" y="344370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1"/>
            <p:cNvSpPr/>
            <p:nvPr/>
          </p:nvSpPr>
          <p:spPr>
            <a:xfrm>
              <a:off x="5216425" y="3443700"/>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21"/>
            <p:cNvSpPr/>
            <p:nvPr/>
          </p:nvSpPr>
          <p:spPr>
            <a:xfrm>
              <a:off x="5465850" y="3443700"/>
              <a:ext cx="92900" cy="93200"/>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21"/>
            <p:cNvSpPr/>
            <p:nvPr/>
          </p:nvSpPr>
          <p:spPr>
            <a:xfrm>
              <a:off x="4468700" y="366695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1"/>
            <p:cNvSpPr/>
            <p:nvPr/>
          </p:nvSpPr>
          <p:spPr>
            <a:xfrm>
              <a:off x="4717850" y="3666950"/>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1"/>
            <p:cNvSpPr/>
            <p:nvPr/>
          </p:nvSpPr>
          <p:spPr>
            <a:xfrm>
              <a:off x="4967275" y="366695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1"/>
            <p:cNvSpPr/>
            <p:nvPr/>
          </p:nvSpPr>
          <p:spPr>
            <a:xfrm>
              <a:off x="5216425" y="3666950"/>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1"/>
            <p:cNvSpPr/>
            <p:nvPr/>
          </p:nvSpPr>
          <p:spPr>
            <a:xfrm>
              <a:off x="5465850" y="3666950"/>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1"/>
            <p:cNvSpPr/>
            <p:nvPr/>
          </p:nvSpPr>
          <p:spPr>
            <a:xfrm>
              <a:off x="4468700" y="3890200"/>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1"/>
            <p:cNvSpPr/>
            <p:nvPr/>
          </p:nvSpPr>
          <p:spPr>
            <a:xfrm>
              <a:off x="4717850" y="3890200"/>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1"/>
            <p:cNvSpPr/>
            <p:nvPr/>
          </p:nvSpPr>
          <p:spPr>
            <a:xfrm>
              <a:off x="4967275" y="3890200"/>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1"/>
            <p:cNvSpPr/>
            <p:nvPr/>
          </p:nvSpPr>
          <p:spPr>
            <a:xfrm>
              <a:off x="5216425" y="3890200"/>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1"/>
            <p:cNvSpPr/>
            <p:nvPr/>
          </p:nvSpPr>
          <p:spPr>
            <a:xfrm>
              <a:off x="5465850" y="3890200"/>
              <a:ext cx="92900" cy="93175"/>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21"/>
            <p:cNvSpPr/>
            <p:nvPr/>
          </p:nvSpPr>
          <p:spPr>
            <a:xfrm>
              <a:off x="4468700" y="4113425"/>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21"/>
            <p:cNvSpPr/>
            <p:nvPr/>
          </p:nvSpPr>
          <p:spPr>
            <a:xfrm>
              <a:off x="4717850" y="4113425"/>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1"/>
            <p:cNvSpPr/>
            <p:nvPr/>
          </p:nvSpPr>
          <p:spPr>
            <a:xfrm>
              <a:off x="4967275" y="4113425"/>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1"/>
            <p:cNvSpPr/>
            <p:nvPr/>
          </p:nvSpPr>
          <p:spPr>
            <a:xfrm>
              <a:off x="5216425" y="4113425"/>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1"/>
            <p:cNvSpPr/>
            <p:nvPr/>
          </p:nvSpPr>
          <p:spPr>
            <a:xfrm>
              <a:off x="5465850" y="4113425"/>
              <a:ext cx="92900" cy="93200"/>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1"/>
            <p:cNvSpPr/>
            <p:nvPr/>
          </p:nvSpPr>
          <p:spPr>
            <a:xfrm>
              <a:off x="4468700" y="433667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1"/>
            <p:cNvSpPr/>
            <p:nvPr/>
          </p:nvSpPr>
          <p:spPr>
            <a:xfrm>
              <a:off x="4717850" y="4336675"/>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1"/>
            <p:cNvSpPr/>
            <p:nvPr/>
          </p:nvSpPr>
          <p:spPr>
            <a:xfrm>
              <a:off x="4967275" y="4336675"/>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1"/>
            <p:cNvSpPr/>
            <p:nvPr/>
          </p:nvSpPr>
          <p:spPr>
            <a:xfrm>
              <a:off x="5216425" y="4336675"/>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1"/>
            <p:cNvSpPr/>
            <p:nvPr/>
          </p:nvSpPr>
          <p:spPr>
            <a:xfrm>
              <a:off x="5465850" y="4336675"/>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1"/>
            <p:cNvSpPr/>
            <p:nvPr/>
          </p:nvSpPr>
          <p:spPr>
            <a:xfrm>
              <a:off x="4468700" y="455992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21"/>
            <p:cNvSpPr/>
            <p:nvPr/>
          </p:nvSpPr>
          <p:spPr>
            <a:xfrm>
              <a:off x="4717850" y="4559925"/>
              <a:ext cx="93175" cy="93175"/>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1"/>
            <p:cNvSpPr/>
            <p:nvPr/>
          </p:nvSpPr>
          <p:spPr>
            <a:xfrm>
              <a:off x="4967275" y="4559925"/>
              <a:ext cx="92900" cy="93175"/>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1"/>
            <p:cNvSpPr/>
            <p:nvPr/>
          </p:nvSpPr>
          <p:spPr>
            <a:xfrm>
              <a:off x="5216425" y="4559925"/>
              <a:ext cx="93175" cy="93175"/>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1"/>
            <p:cNvSpPr/>
            <p:nvPr/>
          </p:nvSpPr>
          <p:spPr>
            <a:xfrm>
              <a:off x="5465850" y="4559925"/>
              <a:ext cx="92900" cy="93175"/>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1"/>
            <p:cNvSpPr/>
            <p:nvPr/>
          </p:nvSpPr>
          <p:spPr>
            <a:xfrm>
              <a:off x="4468700" y="478315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1"/>
            <p:cNvSpPr/>
            <p:nvPr/>
          </p:nvSpPr>
          <p:spPr>
            <a:xfrm>
              <a:off x="4717850" y="4783150"/>
              <a:ext cx="93175" cy="93200"/>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1"/>
            <p:cNvSpPr/>
            <p:nvPr/>
          </p:nvSpPr>
          <p:spPr>
            <a:xfrm>
              <a:off x="4967275" y="4783150"/>
              <a:ext cx="92900" cy="93200"/>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21"/>
            <p:cNvSpPr/>
            <p:nvPr/>
          </p:nvSpPr>
          <p:spPr>
            <a:xfrm>
              <a:off x="5216425" y="4783150"/>
              <a:ext cx="93175" cy="93200"/>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21"/>
            <p:cNvSpPr/>
            <p:nvPr/>
          </p:nvSpPr>
          <p:spPr>
            <a:xfrm>
              <a:off x="5465850" y="4783150"/>
              <a:ext cx="92900" cy="93200"/>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1"/>
            <p:cNvSpPr/>
            <p:nvPr/>
          </p:nvSpPr>
          <p:spPr>
            <a:xfrm>
              <a:off x="4468700" y="500640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1"/>
            <p:cNvSpPr/>
            <p:nvPr/>
          </p:nvSpPr>
          <p:spPr>
            <a:xfrm>
              <a:off x="4717850" y="5006400"/>
              <a:ext cx="93175" cy="93200"/>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21"/>
            <p:cNvSpPr/>
            <p:nvPr/>
          </p:nvSpPr>
          <p:spPr>
            <a:xfrm>
              <a:off x="4967275" y="5006400"/>
              <a:ext cx="92900" cy="93200"/>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21"/>
            <p:cNvSpPr/>
            <p:nvPr/>
          </p:nvSpPr>
          <p:spPr>
            <a:xfrm>
              <a:off x="5216425" y="5006400"/>
              <a:ext cx="93175" cy="93200"/>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1"/>
            <p:cNvSpPr/>
            <p:nvPr/>
          </p:nvSpPr>
          <p:spPr>
            <a:xfrm>
              <a:off x="5465850" y="5006400"/>
              <a:ext cx="92900" cy="93200"/>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3" name="Google Shape;893;p21"/>
          <p:cNvSpPr/>
          <p:nvPr/>
        </p:nvSpPr>
        <p:spPr>
          <a:xfrm rot="10800000">
            <a:off x="7200873" y="21"/>
            <a:ext cx="1943127" cy="612829"/>
          </a:xfrm>
          <a:custGeom>
            <a:avLst/>
            <a:gdLst/>
            <a:ahLst/>
            <a:cxnLst/>
            <a:rect l="l" t="t" r="r" b="b"/>
            <a:pathLst>
              <a:path w="33576" h="17352" extrusionOk="0">
                <a:moveTo>
                  <a:pt x="10157" y="1"/>
                </a:moveTo>
                <a:cubicBezTo>
                  <a:pt x="6817" y="1"/>
                  <a:pt x="3384" y="749"/>
                  <a:pt x="0" y="2385"/>
                </a:cubicBezTo>
                <a:lnTo>
                  <a:pt x="0" y="17351"/>
                </a:lnTo>
                <a:lnTo>
                  <a:pt x="33576" y="17351"/>
                </a:lnTo>
                <a:cubicBezTo>
                  <a:pt x="33576" y="16137"/>
                  <a:pt x="33076" y="14803"/>
                  <a:pt x="32445" y="13732"/>
                </a:cubicBezTo>
                <a:cubicBezTo>
                  <a:pt x="27582" y="5503"/>
                  <a:pt x="19212" y="1"/>
                  <a:pt x="101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4" name="Google Shape;894;p21"/>
          <p:cNvGrpSpPr/>
          <p:nvPr/>
        </p:nvGrpSpPr>
        <p:grpSpPr>
          <a:xfrm>
            <a:off x="8430609" y="4414353"/>
            <a:ext cx="436705" cy="478622"/>
            <a:chOff x="6072409" y="4521978"/>
            <a:chExt cx="436705" cy="478622"/>
          </a:xfrm>
        </p:grpSpPr>
        <p:sp>
          <p:nvSpPr>
            <p:cNvPr id="895" name="Google Shape;895;p21"/>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1"/>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1"/>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21"/>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21"/>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1"/>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1"/>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1"/>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1"/>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4" name="Google Shape;904;p21"/>
          <p:cNvSpPr txBox="1">
            <a:spLocks noGrp="1"/>
          </p:cNvSpPr>
          <p:nvPr>
            <p:ph type="body" idx="1"/>
          </p:nvPr>
        </p:nvSpPr>
        <p:spPr>
          <a:xfrm>
            <a:off x="1345500" y="1502750"/>
            <a:ext cx="6453000" cy="3101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Font typeface="Karla"/>
              <a:buChar char="●"/>
              <a:defRPr sz="1600"/>
            </a:lvl1pPr>
            <a:lvl2pPr marL="914400" lvl="1" indent="-317500" rtl="0">
              <a:spcBef>
                <a:spcPts val="600"/>
              </a:spcBef>
              <a:spcAft>
                <a:spcPts val="0"/>
              </a:spcAft>
              <a:buSzPts val="1400"/>
              <a:buFont typeface="Karla"/>
              <a:buChar char="○"/>
              <a:defRPr/>
            </a:lvl2pPr>
            <a:lvl3pPr marL="1371600" lvl="2" indent="-317500" rtl="0">
              <a:spcBef>
                <a:spcPts val="0"/>
              </a:spcBef>
              <a:spcAft>
                <a:spcPts val="0"/>
              </a:spcAft>
              <a:buSzPts val="1400"/>
              <a:buFont typeface="Karla"/>
              <a:buChar char="■"/>
              <a:defRPr/>
            </a:lvl3pPr>
            <a:lvl4pPr marL="1828800" lvl="3" indent="-317500" rtl="0">
              <a:spcBef>
                <a:spcPts val="0"/>
              </a:spcBef>
              <a:spcAft>
                <a:spcPts val="0"/>
              </a:spcAft>
              <a:buSzPts val="1400"/>
              <a:buFont typeface="Karla"/>
              <a:buChar char="●"/>
              <a:defRPr/>
            </a:lvl4pPr>
            <a:lvl5pPr marL="2286000" lvl="4" indent="-317500" rtl="0">
              <a:spcBef>
                <a:spcPts val="0"/>
              </a:spcBef>
              <a:spcAft>
                <a:spcPts val="0"/>
              </a:spcAft>
              <a:buSzPts val="1400"/>
              <a:buFont typeface="Karla"/>
              <a:buChar char="○"/>
              <a:defRPr/>
            </a:lvl5pPr>
            <a:lvl6pPr marL="2743200" lvl="5" indent="-317500" rtl="0">
              <a:spcBef>
                <a:spcPts val="0"/>
              </a:spcBef>
              <a:spcAft>
                <a:spcPts val="0"/>
              </a:spcAft>
              <a:buSzPts val="1400"/>
              <a:buFont typeface="Karla"/>
              <a:buChar char="■"/>
              <a:defRPr/>
            </a:lvl6pPr>
            <a:lvl7pPr marL="3200400" lvl="6" indent="-317500" rtl="0">
              <a:spcBef>
                <a:spcPts val="0"/>
              </a:spcBef>
              <a:spcAft>
                <a:spcPts val="0"/>
              </a:spcAft>
              <a:buSzPts val="1400"/>
              <a:buFont typeface="Karla"/>
              <a:buChar char="●"/>
              <a:defRPr/>
            </a:lvl7pPr>
            <a:lvl8pPr marL="3657600" lvl="7" indent="-317500" rtl="0">
              <a:spcBef>
                <a:spcPts val="0"/>
              </a:spcBef>
              <a:spcAft>
                <a:spcPts val="0"/>
              </a:spcAft>
              <a:buSzPts val="1400"/>
              <a:buFont typeface="Karla"/>
              <a:buChar char="○"/>
              <a:defRPr/>
            </a:lvl8pPr>
            <a:lvl9pPr marL="4114800" lvl="8" indent="-317500" rtl="0">
              <a:spcBef>
                <a:spcPts val="0"/>
              </a:spcBef>
              <a:spcAft>
                <a:spcPts val="0"/>
              </a:spcAft>
              <a:buSzPts val="1400"/>
              <a:buFont typeface="Karla"/>
              <a:buChar char="■"/>
              <a:defRPr/>
            </a:lvl9pPr>
          </a:lstStyle>
          <a:p>
            <a:pPr lvl="0"/>
            <a:r>
              <a:rPr lang="en-US"/>
              <a:t>Click to edit Master text styles</a:t>
            </a:r>
          </a:p>
        </p:txBody>
      </p:sp>
      <p:sp>
        <p:nvSpPr>
          <p:cNvPr id="905" name="Google Shape;905;p21"/>
          <p:cNvSpPr txBox="1">
            <a:spLocks noGrp="1"/>
          </p:cNvSpPr>
          <p:nvPr>
            <p:ph type="title"/>
          </p:nvPr>
        </p:nvSpPr>
        <p:spPr>
          <a:xfrm>
            <a:off x="713100" y="452325"/>
            <a:ext cx="7717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12">
    <p:spTree>
      <p:nvGrpSpPr>
        <p:cNvPr id="1" name="Shape 1398"/>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2">
  <p:cSld name="CUSTOM_13">
    <p:spTree>
      <p:nvGrpSpPr>
        <p:cNvPr id="1" name="Shape 139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3">
  <p:cSld name="CUSTOM_14">
    <p:spTree>
      <p:nvGrpSpPr>
        <p:cNvPr id="1" name="Shape 140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300" y="452325"/>
            <a:ext cx="7703400" cy="572700"/>
          </a:xfrm>
          <a:prstGeom prst="rect">
            <a:avLst/>
          </a:prstGeom>
          <a:noFill/>
          <a:ln>
            <a:noFill/>
          </a:ln>
          <a:effectLst>
            <a:outerShdw dist="47625" dir="2820000" algn="bl" rotWithShape="0">
              <a:srgbClr val="000000">
                <a:alpha val="10000"/>
              </a:srgbClr>
            </a:outerShdw>
          </a:effectLst>
        </p:spPr>
        <p:txBody>
          <a:bodyPr spcFirstLastPara="1" wrap="square" lIns="91425" tIns="91425" rIns="91425" bIns="91425" anchor="t" anchorCtr="0">
            <a:noAutofit/>
          </a:bodyPr>
          <a:lstStyle>
            <a:lvl1pPr lvl="0">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1pPr>
            <a:lvl2pPr lvl="1">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2pPr>
            <a:lvl3pPr lvl="2">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3pPr>
            <a:lvl4pPr lvl="3">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4pPr>
            <a:lvl5pPr lvl="4">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5pPr>
            <a:lvl6pPr lvl="5">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6pPr>
            <a:lvl7pPr lvl="6">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7pPr>
            <a:lvl8pPr lvl="7">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8pPr>
            <a:lvl9pPr lvl="8">
              <a:spcBef>
                <a:spcPts val="0"/>
              </a:spcBef>
              <a:spcAft>
                <a:spcPts val="0"/>
              </a:spcAft>
              <a:buClr>
                <a:schemeClr val="dk1"/>
              </a:buClr>
              <a:buSzPts val="2800"/>
              <a:buFont typeface="Open Sans ExtraBold"/>
              <a:buNone/>
              <a:defRPr sz="2800">
                <a:solidFill>
                  <a:schemeClr val="dk1"/>
                </a:solidFill>
                <a:latin typeface="Open Sans ExtraBold"/>
                <a:ea typeface="Open Sans ExtraBold"/>
                <a:cs typeface="Open Sans ExtraBold"/>
                <a:sym typeface="Open Sans ExtraBold"/>
              </a:defRPr>
            </a:lvl9pPr>
          </a:lstStyle>
          <a:p>
            <a:endParaRPr/>
          </a:p>
        </p:txBody>
      </p:sp>
      <p:sp>
        <p:nvSpPr>
          <p:cNvPr id="7" name="Google Shape;7;p1"/>
          <p:cNvSpPr txBox="1">
            <a:spLocks noGrp="1"/>
          </p:cNvSpPr>
          <p:nvPr>
            <p:ph type="body" idx="1"/>
          </p:nvPr>
        </p:nvSpPr>
        <p:spPr>
          <a:xfrm>
            <a:off x="720300" y="1152475"/>
            <a:ext cx="77034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accent1"/>
              </a:buClr>
              <a:buSzPts val="1400"/>
              <a:buFont typeface="Karla"/>
              <a:buChar char="●"/>
              <a:defRPr>
                <a:latin typeface="Karla"/>
                <a:ea typeface="Karla"/>
                <a:cs typeface="Karla"/>
                <a:sym typeface="Karla"/>
              </a:defRPr>
            </a:lvl1pPr>
            <a:lvl2pPr marL="914400" lvl="1" indent="-317500">
              <a:lnSpc>
                <a:spcPct val="100000"/>
              </a:lnSpc>
              <a:spcBef>
                <a:spcPts val="0"/>
              </a:spcBef>
              <a:spcAft>
                <a:spcPts val="0"/>
              </a:spcAft>
              <a:buClr>
                <a:schemeClr val="accent1"/>
              </a:buClr>
              <a:buSzPts val="1400"/>
              <a:buFont typeface="Karla"/>
              <a:buChar char="○"/>
              <a:defRPr>
                <a:latin typeface="Karla"/>
                <a:ea typeface="Karla"/>
                <a:cs typeface="Karla"/>
                <a:sym typeface="Karla"/>
              </a:defRPr>
            </a:lvl2pPr>
            <a:lvl3pPr marL="1371600" lvl="2" indent="-317500">
              <a:lnSpc>
                <a:spcPct val="100000"/>
              </a:lnSpc>
              <a:spcBef>
                <a:spcPts val="0"/>
              </a:spcBef>
              <a:spcAft>
                <a:spcPts val="0"/>
              </a:spcAft>
              <a:buSzPts val="1400"/>
              <a:buFont typeface="Karla"/>
              <a:buChar char="■"/>
              <a:defRPr>
                <a:latin typeface="Karla"/>
                <a:ea typeface="Karla"/>
                <a:cs typeface="Karla"/>
                <a:sym typeface="Karla"/>
              </a:defRPr>
            </a:lvl3pPr>
            <a:lvl4pPr marL="1828800" lvl="3" indent="-317500">
              <a:lnSpc>
                <a:spcPct val="100000"/>
              </a:lnSpc>
              <a:spcBef>
                <a:spcPts val="0"/>
              </a:spcBef>
              <a:spcAft>
                <a:spcPts val="0"/>
              </a:spcAft>
              <a:buSzPts val="1400"/>
              <a:buFont typeface="Karla"/>
              <a:buChar char="●"/>
              <a:defRPr>
                <a:latin typeface="Karla"/>
                <a:ea typeface="Karla"/>
                <a:cs typeface="Karla"/>
                <a:sym typeface="Karla"/>
              </a:defRPr>
            </a:lvl4pPr>
            <a:lvl5pPr marL="2286000" lvl="4" indent="-317500">
              <a:lnSpc>
                <a:spcPct val="100000"/>
              </a:lnSpc>
              <a:spcBef>
                <a:spcPts val="0"/>
              </a:spcBef>
              <a:spcAft>
                <a:spcPts val="0"/>
              </a:spcAft>
              <a:buSzPts val="1400"/>
              <a:buFont typeface="Karla"/>
              <a:buChar char="○"/>
              <a:defRPr>
                <a:latin typeface="Karla"/>
                <a:ea typeface="Karla"/>
                <a:cs typeface="Karla"/>
                <a:sym typeface="Karla"/>
              </a:defRPr>
            </a:lvl5pPr>
            <a:lvl6pPr marL="2743200" lvl="5" indent="-317500">
              <a:lnSpc>
                <a:spcPct val="100000"/>
              </a:lnSpc>
              <a:spcBef>
                <a:spcPts val="0"/>
              </a:spcBef>
              <a:spcAft>
                <a:spcPts val="0"/>
              </a:spcAft>
              <a:buSzPts val="1400"/>
              <a:buFont typeface="Karla"/>
              <a:buChar char="■"/>
              <a:defRPr>
                <a:latin typeface="Karla"/>
                <a:ea typeface="Karla"/>
                <a:cs typeface="Karla"/>
                <a:sym typeface="Karla"/>
              </a:defRPr>
            </a:lvl6pPr>
            <a:lvl7pPr marL="3200400" lvl="6" indent="-317500">
              <a:lnSpc>
                <a:spcPct val="100000"/>
              </a:lnSpc>
              <a:spcBef>
                <a:spcPts val="0"/>
              </a:spcBef>
              <a:spcAft>
                <a:spcPts val="0"/>
              </a:spcAft>
              <a:buSzPts val="1400"/>
              <a:buFont typeface="Karla"/>
              <a:buChar char="●"/>
              <a:defRPr>
                <a:latin typeface="Karla"/>
                <a:ea typeface="Karla"/>
                <a:cs typeface="Karla"/>
                <a:sym typeface="Karla"/>
              </a:defRPr>
            </a:lvl7pPr>
            <a:lvl8pPr marL="3657600" lvl="7" indent="-317500">
              <a:lnSpc>
                <a:spcPct val="100000"/>
              </a:lnSpc>
              <a:spcBef>
                <a:spcPts val="0"/>
              </a:spcBef>
              <a:spcAft>
                <a:spcPts val="0"/>
              </a:spcAft>
              <a:buSzPts val="1400"/>
              <a:buFont typeface="Karla"/>
              <a:buChar char="○"/>
              <a:defRPr>
                <a:latin typeface="Karla"/>
                <a:ea typeface="Karla"/>
                <a:cs typeface="Karla"/>
                <a:sym typeface="Karla"/>
              </a:defRPr>
            </a:lvl8pPr>
            <a:lvl9pPr marL="4114800" lvl="8" indent="-317500">
              <a:lnSpc>
                <a:spcPct val="100000"/>
              </a:lnSpc>
              <a:spcBef>
                <a:spcPts val="0"/>
              </a:spcBef>
              <a:spcAft>
                <a:spcPts val="0"/>
              </a:spcAft>
              <a:buSzPts val="1400"/>
              <a:buFont typeface="Karla"/>
              <a:buChar char="■"/>
              <a:defRPr>
                <a:latin typeface="Karla"/>
                <a:ea typeface="Karla"/>
                <a:cs typeface="Karla"/>
                <a:sym typeface="Karla"/>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4" r:id="rId3"/>
    <p:sldLayoutId id="2147483658" r:id="rId4"/>
    <p:sldLayoutId id="2147483667" r:id="rId5"/>
    <p:sldLayoutId id="2147483678" r:id="rId6"/>
    <p:sldLayoutId id="2147483679" r:id="rId7"/>
    <p:sldLayoutId id="2147483680" r:id="rId8"/>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54">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www.ncbi.nlm.nih.gov/pmc/articles/PMC3110961/#B76"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microsoft.com/office/2007/relationships/hdphoto" Target="../media/hdphoto2.wdp"/></Relationships>
</file>

<file path=ppt/slides/_rels/slide33.xml.rels><?xml version="1.0" encoding="UTF-8" standalone="yes"?>
<Relationships xmlns="http://schemas.openxmlformats.org/package/2006/relationships"><Relationship Id="rId3" Type="http://schemas.openxmlformats.org/officeDocument/2006/relationships/hyperlink" Target="https://doi.org/10.1007/bf00919803" TargetMode="External"/><Relationship Id="rId2" Type="http://schemas.openxmlformats.org/officeDocument/2006/relationships/hyperlink" Target="https://doi.org/10.1080/0144341032000060129" TargetMode="External"/><Relationship Id="rId1" Type="http://schemas.openxmlformats.org/officeDocument/2006/relationships/slideLayout" Target="../slideLayouts/slideLayout1.xml"/><Relationship Id="rId5" Type="http://schemas.openxmlformats.org/officeDocument/2006/relationships/hyperlink" Target="https://www.ccsenet.org/journal/index.php/ass/article/view/12451/" TargetMode="External"/><Relationship Id="rId4" Type="http://schemas.openxmlformats.org/officeDocument/2006/relationships/hyperlink" Target="https://doi.org/10.1080/13676261.2014.992317"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doi.org/10.1080/0729436890080105" TargetMode="External"/><Relationship Id="rId2" Type="http://schemas.openxmlformats.org/officeDocument/2006/relationships/hyperlink" Target="https://doi.org/10.1007/s10734-008-9137-1" TargetMode="Externa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6" name="TextBox 5">
            <a:extLst>
              <a:ext uri="{FF2B5EF4-FFF2-40B4-BE49-F238E27FC236}">
                <a16:creationId xmlns:a16="http://schemas.microsoft.com/office/drawing/2014/main" id="{987F3804-A497-4A25-809F-58AD16C0310D}"/>
              </a:ext>
            </a:extLst>
          </p:cNvPr>
          <p:cNvSpPr txBox="1"/>
          <p:nvPr/>
        </p:nvSpPr>
        <p:spPr>
          <a:xfrm>
            <a:off x="1765934" y="367463"/>
            <a:ext cx="5612130" cy="1061829"/>
          </a:xfrm>
          <a:prstGeom prst="rect">
            <a:avLst/>
          </a:prstGeom>
          <a:noFill/>
        </p:spPr>
        <p:txBody>
          <a:bodyPr wrap="square">
            <a:spAutoFit/>
          </a:bodyPr>
          <a:lstStyle/>
          <a:p>
            <a:pPr algn="ctr"/>
            <a:r>
              <a:rPr lang="en-IN" sz="2100" b="1" dirty="0">
                <a:solidFill>
                  <a:schemeClr val="tx1"/>
                </a:solidFill>
                <a:latin typeface="Times New Roman" panose="02020603050405020304" pitchFamily="18" charset="0"/>
                <a:cs typeface="Times New Roman" panose="02020603050405020304" pitchFamily="18" charset="0"/>
              </a:rPr>
              <a:t>Gujarat University</a:t>
            </a:r>
            <a:br>
              <a:rPr lang="en-IN" sz="2100" b="1" dirty="0">
                <a:solidFill>
                  <a:schemeClr val="tx1"/>
                </a:solidFill>
                <a:latin typeface="Times New Roman" panose="02020603050405020304" pitchFamily="18" charset="0"/>
                <a:cs typeface="Times New Roman" panose="02020603050405020304" pitchFamily="18" charset="0"/>
              </a:rPr>
            </a:br>
            <a:r>
              <a:rPr lang="en-IN" sz="2100" b="1" dirty="0">
                <a:solidFill>
                  <a:schemeClr val="tx1"/>
                </a:solidFill>
                <a:latin typeface="Times New Roman" panose="02020603050405020304" pitchFamily="18" charset="0"/>
                <a:cs typeface="Times New Roman" panose="02020603050405020304" pitchFamily="18" charset="0"/>
              </a:rPr>
              <a:t>M.Sc. Applied Mathematical Science</a:t>
            </a:r>
            <a:br>
              <a:rPr lang="en-IN" sz="2100" b="1" dirty="0">
                <a:solidFill>
                  <a:schemeClr val="tx1"/>
                </a:solidFill>
                <a:latin typeface="Times New Roman" panose="02020603050405020304" pitchFamily="18" charset="0"/>
                <a:cs typeface="Times New Roman" panose="02020603050405020304" pitchFamily="18" charset="0"/>
              </a:rPr>
            </a:br>
            <a:r>
              <a:rPr lang="en-IN" sz="2100" b="1" dirty="0">
                <a:solidFill>
                  <a:schemeClr val="tx1"/>
                </a:solidFill>
                <a:latin typeface="Times New Roman" panose="02020603050405020304" pitchFamily="18" charset="0"/>
                <a:cs typeface="Times New Roman" panose="02020603050405020304" pitchFamily="18" charset="0"/>
              </a:rPr>
              <a:t>Semester - III</a:t>
            </a:r>
            <a:endParaRPr lang="en-IN" sz="2100" b="1" dirty="0"/>
          </a:p>
        </p:txBody>
      </p:sp>
      <p:pic>
        <p:nvPicPr>
          <p:cNvPr id="7" name="Picture 6">
            <a:extLst>
              <a:ext uri="{FF2B5EF4-FFF2-40B4-BE49-F238E27FC236}">
                <a16:creationId xmlns:a16="http://schemas.microsoft.com/office/drawing/2014/main" id="{B9F81559-A0E8-3F8D-81FE-D86A630E5876}"/>
              </a:ext>
            </a:extLst>
          </p:cNvPr>
          <p:cNvPicPr>
            <a:picLocks noChangeAspect="1"/>
          </p:cNvPicPr>
          <p:nvPr/>
        </p:nvPicPr>
        <p:blipFill>
          <a:blip r:embed="rId3"/>
          <a:stretch>
            <a:fillRect/>
          </a:stretch>
        </p:blipFill>
        <p:spPr>
          <a:xfrm>
            <a:off x="922419" y="409766"/>
            <a:ext cx="943403" cy="977222"/>
          </a:xfrm>
          <a:prstGeom prst="rect">
            <a:avLst/>
          </a:prstGeom>
        </p:spPr>
      </p:pic>
      <p:graphicFrame>
        <p:nvGraphicFramePr>
          <p:cNvPr id="8" name="Table 7">
            <a:extLst>
              <a:ext uri="{FF2B5EF4-FFF2-40B4-BE49-F238E27FC236}">
                <a16:creationId xmlns:a16="http://schemas.microsoft.com/office/drawing/2014/main" id="{7841B7E2-DA35-7309-7B83-9986AADC5890}"/>
              </a:ext>
            </a:extLst>
          </p:cNvPr>
          <p:cNvGraphicFramePr>
            <a:graphicFrameLocks noGrp="1"/>
          </p:cNvGraphicFramePr>
          <p:nvPr>
            <p:extLst>
              <p:ext uri="{D42A27DB-BD31-4B8C-83A1-F6EECF244321}">
                <p14:modId xmlns:p14="http://schemas.microsoft.com/office/powerpoint/2010/main" val="2235540865"/>
              </p:ext>
            </p:extLst>
          </p:nvPr>
        </p:nvGraphicFramePr>
        <p:xfrm>
          <a:off x="922418" y="1737341"/>
          <a:ext cx="7299161" cy="2412406"/>
        </p:xfrm>
        <a:graphic>
          <a:graphicData uri="http://schemas.openxmlformats.org/drawingml/2006/table">
            <a:tbl>
              <a:tblPr firstRow="1" bandRow="1">
                <a:tableStyleId>{16D9F66E-5EB9-4882-86FB-DCBF35E3C3E4}</a:tableStyleId>
              </a:tblPr>
              <a:tblGrid>
                <a:gridCol w="883815">
                  <a:extLst>
                    <a:ext uri="{9D8B030D-6E8A-4147-A177-3AD203B41FA5}">
                      <a16:colId xmlns:a16="http://schemas.microsoft.com/office/drawing/2014/main" val="903185542"/>
                    </a:ext>
                  </a:extLst>
                </a:gridCol>
                <a:gridCol w="6415346">
                  <a:extLst>
                    <a:ext uri="{9D8B030D-6E8A-4147-A177-3AD203B41FA5}">
                      <a16:colId xmlns:a16="http://schemas.microsoft.com/office/drawing/2014/main" val="580925946"/>
                    </a:ext>
                  </a:extLst>
                </a:gridCol>
              </a:tblGrid>
              <a:tr h="468590">
                <a:tc>
                  <a:txBody>
                    <a:bodyPr/>
                    <a:lstStyle/>
                    <a:p>
                      <a:r>
                        <a:rPr lang="en-US" sz="1500" b="1" dirty="0">
                          <a:solidFill>
                            <a:schemeClr val="tx1"/>
                          </a:solidFill>
                          <a:latin typeface="Times New Roman" panose="02020603050405020304" pitchFamily="18" charset="0"/>
                          <a:cs typeface="Times New Roman" panose="02020603050405020304" pitchFamily="18" charset="0"/>
                        </a:rPr>
                        <a:t>Name</a:t>
                      </a:r>
                      <a:endParaRPr lang="en-IN" sz="1500" b="1" dirty="0">
                        <a:solidFill>
                          <a:schemeClr val="tx1"/>
                        </a:solidFill>
                        <a:latin typeface="Times New Roman" panose="02020603050405020304" pitchFamily="18" charset="0"/>
                        <a:cs typeface="Times New Roman" panose="02020603050405020304" pitchFamily="18" charset="0"/>
                      </a:endParaRP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500" b="1" dirty="0">
                          <a:solidFill>
                            <a:schemeClr val="tx1"/>
                          </a:solidFill>
                          <a:latin typeface="Times New Roman" panose="02020603050405020304" pitchFamily="18" charset="0"/>
                          <a:cs typeface="Times New Roman" panose="02020603050405020304" pitchFamily="18" charset="0"/>
                        </a:rPr>
                        <a:t>JAYARAJ DAVID</a:t>
                      </a:r>
                    </a:p>
                  </a:txBody>
                  <a:tcPr marL="68580" marR="68580" marT="34290" marB="34290" anchor="ctr"/>
                </a:tc>
                <a:extLst>
                  <a:ext uri="{0D108BD9-81ED-4DB2-BD59-A6C34878D82A}">
                    <a16:rowId xmlns:a16="http://schemas.microsoft.com/office/drawing/2014/main" val="178405493"/>
                  </a:ext>
                </a:extLst>
              </a:tr>
              <a:tr h="275577">
                <a:tc>
                  <a:txBody>
                    <a:bodyPr/>
                    <a:lstStyle/>
                    <a:p>
                      <a:r>
                        <a:rPr lang="en-US" sz="1500" b="1" dirty="0">
                          <a:solidFill>
                            <a:schemeClr val="tx1"/>
                          </a:solidFill>
                          <a:latin typeface="Times New Roman" panose="02020603050405020304" pitchFamily="18" charset="0"/>
                          <a:cs typeface="Times New Roman" panose="02020603050405020304" pitchFamily="18" charset="0"/>
                        </a:rPr>
                        <a:t>Roll no.</a:t>
                      </a:r>
                      <a:endParaRPr lang="en-IN" sz="1500" b="1" dirty="0">
                        <a:solidFill>
                          <a:schemeClr val="tx1"/>
                        </a:solidFill>
                        <a:latin typeface="Times New Roman" panose="02020603050405020304" pitchFamily="18" charset="0"/>
                        <a:cs typeface="Times New Roman" panose="02020603050405020304" pitchFamily="18" charset="0"/>
                      </a:endParaRPr>
                    </a:p>
                  </a:txBody>
                  <a:tcPr marL="68580" marR="68580" marT="34290" marB="34290"/>
                </a:tc>
                <a:tc>
                  <a:txBody>
                    <a:bodyPr/>
                    <a:lstStyle/>
                    <a:p>
                      <a:pPr algn="l"/>
                      <a:r>
                        <a:rPr lang="en-IN" sz="1500" b="1" dirty="0">
                          <a:solidFill>
                            <a:schemeClr val="tx1"/>
                          </a:solidFill>
                          <a:latin typeface="Times New Roman" panose="02020603050405020304" pitchFamily="18" charset="0"/>
                          <a:cs typeface="Times New Roman" panose="02020603050405020304" pitchFamily="18" charset="0"/>
                        </a:rPr>
                        <a:t>12</a:t>
                      </a:r>
                    </a:p>
                  </a:txBody>
                  <a:tcPr marL="68580" marR="68580" marT="34290" marB="34290" anchor="ctr"/>
                </a:tc>
                <a:extLst>
                  <a:ext uri="{0D108BD9-81ED-4DB2-BD59-A6C34878D82A}">
                    <a16:rowId xmlns:a16="http://schemas.microsoft.com/office/drawing/2014/main" val="3005559911"/>
                  </a:ext>
                </a:extLst>
              </a:tr>
              <a:tr h="487559">
                <a:tc>
                  <a:txBody>
                    <a:bodyPr/>
                    <a:lstStyle/>
                    <a:p>
                      <a:r>
                        <a:rPr lang="en-US" sz="1500" b="1" dirty="0">
                          <a:solidFill>
                            <a:schemeClr val="tx1"/>
                          </a:solidFill>
                          <a:latin typeface="Times New Roman" panose="02020603050405020304" pitchFamily="18" charset="0"/>
                          <a:cs typeface="Times New Roman" panose="02020603050405020304" pitchFamily="18" charset="0"/>
                        </a:rPr>
                        <a:t>Subject Code</a:t>
                      </a:r>
                      <a:endParaRPr lang="en-IN" sz="1500" b="1" dirty="0">
                        <a:solidFill>
                          <a:schemeClr val="tx1"/>
                        </a:solidFill>
                        <a:latin typeface="Times New Roman" panose="02020603050405020304" pitchFamily="18" charset="0"/>
                        <a:cs typeface="Times New Roman" panose="02020603050405020304" pitchFamily="18" charset="0"/>
                      </a:endParaRPr>
                    </a:p>
                  </a:txBody>
                  <a:tcPr marL="68580" marR="68580" marT="34290" marB="34290"/>
                </a:tc>
                <a:tc>
                  <a:txBody>
                    <a:bodyPr/>
                    <a:lstStyle/>
                    <a:p>
                      <a:r>
                        <a:rPr lang="en-US" sz="1500" b="1" dirty="0">
                          <a:solidFill>
                            <a:schemeClr val="tx1"/>
                          </a:solidFill>
                          <a:latin typeface="Times New Roman" panose="02020603050405020304" pitchFamily="18" charset="0"/>
                          <a:cs typeface="Times New Roman" panose="02020603050405020304" pitchFamily="18" charset="0"/>
                        </a:rPr>
                        <a:t>AMS506PR</a:t>
                      </a:r>
                      <a:endParaRPr lang="en-IN" sz="1500" b="1" dirty="0">
                        <a:solidFill>
                          <a:schemeClr val="tx1"/>
                        </a:solidFill>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626359742"/>
                  </a:ext>
                </a:extLst>
              </a:tr>
              <a:tr h="487559">
                <a:tc>
                  <a:txBody>
                    <a:bodyPr/>
                    <a:lstStyle/>
                    <a:p>
                      <a:r>
                        <a:rPr lang="en-US" sz="1500" b="1" dirty="0">
                          <a:solidFill>
                            <a:schemeClr val="tx1"/>
                          </a:solidFill>
                          <a:latin typeface="Times New Roman" panose="02020603050405020304" pitchFamily="18" charset="0"/>
                          <a:cs typeface="Times New Roman" panose="02020603050405020304" pitchFamily="18" charset="0"/>
                        </a:rPr>
                        <a:t>Subject Name</a:t>
                      </a:r>
                      <a:endParaRPr lang="en-IN" sz="1500" b="1" dirty="0">
                        <a:solidFill>
                          <a:schemeClr val="tx1"/>
                        </a:solidFill>
                        <a:latin typeface="Times New Roman" panose="02020603050405020304" pitchFamily="18" charset="0"/>
                        <a:cs typeface="Times New Roman" panose="02020603050405020304" pitchFamily="18" charset="0"/>
                      </a:endParaRPr>
                    </a:p>
                  </a:txBody>
                  <a:tcPr marL="68580" marR="68580" marT="34290" marB="34290"/>
                </a:tc>
                <a:tc>
                  <a:txBody>
                    <a:bodyPr/>
                    <a:lstStyle/>
                    <a:p>
                      <a:r>
                        <a:rPr lang="en-IN" sz="1500" b="1" dirty="0">
                          <a:solidFill>
                            <a:schemeClr val="tx1"/>
                          </a:solidFill>
                          <a:latin typeface="Times New Roman" panose="02020603050405020304" pitchFamily="18" charset="0"/>
                          <a:cs typeface="Times New Roman" panose="02020603050405020304" pitchFamily="18" charset="0"/>
                        </a:rPr>
                        <a:t>Research Methodology and Multivariate Analysis</a:t>
                      </a:r>
                    </a:p>
                  </a:txBody>
                  <a:tcPr marL="68580" marR="68580" marT="34290" marB="34290"/>
                </a:tc>
                <a:extLst>
                  <a:ext uri="{0D108BD9-81ED-4DB2-BD59-A6C34878D82A}">
                    <a16:rowId xmlns:a16="http://schemas.microsoft.com/office/drawing/2014/main" val="1908227180"/>
                  </a:ext>
                </a:extLst>
              </a:tr>
              <a:tr h="595076">
                <a:tc>
                  <a:txBody>
                    <a:bodyPr/>
                    <a:lstStyle/>
                    <a:p>
                      <a:r>
                        <a:rPr lang="en-US" sz="1500" b="1" dirty="0">
                          <a:solidFill>
                            <a:schemeClr val="tx1"/>
                          </a:solidFill>
                          <a:latin typeface="Times New Roman" panose="02020603050405020304" pitchFamily="18" charset="0"/>
                          <a:cs typeface="Times New Roman" panose="02020603050405020304" pitchFamily="18" charset="0"/>
                        </a:rPr>
                        <a:t>Topic</a:t>
                      </a:r>
                      <a:endParaRPr lang="en-IN" sz="1500" b="1" dirty="0">
                        <a:solidFill>
                          <a:schemeClr val="tx1"/>
                        </a:solidFill>
                        <a:latin typeface="Times New Roman" panose="02020603050405020304" pitchFamily="18" charset="0"/>
                        <a:cs typeface="Times New Roman" panose="02020603050405020304" pitchFamily="18" charset="0"/>
                      </a:endParaRPr>
                    </a:p>
                  </a:txBody>
                  <a:tcPr marL="68580" marR="68580" marT="34290" marB="34290"/>
                </a:tc>
                <a:tc>
                  <a:txBody>
                    <a:bodyPr/>
                    <a:lstStyle/>
                    <a:p>
                      <a:r>
                        <a:rPr lang="en-US" sz="1400" b="1" i="0" u="none" strike="noStrike" cap="none" dirty="0">
                          <a:solidFill>
                            <a:schemeClr val="dk1"/>
                          </a:solidFill>
                          <a:effectLst/>
                          <a:latin typeface="Times New Roman" panose="02020603050405020304" pitchFamily="18" charset="0"/>
                          <a:ea typeface="+mn-ea"/>
                          <a:cs typeface="Times New Roman" panose="02020603050405020304" pitchFamily="18" charset="0"/>
                          <a:sym typeface="Arial"/>
                        </a:rPr>
                        <a:t>Investigating Coping Mechanisms and Stress Factors for Students</a:t>
                      </a:r>
                      <a:endParaRPr lang="en-IN" sz="1500" b="1" dirty="0">
                        <a:solidFill>
                          <a:schemeClr val="tx1"/>
                        </a:solidFill>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656985711"/>
                  </a:ext>
                </a:extLst>
              </a:tr>
            </a:tbl>
          </a:graphicData>
        </a:graphic>
      </p:graphicFrame>
      <p:cxnSp>
        <p:nvCxnSpPr>
          <p:cNvPr id="10" name="Straight Connector 9">
            <a:extLst>
              <a:ext uri="{FF2B5EF4-FFF2-40B4-BE49-F238E27FC236}">
                <a16:creationId xmlns:a16="http://schemas.microsoft.com/office/drawing/2014/main" id="{8AAD945C-8432-EDD9-50C3-615A8C54D9FD}"/>
              </a:ext>
            </a:extLst>
          </p:cNvPr>
          <p:cNvCxnSpPr>
            <a:cxnSpLocks/>
          </p:cNvCxnSpPr>
          <p:nvPr/>
        </p:nvCxnSpPr>
        <p:spPr>
          <a:xfrm>
            <a:off x="1262742" y="1535248"/>
            <a:ext cx="6618516"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698191D7-6640-2CF6-A694-3A403D5C6AF5}"/>
              </a:ext>
            </a:extLst>
          </p:cNvPr>
          <p:cNvSpPr txBox="1"/>
          <p:nvPr/>
        </p:nvSpPr>
        <p:spPr>
          <a:xfrm>
            <a:off x="8679180" y="101989"/>
            <a:ext cx="30480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1</a:t>
            </a:r>
            <a:endParaRPr lang="en-IN" dirty="0">
              <a:solidFill>
                <a:sysClr val="windowText" lastClr="000000"/>
              </a:solidFill>
            </a:endParaRPr>
          </a:p>
        </p:txBody>
      </p:sp>
      <p:sp>
        <p:nvSpPr>
          <p:cNvPr id="4" name="TextBox 3">
            <a:extLst>
              <a:ext uri="{FF2B5EF4-FFF2-40B4-BE49-F238E27FC236}">
                <a16:creationId xmlns:a16="http://schemas.microsoft.com/office/drawing/2014/main" id="{CA2EE19D-16CB-5464-513C-60146B16E534}"/>
              </a:ext>
            </a:extLst>
          </p:cNvPr>
          <p:cNvSpPr txBox="1"/>
          <p:nvPr/>
        </p:nvSpPr>
        <p:spPr>
          <a:xfrm>
            <a:off x="2028823" y="4329798"/>
            <a:ext cx="5086350" cy="523220"/>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Department of Applied Mathematical Science, Actuarial Science and Analytics, Gujarat University</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6809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0" name="Google Shape;1480;p38"/>
          <p:cNvSpPr txBox="1">
            <a:spLocks noGrp="1"/>
          </p:cNvSpPr>
          <p:nvPr>
            <p:ph type="title"/>
          </p:nvPr>
        </p:nvSpPr>
        <p:spPr>
          <a:xfrm>
            <a:off x="713100" y="357982"/>
            <a:ext cx="7717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CONTENTS :</a:t>
            </a:r>
            <a:endParaRPr dirty="0"/>
          </a:p>
        </p:txBody>
      </p:sp>
      <p:graphicFrame>
        <p:nvGraphicFramePr>
          <p:cNvPr id="2" name="Table 1">
            <a:extLst>
              <a:ext uri="{FF2B5EF4-FFF2-40B4-BE49-F238E27FC236}">
                <a16:creationId xmlns:a16="http://schemas.microsoft.com/office/drawing/2014/main" id="{74CB5C43-AEFE-65DA-4535-3DDB923E7FE3}"/>
              </a:ext>
            </a:extLst>
          </p:cNvPr>
          <p:cNvGraphicFramePr>
            <a:graphicFrameLocks noGrp="1"/>
          </p:cNvGraphicFramePr>
          <p:nvPr>
            <p:extLst>
              <p:ext uri="{D42A27DB-BD31-4B8C-83A1-F6EECF244321}">
                <p14:modId xmlns:p14="http://schemas.microsoft.com/office/powerpoint/2010/main" val="1229650142"/>
              </p:ext>
            </p:extLst>
          </p:nvPr>
        </p:nvGraphicFramePr>
        <p:xfrm>
          <a:off x="598714" y="1027310"/>
          <a:ext cx="7946572" cy="3758208"/>
        </p:xfrm>
        <a:graphic>
          <a:graphicData uri="http://schemas.openxmlformats.org/drawingml/2006/table">
            <a:tbl>
              <a:tblPr firstRow="1" bandRow="1">
                <a:tableStyleId>{3C2FFA5D-87B4-456A-9821-1D502468CF0F}</a:tableStyleId>
              </a:tblPr>
              <a:tblGrid>
                <a:gridCol w="898719">
                  <a:extLst>
                    <a:ext uri="{9D8B030D-6E8A-4147-A177-3AD203B41FA5}">
                      <a16:colId xmlns:a16="http://schemas.microsoft.com/office/drawing/2014/main" val="2856281793"/>
                    </a:ext>
                  </a:extLst>
                </a:gridCol>
                <a:gridCol w="7047853">
                  <a:extLst>
                    <a:ext uri="{9D8B030D-6E8A-4147-A177-3AD203B41FA5}">
                      <a16:colId xmlns:a16="http://schemas.microsoft.com/office/drawing/2014/main" val="409779810"/>
                    </a:ext>
                  </a:extLst>
                </a:gridCol>
              </a:tblGrid>
              <a:tr h="276612">
                <a:tc>
                  <a:txBody>
                    <a:bodyPr/>
                    <a:lstStyle/>
                    <a:p>
                      <a:pPr algn="ctr"/>
                      <a:r>
                        <a:rPr lang="en-IN" sz="1200" dirty="0" err="1">
                          <a:latin typeface="Grandview" panose="020B0502040204020203" pitchFamily="34" charset="0"/>
                        </a:rPr>
                        <a:t>Sr.No</a:t>
                      </a:r>
                      <a:endParaRPr lang="en-IN" sz="1200" dirty="0">
                        <a:latin typeface="Grandview" panose="020B0502040204020203"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200" dirty="0">
                          <a:latin typeface="Grandview" panose="020B0502040204020203" pitchFamily="34" charset="0"/>
                        </a:rPr>
                        <a:t>Topic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1330736"/>
                  </a:ext>
                </a:extLst>
              </a:tr>
              <a:tr h="276612">
                <a:tc>
                  <a:txBody>
                    <a:bodyPr/>
                    <a:lstStyle/>
                    <a:p>
                      <a:r>
                        <a:rPr lang="en-IN" sz="1200" dirty="0">
                          <a:latin typeface="Grandview" panose="020B0502040204020203" pitchFamily="34" charset="0"/>
                        </a:rPr>
                        <a:t>1</a:t>
                      </a:r>
                    </a:p>
                  </a:txBody>
                  <a:tcPr>
                    <a:lnT w="12700" cap="flat" cmpd="sng" algn="ctr">
                      <a:solidFill>
                        <a:schemeClr val="tx1"/>
                      </a:solidFill>
                      <a:prstDash val="solid"/>
                      <a:round/>
                      <a:headEnd type="none" w="med" len="med"/>
                      <a:tailEnd type="none" w="med" len="med"/>
                    </a:lnT>
                  </a:tcPr>
                </a:tc>
                <a:tc>
                  <a:txBody>
                    <a:bodyPr/>
                    <a:lstStyle/>
                    <a:p>
                      <a:r>
                        <a:rPr lang="en-IN" sz="1200" dirty="0">
                          <a:latin typeface="Grandview" panose="020B0502040204020203" pitchFamily="34" charset="0"/>
                        </a:rPr>
                        <a:t>Abstract</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38600459"/>
                  </a:ext>
                </a:extLst>
              </a:tr>
              <a:tr h="276612">
                <a:tc>
                  <a:txBody>
                    <a:bodyPr/>
                    <a:lstStyle/>
                    <a:p>
                      <a:r>
                        <a:rPr lang="en-IN" sz="1200" dirty="0">
                          <a:latin typeface="Grandview" panose="020B0502040204020203" pitchFamily="34" charset="0"/>
                        </a:rPr>
                        <a:t>2</a:t>
                      </a:r>
                    </a:p>
                  </a:txBody>
                  <a:tcPr/>
                </a:tc>
                <a:tc>
                  <a:txBody>
                    <a:bodyPr/>
                    <a:lstStyle/>
                    <a:p>
                      <a:r>
                        <a:rPr lang="en-IN" sz="1200" dirty="0">
                          <a:latin typeface="Grandview" panose="020B0502040204020203" pitchFamily="34" charset="0"/>
                        </a:rPr>
                        <a:t>Literature Review</a:t>
                      </a:r>
                    </a:p>
                  </a:txBody>
                  <a:tcPr/>
                </a:tc>
                <a:extLst>
                  <a:ext uri="{0D108BD9-81ED-4DB2-BD59-A6C34878D82A}">
                    <a16:rowId xmlns:a16="http://schemas.microsoft.com/office/drawing/2014/main" val="2851011492"/>
                  </a:ext>
                </a:extLst>
              </a:tr>
              <a:tr h="704791">
                <a:tc>
                  <a:txBody>
                    <a:bodyPr/>
                    <a:lstStyle/>
                    <a:p>
                      <a:r>
                        <a:rPr lang="en-IN" sz="1200" dirty="0">
                          <a:latin typeface="Grandview" panose="020B0502040204020203" pitchFamily="34" charset="0"/>
                        </a:rPr>
                        <a:t>3</a:t>
                      </a:r>
                    </a:p>
                  </a:txBody>
                  <a:tcPr/>
                </a:tc>
                <a:tc>
                  <a:txBody>
                    <a:bodyPr/>
                    <a:lstStyle/>
                    <a:p>
                      <a:r>
                        <a:rPr lang="en-IN" sz="1200" dirty="0">
                          <a:latin typeface="Grandview" panose="020B0502040204020203" pitchFamily="34" charset="0"/>
                        </a:rPr>
                        <a:t>Methodology</a:t>
                      </a:r>
                    </a:p>
                    <a:p>
                      <a:pPr marL="449263" indent="-180975">
                        <a:buFont typeface="Arial" panose="020B0604020202020204" pitchFamily="34" charset="0"/>
                        <a:buChar char="•"/>
                      </a:pPr>
                      <a:r>
                        <a:rPr lang="en-IN" sz="1200" dirty="0">
                          <a:latin typeface="Grandview" panose="020B0502040204020203" pitchFamily="34" charset="0"/>
                        </a:rPr>
                        <a:t>Types of Variables</a:t>
                      </a:r>
                    </a:p>
                    <a:p>
                      <a:pPr marL="449263" indent="-180975">
                        <a:buFont typeface="Arial" panose="020B0604020202020204" pitchFamily="34" charset="0"/>
                        <a:buChar char="•"/>
                      </a:pPr>
                      <a:r>
                        <a:rPr lang="en-IN" sz="1200" dirty="0">
                          <a:latin typeface="Grandview" panose="020B0502040204020203" pitchFamily="34" charset="0"/>
                        </a:rPr>
                        <a:t>Descriptive Analysis</a:t>
                      </a:r>
                    </a:p>
                    <a:p>
                      <a:pPr marL="449263" indent="-180975">
                        <a:buFont typeface="Arial" panose="020B0604020202020204" pitchFamily="34" charset="0"/>
                        <a:buChar char="•"/>
                      </a:pPr>
                      <a:r>
                        <a:rPr lang="en-IN" sz="1200" dirty="0">
                          <a:latin typeface="Grandview" panose="020B0502040204020203" pitchFamily="34" charset="0"/>
                        </a:rPr>
                        <a:t>Stress Factors</a:t>
                      </a:r>
                    </a:p>
                  </a:txBody>
                  <a:tcPr/>
                </a:tc>
                <a:extLst>
                  <a:ext uri="{0D108BD9-81ED-4DB2-BD59-A6C34878D82A}">
                    <a16:rowId xmlns:a16="http://schemas.microsoft.com/office/drawing/2014/main" val="714601399"/>
                  </a:ext>
                </a:extLst>
              </a:tr>
              <a:tr h="704791">
                <a:tc>
                  <a:txBody>
                    <a:bodyPr/>
                    <a:lstStyle/>
                    <a:p>
                      <a:r>
                        <a:rPr lang="en-IN" sz="1200" dirty="0">
                          <a:latin typeface="Grandview" panose="020B0502040204020203" pitchFamily="34" charset="0"/>
                        </a:rPr>
                        <a:t>4</a:t>
                      </a:r>
                    </a:p>
                  </a:txBody>
                  <a:tcPr/>
                </a:tc>
                <a:tc>
                  <a:txBody>
                    <a:bodyPr/>
                    <a:lstStyle/>
                    <a:p>
                      <a:r>
                        <a:rPr lang="en-IN" sz="1200" dirty="0">
                          <a:latin typeface="Grandview" panose="020B0502040204020203" pitchFamily="34" charset="0"/>
                        </a:rPr>
                        <a:t>Part-I : </a:t>
                      </a:r>
                      <a:r>
                        <a:rPr lang="en-US" sz="1200" b="1" u="none" strike="noStrike" cap="none" dirty="0">
                          <a:solidFill>
                            <a:srgbClr val="000000"/>
                          </a:solidFill>
                          <a:effectLst/>
                          <a:latin typeface="Grandview" panose="020B0502040204020203" pitchFamily="34" charset="0"/>
                          <a:sym typeface="Arial"/>
                        </a:rPr>
                        <a:t>Exploring Stress Factors and Stress Levels</a:t>
                      </a:r>
                    </a:p>
                    <a:p>
                      <a:pPr marL="449263" indent="-180975">
                        <a:buFont typeface="Arial" panose="020B0604020202020204" pitchFamily="34" charset="0"/>
                        <a:buChar char="•"/>
                      </a:pPr>
                      <a:r>
                        <a:rPr lang="en-IN" sz="1200" dirty="0">
                          <a:latin typeface="Grandview" panose="020B0502040204020203" pitchFamily="34" charset="0"/>
                        </a:rPr>
                        <a:t>Hypothesis (Alternate)</a:t>
                      </a:r>
                    </a:p>
                    <a:p>
                      <a:pPr marL="449263" indent="-180975">
                        <a:buFont typeface="Arial" panose="020B0604020202020204" pitchFamily="34" charset="0"/>
                        <a:buChar char="•"/>
                      </a:pPr>
                      <a:r>
                        <a:rPr lang="en-IN" sz="1200" dirty="0">
                          <a:latin typeface="Grandview" panose="020B0502040204020203" pitchFamily="34" charset="0"/>
                        </a:rPr>
                        <a:t>Results</a:t>
                      </a:r>
                    </a:p>
                    <a:p>
                      <a:pPr marL="449263" indent="-180975">
                        <a:buFont typeface="Arial" panose="020B0604020202020204" pitchFamily="34" charset="0"/>
                        <a:buChar char="•"/>
                      </a:pPr>
                      <a:r>
                        <a:rPr lang="en-IN" sz="1200" dirty="0">
                          <a:latin typeface="Grandview" panose="020B0502040204020203" pitchFamily="34" charset="0"/>
                        </a:rPr>
                        <a:t>Conclusion</a:t>
                      </a:r>
                    </a:p>
                  </a:txBody>
                  <a:tcPr/>
                </a:tc>
                <a:extLst>
                  <a:ext uri="{0D108BD9-81ED-4DB2-BD59-A6C34878D82A}">
                    <a16:rowId xmlns:a16="http://schemas.microsoft.com/office/drawing/2014/main" val="611614918"/>
                  </a:ext>
                </a:extLst>
              </a:tr>
              <a:tr h="863938">
                <a:tc>
                  <a:txBody>
                    <a:bodyPr/>
                    <a:lstStyle/>
                    <a:p>
                      <a:r>
                        <a:rPr lang="en-IN" sz="1200" dirty="0">
                          <a:latin typeface="Grandview" panose="020B0502040204020203" pitchFamily="34" charset="0"/>
                        </a:rPr>
                        <a:t>5</a:t>
                      </a:r>
                    </a:p>
                  </a:txBody>
                  <a:tcPr/>
                </a:tc>
                <a:tc>
                  <a:txBody>
                    <a:bodyPr/>
                    <a:lstStyle/>
                    <a:p>
                      <a:r>
                        <a:rPr lang="en-IN" sz="1200" dirty="0">
                          <a:latin typeface="Grandview" panose="020B0502040204020203" pitchFamily="34" charset="0"/>
                        </a:rPr>
                        <a:t>Part-II : </a:t>
                      </a:r>
                      <a:r>
                        <a:rPr lang="en-US" sz="1200" b="1" u="none" strike="noStrike" cap="none" dirty="0">
                          <a:solidFill>
                            <a:srgbClr val="000000"/>
                          </a:solidFill>
                          <a:effectLst/>
                          <a:latin typeface="Grandview" panose="020B0502040204020203" pitchFamily="34" charset="0"/>
                          <a:sym typeface="Arial"/>
                        </a:rPr>
                        <a:t>Investigating Coping </a:t>
                      </a:r>
                      <a:r>
                        <a:rPr lang="en-US" sz="1200" b="1" u="none" strike="noStrike" cap="none" dirty="0" err="1">
                          <a:solidFill>
                            <a:srgbClr val="000000"/>
                          </a:solidFill>
                          <a:effectLst/>
                          <a:latin typeface="Grandview" panose="020B0502040204020203" pitchFamily="34" charset="0"/>
                          <a:sym typeface="Arial"/>
                        </a:rPr>
                        <a:t>Behaviours</a:t>
                      </a:r>
                      <a:r>
                        <a:rPr lang="en-US" sz="1200" b="1" u="none" strike="noStrike" cap="none" dirty="0">
                          <a:solidFill>
                            <a:srgbClr val="000000"/>
                          </a:solidFill>
                          <a:effectLst/>
                          <a:latin typeface="Grandview" panose="020B0502040204020203" pitchFamily="34" charset="0"/>
                          <a:sym typeface="Arial"/>
                        </a:rPr>
                        <a:t> and Stress Levels</a:t>
                      </a:r>
                    </a:p>
                    <a:p>
                      <a:pPr marL="449263" marR="0" lvl="0" indent="-180975"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IN" sz="1200" dirty="0">
                          <a:latin typeface="Grandview" panose="020B0502040204020203" pitchFamily="34" charset="0"/>
                        </a:rPr>
                        <a:t>Introduction</a:t>
                      </a:r>
                    </a:p>
                    <a:p>
                      <a:pPr marL="449263" indent="-180975">
                        <a:buFont typeface="Arial" panose="020B0604020202020204" pitchFamily="34" charset="0"/>
                        <a:buChar char="•"/>
                      </a:pPr>
                      <a:r>
                        <a:rPr lang="en-IN" sz="1200" dirty="0">
                          <a:latin typeface="Grandview" panose="020B0502040204020203" pitchFamily="34" charset="0"/>
                        </a:rPr>
                        <a:t>Hypothesis (Alternate)</a:t>
                      </a:r>
                    </a:p>
                    <a:p>
                      <a:pPr marL="449263" indent="-180975">
                        <a:buFont typeface="Arial" panose="020B0604020202020204" pitchFamily="34" charset="0"/>
                        <a:buChar char="•"/>
                      </a:pPr>
                      <a:r>
                        <a:rPr lang="en-IN" sz="1200" dirty="0">
                          <a:latin typeface="Grandview" panose="020B0502040204020203" pitchFamily="34" charset="0"/>
                        </a:rPr>
                        <a:t>Results</a:t>
                      </a:r>
                    </a:p>
                    <a:p>
                      <a:pPr marL="449263" indent="-180975">
                        <a:buFont typeface="Arial" panose="020B0604020202020204" pitchFamily="34" charset="0"/>
                        <a:buChar char="•"/>
                      </a:pPr>
                      <a:r>
                        <a:rPr lang="en-IN" sz="1200" dirty="0">
                          <a:latin typeface="Grandview" panose="020B0502040204020203" pitchFamily="34" charset="0"/>
                        </a:rPr>
                        <a:t>Some common Coping mechanisms</a:t>
                      </a:r>
                    </a:p>
                  </a:txBody>
                  <a:tcPr/>
                </a:tc>
                <a:extLst>
                  <a:ext uri="{0D108BD9-81ED-4DB2-BD59-A6C34878D82A}">
                    <a16:rowId xmlns:a16="http://schemas.microsoft.com/office/drawing/2014/main" val="2004744017"/>
                  </a:ext>
                </a:extLst>
              </a:tr>
              <a:tr h="276612">
                <a:tc>
                  <a:txBody>
                    <a:bodyPr/>
                    <a:lstStyle/>
                    <a:p>
                      <a:r>
                        <a:rPr lang="en-IN" sz="1200" dirty="0">
                          <a:latin typeface="Grandview" panose="020B0502040204020203" pitchFamily="34" charset="0"/>
                        </a:rPr>
                        <a:t>6</a:t>
                      </a:r>
                    </a:p>
                  </a:txBody>
                  <a:tcPr/>
                </a:tc>
                <a:tc>
                  <a:txBody>
                    <a:bodyPr/>
                    <a:lstStyle/>
                    <a:p>
                      <a:r>
                        <a:rPr lang="en-IN" sz="1200" dirty="0">
                          <a:latin typeface="Grandview" panose="020B0502040204020203" pitchFamily="34" charset="0"/>
                        </a:rPr>
                        <a:t>References</a:t>
                      </a:r>
                    </a:p>
                  </a:txBody>
                  <a:tcPr/>
                </a:tc>
                <a:extLst>
                  <a:ext uri="{0D108BD9-81ED-4DB2-BD59-A6C34878D82A}">
                    <a16:rowId xmlns:a16="http://schemas.microsoft.com/office/drawing/2014/main" val="80361130"/>
                  </a:ext>
                </a:extLst>
              </a:tr>
            </a:tbl>
          </a:graphicData>
        </a:graphic>
      </p:graphicFrame>
      <p:sp>
        <p:nvSpPr>
          <p:cNvPr id="3" name="TextBox 2">
            <a:extLst>
              <a:ext uri="{FF2B5EF4-FFF2-40B4-BE49-F238E27FC236}">
                <a16:creationId xmlns:a16="http://schemas.microsoft.com/office/drawing/2014/main" id="{A785D92C-E018-5094-2C71-C9B9C587011B}"/>
              </a:ext>
            </a:extLst>
          </p:cNvPr>
          <p:cNvSpPr txBox="1"/>
          <p:nvPr/>
        </p:nvSpPr>
        <p:spPr>
          <a:xfrm>
            <a:off x="8679180" y="101989"/>
            <a:ext cx="30480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2</a:t>
            </a:r>
            <a:endParaRPr lang="en-IN" dirty="0">
              <a:solidFill>
                <a:sysClr val="windowText" lastClr="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70"/>
        <p:cNvGrpSpPr/>
        <p:nvPr/>
      </p:nvGrpSpPr>
      <p:grpSpPr>
        <a:xfrm>
          <a:off x="0" y="0"/>
          <a:ext cx="0" cy="0"/>
          <a:chOff x="0" y="0"/>
          <a:chExt cx="0" cy="0"/>
        </a:xfrm>
      </p:grpSpPr>
      <p:sp>
        <p:nvSpPr>
          <p:cNvPr id="1971" name="Google Shape;1971;p48"/>
          <p:cNvSpPr txBox="1">
            <a:spLocks noGrp="1"/>
          </p:cNvSpPr>
          <p:nvPr>
            <p:ph type="title"/>
          </p:nvPr>
        </p:nvSpPr>
        <p:spPr>
          <a:xfrm>
            <a:off x="2087250" y="1584300"/>
            <a:ext cx="4969500" cy="197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a:latin typeface="Open Sans ExtraBold" panose="020B0906030804020204" pitchFamily="34" charset="0"/>
                <a:ea typeface="Open Sans ExtraBold" panose="020B0906030804020204" pitchFamily="34" charset="0"/>
                <a:cs typeface="Open Sans ExtraBold" panose="020B0906030804020204" pitchFamily="34" charset="0"/>
              </a:rPr>
              <a:t>ABSTRACT</a:t>
            </a:r>
            <a:endParaRPr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grpSp>
        <p:nvGrpSpPr>
          <p:cNvPr id="1972" name="Google Shape;1972;p48"/>
          <p:cNvGrpSpPr/>
          <p:nvPr/>
        </p:nvGrpSpPr>
        <p:grpSpPr>
          <a:xfrm>
            <a:off x="517907" y="353944"/>
            <a:ext cx="804847" cy="882052"/>
            <a:chOff x="6072409" y="4521978"/>
            <a:chExt cx="436705" cy="478622"/>
          </a:xfrm>
        </p:grpSpPr>
        <p:sp>
          <p:nvSpPr>
            <p:cNvPr id="1973" name="Google Shape;1973;p48"/>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8"/>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8"/>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8"/>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8"/>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8"/>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8"/>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8"/>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8"/>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A56CFA3B-463A-AE31-A582-8AD3BA48E4CE}"/>
              </a:ext>
            </a:extLst>
          </p:cNvPr>
          <p:cNvSpPr txBox="1"/>
          <p:nvPr/>
        </p:nvSpPr>
        <p:spPr>
          <a:xfrm>
            <a:off x="8679180" y="101989"/>
            <a:ext cx="30480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3</a:t>
            </a:r>
            <a:endParaRPr lang="en-IN" dirty="0">
              <a:solidFill>
                <a:sysClr val="windowText" lastClr="000000"/>
              </a:solidFill>
            </a:endParaRPr>
          </a:p>
        </p:txBody>
      </p:sp>
    </p:spTree>
    <p:extLst>
      <p:ext uri="{BB962C8B-B14F-4D97-AF65-F5344CB8AC3E}">
        <p14:creationId xmlns:p14="http://schemas.microsoft.com/office/powerpoint/2010/main" val="3524450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C087963D-9414-C0F4-5C3A-CC93103B530B}"/>
              </a:ext>
            </a:extLst>
          </p:cNvPr>
          <p:cNvSpPr/>
          <p:nvPr/>
        </p:nvSpPr>
        <p:spPr>
          <a:xfrm>
            <a:off x="735900" y="445668"/>
            <a:ext cx="7617071" cy="592103"/>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13" name="Google Shape;1713;p43"/>
          <p:cNvSpPr txBox="1">
            <a:spLocks noGrp="1"/>
          </p:cNvSpPr>
          <p:nvPr>
            <p:ph type="body" idx="1"/>
          </p:nvPr>
        </p:nvSpPr>
        <p:spPr>
          <a:xfrm>
            <a:off x="735900" y="445668"/>
            <a:ext cx="7936386" cy="4252164"/>
          </a:xfrm>
          <a:prstGeom prst="rect">
            <a:avLst/>
          </a:prstGeom>
        </p:spPr>
        <p:txBody>
          <a:bodyPr spcFirstLastPara="1" wrap="square" lIns="91425" tIns="91425" rIns="91425" bIns="91425" anchor="t" anchorCtr="0">
            <a:noAutofit/>
          </a:bodyPr>
          <a:lstStyle/>
          <a:p>
            <a:pPr marL="285750" indent="-285750"/>
            <a:r>
              <a:rPr lang="en-US" sz="1400" b="0" i="0" dirty="0">
                <a:solidFill>
                  <a:srgbClr val="374151"/>
                </a:solidFill>
                <a:effectLst/>
                <a:latin typeface="Grandview" panose="020B0502040204020203" pitchFamily="34" charset="0"/>
                <a:ea typeface="Nirmala Text" panose="020B0502040204020203" pitchFamily="34" charset="0"/>
                <a:cs typeface="Nirmala Text" panose="020B0502040204020203" pitchFamily="34" charset="0"/>
              </a:rPr>
              <a:t>Stress is a pervasive aspect of student life, impacting both academic performance and overall well-being.</a:t>
            </a:r>
          </a:p>
          <a:p>
            <a:pPr marL="285750" indent="-285750"/>
            <a:endParaRPr lang="en-US" sz="1400" dirty="0">
              <a:solidFill>
                <a:srgbClr val="374151"/>
              </a:solidFill>
              <a:latin typeface="Grandview" panose="020B0502040204020203" pitchFamily="34" charset="0"/>
              <a:ea typeface="Nirmala Text" panose="020B0502040204020203" pitchFamily="34" charset="0"/>
              <a:cs typeface="Nirmala Text" panose="020B0502040204020203" pitchFamily="34" charset="0"/>
            </a:endParaRPr>
          </a:p>
          <a:p>
            <a:pPr marL="285750" indent="-285750"/>
            <a:r>
              <a:rPr lang="en-US" sz="1400" b="0" i="0" dirty="0">
                <a:solidFill>
                  <a:srgbClr val="374151"/>
                </a:solidFill>
                <a:effectLst/>
                <a:latin typeface="Grandview" panose="020B0502040204020203" pitchFamily="34" charset="0"/>
                <a:ea typeface="Nirmala Text" panose="020B0502040204020203" pitchFamily="34" charset="0"/>
                <a:cs typeface="Nirmala Text" panose="020B0502040204020203" pitchFamily="34" charset="0"/>
              </a:rPr>
              <a:t>Academic pressures, personal expectations, and societal demands converge to create a complex landscape of stressors for students.</a:t>
            </a:r>
          </a:p>
          <a:p>
            <a:pPr marL="285750" indent="-285750"/>
            <a:endParaRPr lang="en-US" sz="1400" dirty="0">
              <a:solidFill>
                <a:srgbClr val="374151"/>
              </a:solidFill>
              <a:latin typeface="Grandview" panose="020B0502040204020203" pitchFamily="34" charset="0"/>
              <a:ea typeface="Nirmala Text" panose="020B0502040204020203" pitchFamily="34" charset="0"/>
              <a:cs typeface="Nirmala Text" panose="020B0502040204020203" pitchFamily="34" charset="0"/>
            </a:endParaRPr>
          </a:p>
          <a:p>
            <a:pPr marL="285750" indent="-285750"/>
            <a:r>
              <a:rPr lang="en-US" sz="1400" b="0" i="0" dirty="0">
                <a:solidFill>
                  <a:srgbClr val="374151"/>
                </a:solidFill>
                <a:effectLst/>
                <a:latin typeface="Grandview" panose="020B0502040204020203" pitchFamily="34" charset="0"/>
                <a:ea typeface="Nirmala Text" panose="020B0502040204020203" pitchFamily="34" charset="0"/>
                <a:cs typeface="Nirmala Text" panose="020B0502040204020203" pitchFamily="34" charset="0"/>
              </a:rPr>
              <a:t>This study aims to uncover the intricate relationship between stress factors and coping mechanisms among students. In this research, we seek to identify the key determinants of stress and effective strategies for coping.</a:t>
            </a:r>
          </a:p>
          <a:p>
            <a:pPr marL="285750" indent="-285750"/>
            <a:endParaRPr lang="en-US" sz="1400" dirty="0">
              <a:solidFill>
                <a:srgbClr val="374151"/>
              </a:solidFill>
              <a:latin typeface="Grandview" panose="020B0502040204020203" pitchFamily="34" charset="0"/>
              <a:ea typeface="Nirmala Text" panose="020B0502040204020203" pitchFamily="34" charset="0"/>
              <a:cs typeface="Nirmala Text" panose="020B0502040204020203" pitchFamily="34" charset="0"/>
            </a:endParaRPr>
          </a:p>
          <a:p>
            <a:pPr marL="285750" indent="-285750"/>
            <a:r>
              <a:rPr lang="en-US" sz="1400" b="0" i="0" dirty="0">
                <a:solidFill>
                  <a:srgbClr val="374151"/>
                </a:solidFill>
                <a:effectLst/>
                <a:latin typeface="Grandview" panose="020B0502040204020203" pitchFamily="34" charset="0"/>
                <a:ea typeface="Nirmala Text" panose="020B0502040204020203" pitchFamily="34" charset="0"/>
                <a:cs typeface="Nirmala Text" panose="020B0502040204020203" pitchFamily="34" charset="0"/>
              </a:rPr>
              <a:t>Student stress factors include academic workload, peer pressure, family expectations, financial concerns, health issues, social isolation, and a lack of support. Understanding the factors that significantly affect stress levels is crucial for effective support.</a:t>
            </a:r>
          </a:p>
          <a:p>
            <a:pPr marL="0" indent="0">
              <a:buNone/>
            </a:pPr>
            <a:endParaRPr lang="en-US" sz="1400" b="0" i="0" dirty="0">
              <a:solidFill>
                <a:srgbClr val="374151"/>
              </a:solidFill>
              <a:effectLst/>
              <a:latin typeface="Grandview" panose="020B0502040204020203" pitchFamily="34" charset="0"/>
              <a:ea typeface="Nirmala Text" panose="020B0502040204020203" pitchFamily="34" charset="0"/>
              <a:cs typeface="Nirmala Text" panose="020B0502040204020203" pitchFamily="34" charset="0"/>
            </a:endParaRPr>
          </a:p>
          <a:p>
            <a:pPr marL="285750" indent="-285750"/>
            <a:r>
              <a:rPr lang="en-US" sz="1400" b="0" i="0" dirty="0">
                <a:solidFill>
                  <a:srgbClr val="374151"/>
                </a:solidFill>
                <a:effectLst/>
                <a:latin typeface="Grandview" panose="020B0502040204020203" pitchFamily="34" charset="0"/>
                <a:ea typeface="Nirmala Text" panose="020B0502040204020203" pitchFamily="34" charset="0"/>
                <a:cs typeface="Nirmala Text" panose="020B0502040204020203" pitchFamily="34" charset="0"/>
              </a:rPr>
              <a:t>Coping mechanisms encompass various strategies employed by individuals to manage stress</a:t>
            </a:r>
            <a:r>
              <a:rPr lang="en-US" sz="1400" dirty="0">
                <a:solidFill>
                  <a:srgbClr val="374151"/>
                </a:solidFill>
                <a:latin typeface="Grandview" panose="020B0502040204020203" pitchFamily="34" charset="0"/>
                <a:ea typeface="Nirmala Text" panose="020B0502040204020203" pitchFamily="34" charset="0"/>
                <a:cs typeface="Nirmala Text" panose="020B0502040204020203" pitchFamily="34" charset="0"/>
              </a:rPr>
              <a:t>. </a:t>
            </a:r>
            <a:r>
              <a:rPr lang="en-US" sz="1400" b="0" i="0" dirty="0">
                <a:solidFill>
                  <a:srgbClr val="374151"/>
                </a:solidFill>
                <a:effectLst/>
                <a:latin typeface="Grandview" panose="020B0502040204020203" pitchFamily="34" charset="0"/>
                <a:ea typeface="Nirmala Text" panose="020B0502040204020203" pitchFamily="34" charset="0"/>
                <a:cs typeface="Nirmala Text" panose="020B0502040204020203" pitchFamily="34" charset="0"/>
              </a:rPr>
              <a:t>The choice and frequency of coping mechanisms play a vital role in determining stress outcomes.</a:t>
            </a:r>
          </a:p>
          <a:p>
            <a:pPr marL="285750" indent="-285750"/>
            <a:endParaRPr lang="en-US" sz="1400" dirty="0">
              <a:solidFill>
                <a:srgbClr val="374151"/>
              </a:solidFill>
              <a:latin typeface="Grandview" panose="020B0502040204020203" pitchFamily="34" charset="0"/>
              <a:cs typeface="Helvetica" panose="020B0604020202020204" pitchFamily="34" charset="0"/>
            </a:endParaRPr>
          </a:p>
          <a:p>
            <a:pPr marL="285750" indent="-285750"/>
            <a:endParaRPr sz="1400" dirty="0">
              <a:solidFill>
                <a:schemeClr val="accent6"/>
              </a:solidFill>
              <a:latin typeface="Grandview" panose="020B0502040204020203" pitchFamily="34" charset="0"/>
              <a:cs typeface="Helvetica" panose="020B0604020202020204" pitchFamily="34" charset="0"/>
            </a:endParaRPr>
          </a:p>
        </p:txBody>
      </p:sp>
      <p:sp>
        <p:nvSpPr>
          <p:cNvPr id="3" name="TextBox 2">
            <a:extLst>
              <a:ext uri="{FF2B5EF4-FFF2-40B4-BE49-F238E27FC236}">
                <a16:creationId xmlns:a16="http://schemas.microsoft.com/office/drawing/2014/main" id="{15989DF5-60EA-F855-3140-CF0758218F64}"/>
              </a:ext>
            </a:extLst>
          </p:cNvPr>
          <p:cNvSpPr txBox="1"/>
          <p:nvPr/>
        </p:nvSpPr>
        <p:spPr>
          <a:xfrm>
            <a:off x="8679180" y="101989"/>
            <a:ext cx="30480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4</a:t>
            </a:r>
            <a:endParaRPr lang="en-IN" dirty="0">
              <a:solidFill>
                <a:sysClr val="windowText" lastClr="000000"/>
              </a:solidFill>
            </a:endParaRPr>
          </a:p>
        </p:txBody>
      </p:sp>
    </p:spTree>
    <p:extLst>
      <p:ext uri="{BB962C8B-B14F-4D97-AF65-F5344CB8AC3E}">
        <p14:creationId xmlns:p14="http://schemas.microsoft.com/office/powerpoint/2010/main" val="1507757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grpSp>
        <p:nvGrpSpPr>
          <p:cNvPr id="1728" name="Google Shape;1728;p44"/>
          <p:cNvGrpSpPr/>
          <p:nvPr/>
        </p:nvGrpSpPr>
        <p:grpSpPr>
          <a:xfrm>
            <a:off x="8303612" y="4403938"/>
            <a:ext cx="425875" cy="466752"/>
            <a:chOff x="6072409" y="4521978"/>
            <a:chExt cx="436705" cy="478622"/>
          </a:xfrm>
        </p:grpSpPr>
        <p:sp>
          <p:nvSpPr>
            <p:cNvPr id="1729" name="Google Shape;1729;p44"/>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4"/>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4"/>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4"/>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3" name="Google Shape;1733;p44"/>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4"/>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4"/>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4"/>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4"/>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713;p43">
            <a:extLst>
              <a:ext uri="{FF2B5EF4-FFF2-40B4-BE49-F238E27FC236}">
                <a16:creationId xmlns:a16="http://schemas.microsoft.com/office/drawing/2014/main" id="{0EFA37A7-0C14-4909-C37C-D6BE639A0350}"/>
              </a:ext>
            </a:extLst>
          </p:cNvPr>
          <p:cNvSpPr txBox="1">
            <a:spLocks/>
          </p:cNvSpPr>
          <p:nvPr/>
        </p:nvSpPr>
        <p:spPr>
          <a:xfrm>
            <a:off x="735900" y="385150"/>
            <a:ext cx="7936386" cy="42521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eaLnBrk="1" hangingPunct="1">
              <a:lnSpc>
                <a:spcPct val="100000"/>
              </a:lnSpc>
              <a:spcBef>
                <a:spcPts val="0"/>
              </a:spcBef>
              <a:spcAft>
                <a:spcPts val="0"/>
              </a:spcAft>
              <a:buClr>
                <a:schemeClr val="accent1"/>
              </a:buClr>
              <a:buSzPts val="1400"/>
              <a:buFont typeface="Karla"/>
              <a:buNone/>
              <a:defRPr sz="2000" b="1" i="0" u="none" strike="noStrike" cap="none">
                <a:solidFill>
                  <a:schemeClr val="dk1"/>
                </a:solidFill>
                <a:latin typeface="Open Sans"/>
                <a:ea typeface="Open Sans"/>
                <a:cs typeface="Open Sans"/>
                <a:sym typeface="Open Sans"/>
              </a:defRPr>
            </a:lvl1pPr>
            <a:lvl2pPr marL="914400" marR="0" lvl="1" indent="-317500" algn="ctr" rtl="0" eaLnBrk="1" hangingPunct="1">
              <a:lnSpc>
                <a:spcPct val="100000"/>
              </a:lnSpc>
              <a:spcBef>
                <a:spcPts val="0"/>
              </a:spcBef>
              <a:spcAft>
                <a:spcPts val="0"/>
              </a:spcAft>
              <a:buClr>
                <a:schemeClr val="accent1"/>
              </a:buClr>
              <a:buSzPts val="1400"/>
              <a:buFont typeface="Karla"/>
              <a:buNone/>
              <a:defRPr sz="2000" b="1" i="0" u="none" strike="noStrike" cap="none">
                <a:solidFill>
                  <a:schemeClr val="dk1"/>
                </a:solidFill>
                <a:latin typeface="Open Sans"/>
                <a:ea typeface="Open Sans"/>
                <a:cs typeface="Open Sans"/>
                <a:sym typeface="Open Sans"/>
              </a:defRPr>
            </a:lvl2pPr>
            <a:lvl3pPr marL="1371600" marR="0" lvl="2"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3pPr>
            <a:lvl4pPr marL="1828800" marR="0" lvl="3"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4pPr>
            <a:lvl5pPr marL="2286000" marR="0" lvl="4"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5pPr>
            <a:lvl6pPr marL="2743200" marR="0" lvl="5"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6pPr>
            <a:lvl7pPr marL="3200400" marR="0" lvl="6"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7pPr>
            <a:lvl8pPr marL="3657600" marR="0" lvl="7"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8pPr>
            <a:lvl9pPr marL="4114800" marR="0" lvl="8"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9pPr>
          </a:lstStyle>
          <a:p>
            <a:pPr marL="342900" indent="-342900" algn="l">
              <a:buFont typeface="Arial" panose="020B0604020202020204" pitchFamily="34" charset="0"/>
              <a:buChar char="•"/>
            </a:pPr>
            <a:r>
              <a:rPr lang="en-US" sz="1600" b="0" dirty="0">
                <a:solidFill>
                  <a:srgbClr val="374151"/>
                </a:solidFill>
                <a:latin typeface="Grandview" panose="020B0502040204020203" pitchFamily="34" charset="0"/>
              </a:rPr>
              <a:t>This research is divided into two parts: </a:t>
            </a:r>
            <a:br>
              <a:rPr lang="en-US" sz="1600" b="0" dirty="0">
                <a:solidFill>
                  <a:srgbClr val="374151"/>
                </a:solidFill>
                <a:latin typeface="Grandview" panose="020B0502040204020203" pitchFamily="34" charset="0"/>
              </a:rPr>
            </a:br>
            <a:endParaRPr lang="en-US" sz="1600" b="0" dirty="0">
              <a:solidFill>
                <a:srgbClr val="374151"/>
              </a:solidFill>
              <a:latin typeface="Grandview" panose="020B0502040204020203" pitchFamily="34" charset="0"/>
            </a:endParaRPr>
          </a:p>
          <a:p>
            <a:pPr marL="857250" lvl="1" indent="-400050" algn="l">
              <a:buFont typeface="Wingdings" panose="05000000000000000000" pitchFamily="2" charset="2"/>
              <a:buChar char="ü"/>
            </a:pPr>
            <a:r>
              <a:rPr lang="en-US" sz="1400" b="1" i="0" dirty="0">
                <a:effectLst/>
                <a:latin typeface="Grandview" panose="020B0502040204020203" pitchFamily="34" charset="0"/>
              </a:rPr>
              <a:t>Part I: Exploring Stress Factors and Stress Levels</a:t>
            </a:r>
            <a:br>
              <a:rPr lang="en-US" sz="1400" b="1" i="0" dirty="0">
                <a:effectLst/>
                <a:latin typeface="Grandview" panose="020B0502040204020203" pitchFamily="34" charset="0"/>
              </a:rPr>
            </a:br>
            <a:r>
              <a:rPr lang="en-US" sz="1400" b="1" i="1" dirty="0">
                <a:effectLst/>
                <a:latin typeface="Grandview" panose="020B0502040204020203" pitchFamily="34" charset="0"/>
              </a:rPr>
              <a:t>(</a:t>
            </a:r>
            <a:r>
              <a:rPr lang="en-US" sz="1200" b="0" i="1" dirty="0">
                <a:solidFill>
                  <a:srgbClr val="374151"/>
                </a:solidFill>
                <a:effectLst/>
                <a:latin typeface="Grandview" panose="020B0502040204020203" pitchFamily="34" charset="0"/>
              </a:rPr>
              <a:t>Employing multiple linear regression analysis to explore the relationship between stress factors and stress levels. Insights are gained into the most influential stress factors and their impact on student well-being.</a:t>
            </a:r>
            <a:r>
              <a:rPr lang="en-US" sz="1400" b="1" i="1" dirty="0">
                <a:effectLst/>
                <a:latin typeface="Grandview" panose="020B0502040204020203" pitchFamily="34" charset="0"/>
              </a:rPr>
              <a:t>)</a:t>
            </a:r>
            <a:br>
              <a:rPr lang="en-US" sz="1400" b="1" i="1" dirty="0">
                <a:effectLst/>
                <a:latin typeface="Grandview" panose="020B0502040204020203" pitchFamily="34" charset="0"/>
              </a:rPr>
            </a:br>
            <a:endParaRPr lang="en-US" sz="1400" b="1" i="1" dirty="0">
              <a:effectLst/>
              <a:latin typeface="Grandview" panose="020B0502040204020203" pitchFamily="34" charset="0"/>
            </a:endParaRPr>
          </a:p>
          <a:p>
            <a:pPr marL="857250" lvl="1" indent="-400050" algn="l">
              <a:buFont typeface="Wingdings" panose="05000000000000000000" pitchFamily="2" charset="2"/>
              <a:buChar char="ü"/>
            </a:pPr>
            <a:r>
              <a:rPr lang="en-US" sz="1400" b="1" i="0" dirty="0">
                <a:effectLst/>
                <a:latin typeface="Grandview" panose="020B0502040204020203" pitchFamily="34" charset="0"/>
              </a:rPr>
              <a:t>Part II: Investigating Coping Mechanisms and Stress Levels</a:t>
            </a:r>
            <a:br>
              <a:rPr lang="en-US" sz="1400" b="1" i="0" dirty="0">
                <a:effectLst/>
                <a:latin typeface="Grandview" panose="020B0502040204020203" pitchFamily="34" charset="0"/>
              </a:rPr>
            </a:br>
            <a:r>
              <a:rPr lang="en-US" sz="1400" b="1" i="1" dirty="0">
                <a:effectLst/>
                <a:latin typeface="Grandview" panose="020B0502040204020203" pitchFamily="34" charset="0"/>
              </a:rPr>
              <a:t>(</a:t>
            </a:r>
            <a:r>
              <a:rPr lang="en-US" sz="1200" b="0" i="1" dirty="0">
                <a:solidFill>
                  <a:srgbClr val="374151"/>
                </a:solidFill>
                <a:latin typeface="Grandview" panose="020B0502040204020203" pitchFamily="34" charset="0"/>
              </a:rPr>
              <a:t>Investigating</a:t>
            </a:r>
            <a:r>
              <a:rPr lang="en-US" sz="1200" b="0" i="1" dirty="0">
                <a:solidFill>
                  <a:srgbClr val="374151"/>
                </a:solidFill>
                <a:effectLst/>
                <a:latin typeface="Grandview" panose="020B0502040204020203" pitchFamily="34" charset="0"/>
              </a:rPr>
              <a:t> the linear relationship between coping frequency and stress levels. This analysis sheds light on how coping behaviors contribute to mitigating student stress.</a:t>
            </a:r>
            <a:r>
              <a:rPr lang="en-US" sz="1400" b="1" i="1" dirty="0">
                <a:effectLst/>
                <a:latin typeface="Grandview" panose="020B0502040204020203" pitchFamily="34" charset="0"/>
              </a:rPr>
              <a:t>)</a:t>
            </a:r>
            <a:br>
              <a:rPr lang="en-US" sz="1400" b="1" i="1" dirty="0">
                <a:effectLst/>
                <a:latin typeface="Grandview" panose="020B0502040204020203" pitchFamily="34" charset="0"/>
              </a:rPr>
            </a:br>
            <a:endParaRPr lang="en-US" sz="1400" b="1" i="1" dirty="0">
              <a:effectLst/>
              <a:latin typeface="Grandview" panose="020B0502040204020203" pitchFamily="34" charset="0"/>
            </a:endParaRPr>
          </a:p>
          <a:p>
            <a:pPr marL="457200" lvl="1" indent="0" algn="l"/>
            <a:endParaRPr lang="en-US" sz="1600" i="1" dirty="0">
              <a:solidFill>
                <a:srgbClr val="374151"/>
              </a:solidFill>
              <a:latin typeface="Grandview" panose="020B0502040204020203" pitchFamily="34" charset="0"/>
            </a:endParaRPr>
          </a:p>
          <a:p>
            <a:pPr marL="342900" indent="-342900" algn="l">
              <a:buFont typeface="Arial" panose="020B0604020202020204" pitchFamily="34" charset="0"/>
              <a:buChar char="•"/>
            </a:pPr>
            <a:r>
              <a:rPr lang="en-US" sz="1400" b="0" i="0" dirty="0">
                <a:solidFill>
                  <a:srgbClr val="374151"/>
                </a:solidFill>
                <a:effectLst/>
                <a:latin typeface="Grandview" panose="020B0502040204020203" pitchFamily="34" charset="0"/>
              </a:rPr>
              <a:t>Thus, this research findings hope to offer insights into the most influential stress factors and the role of coping behaviors in student well-being.</a:t>
            </a:r>
          </a:p>
          <a:p>
            <a:pPr marL="342900" indent="-342900" algn="l">
              <a:buFont typeface="Arial" panose="020B0604020202020204" pitchFamily="34" charset="0"/>
              <a:buChar char="•"/>
            </a:pPr>
            <a:endParaRPr lang="en-US" sz="1400" b="0" dirty="0">
              <a:solidFill>
                <a:srgbClr val="374151"/>
              </a:solidFill>
              <a:latin typeface="Grandview" panose="020B0502040204020203" pitchFamily="34" charset="0"/>
            </a:endParaRPr>
          </a:p>
          <a:p>
            <a:pPr marL="342900" indent="-342900" algn="l">
              <a:buFont typeface="Arial" panose="020B0604020202020204" pitchFamily="34" charset="0"/>
              <a:buChar char="•"/>
            </a:pPr>
            <a:r>
              <a:rPr lang="en-US" sz="1400" b="0" i="0" dirty="0">
                <a:solidFill>
                  <a:srgbClr val="374151"/>
                </a:solidFill>
                <a:effectLst/>
                <a:latin typeface="Grandview" panose="020B0502040204020203" pitchFamily="34" charset="0"/>
              </a:rPr>
              <a:t>Through empirical analysis and interpretation, we aim to contribute to the discourse surrounding student well-being and offer actionable insights for the academic community.</a:t>
            </a:r>
          </a:p>
          <a:p>
            <a:pPr marL="342900" indent="-342900" algn="l">
              <a:buFont typeface="Arial" panose="020B0604020202020204" pitchFamily="34" charset="0"/>
              <a:buChar char="•"/>
            </a:pPr>
            <a:endParaRPr lang="en-US" sz="1400" b="0" dirty="0">
              <a:solidFill>
                <a:srgbClr val="374151"/>
              </a:solidFill>
              <a:latin typeface="Grandview" panose="020B0502040204020203" pitchFamily="34" charset="0"/>
            </a:endParaRPr>
          </a:p>
          <a:p>
            <a:pPr marL="342900" indent="-342900" algn="l">
              <a:buFont typeface="Arial" panose="020B0604020202020204" pitchFamily="34" charset="0"/>
              <a:buChar char="•"/>
            </a:pPr>
            <a:endParaRPr lang="en-US" sz="1600" b="0" dirty="0">
              <a:solidFill>
                <a:srgbClr val="374151"/>
              </a:solidFill>
              <a:latin typeface="Grandview" panose="020B0502040204020203" pitchFamily="34" charset="0"/>
            </a:endParaRPr>
          </a:p>
          <a:p>
            <a:pPr marL="342900" indent="-342900" algn="l">
              <a:buFont typeface="Arial" panose="020B0604020202020204" pitchFamily="34" charset="0"/>
              <a:buChar char="•"/>
            </a:pPr>
            <a:endParaRPr lang="en-US" sz="1600" dirty="0">
              <a:solidFill>
                <a:schemeClr val="accent6"/>
              </a:solidFill>
              <a:latin typeface="Grandview" panose="020B0502040204020203" pitchFamily="34" charset="0"/>
            </a:endParaRPr>
          </a:p>
        </p:txBody>
      </p:sp>
      <p:sp>
        <p:nvSpPr>
          <p:cNvPr id="2" name="TextBox 1">
            <a:extLst>
              <a:ext uri="{FF2B5EF4-FFF2-40B4-BE49-F238E27FC236}">
                <a16:creationId xmlns:a16="http://schemas.microsoft.com/office/drawing/2014/main" id="{633AF715-203F-44A7-4674-A39D0807EB89}"/>
              </a:ext>
            </a:extLst>
          </p:cNvPr>
          <p:cNvSpPr txBox="1"/>
          <p:nvPr/>
        </p:nvSpPr>
        <p:spPr>
          <a:xfrm>
            <a:off x="8679180" y="101989"/>
            <a:ext cx="30480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5</a:t>
            </a:r>
            <a:endParaRPr lang="en-IN" dirty="0">
              <a:solidFill>
                <a:sysClr val="windowText" lastClr="000000"/>
              </a:solidFill>
            </a:endParaRPr>
          </a:p>
        </p:txBody>
      </p:sp>
    </p:spTree>
    <p:extLst>
      <p:ext uri="{BB962C8B-B14F-4D97-AF65-F5344CB8AC3E}">
        <p14:creationId xmlns:p14="http://schemas.microsoft.com/office/powerpoint/2010/main" val="1785781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0"/>
        <p:cNvGrpSpPr/>
        <p:nvPr/>
      </p:nvGrpSpPr>
      <p:grpSpPr>
        <a:xfrm>
          <a:off x="0" y="0"/>
          <a:ext cx="0" cy="0"/>
          <a:chOff x="0" y="0"/>
          <a:chExt cx="0" cy="0"/>
        </a:xfrm>
      </p:grpSpPr>
      <p:sp>
        <p:nvSpPr>
          <p:cNvPr id="1971" name="Google Shape;1971;p48"/>
          <p:cNvSpPr txBox="1">
            <a:spLocks noGrp="1"/>
          </p:cNvSpPr>
          <p:nvPr>
            <p:ph type="title"/>
          </p:nvPr>
        </p:nvSpPr>
        <p:spPr>
          <a:xfrm>
            <a:off x="2087250" y="1584300"/>
            <a:ext cx="4969500" cy="197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a:t>LITERATURE REVIEW</a:t>
            </a:r>
            <a:endParaRPr dirty="0"/>
          </a:p>
        </p:txBody>
      </p:sp>
      <p:grpSp>
        <p:nvGrpSpPr>
          <p:cNvPr id="1972" name="Google Shape;1972;p48"/>
          <p:cNvGrpSpPr/>
          <p:nvPr/>
        </p:nvGrpSpPr>
        <p:grpSpPr>
          <a:xfrm>
            <a:off x="517907" y="353944"/>
            <a:ext cx="804847" cy="882052"/>
            <a:chOff x="6072409" y="4521978"/>
            <a:chExt cx="436705" cy="478622"/>
          </a:xfrm>
        </p:grpSpPr>
        <p:sp>
          <p:nvSpPr>
            <p:cNvPr id="1973" name="Google Shape;1973;p48"/>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8"/>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8"/>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8"/>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8"/>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8"/>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8"/>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8"/>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8"/>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1728;p44">
            <a:extLst>
              <a:ext uri="{FF2B5EF4-FFF2-40B4-BE49-F238E27FC236}">
                <a16:creationId xmlns:a16="http://schemas.microsoft.com/office/drawing/2014/main" id="{235E8577-AE08-2D19-9185-FF24576ED541}"/>
              </a:ext>
            </a:extLst>
          </p:cNvPr>
          <p:cNvGrpSpPr/>
          <p:nvPr/>
        </p:nvGrpSpPr>
        <p:grpSpPr>
          <a:xfrm>
            <a:off x="8202012" y="4512795"/>
            <a:ext cx="425875" cy="466752"/>
            <a:chOff x="6072409" y="4521978"/>
            <a:chExt cx="436705" cy="478622"/>
          </a:xfrm>
        </p:grpSpPr>
        <p:sp>
          <p:nvSpPr>
            <p:cNvPr id="3" name="Google Shape;1729;p44">
              <a:extLst>
                <a:ext uri="{FF2B5EF4-FFF2-40B4-BE49-F238E27FC236}">
                  <a16:creationId xmlns:a16="http://schemas.microsoft.com/office/drawing/2014/main" id="{4B74561C-5334-B9E9-C1F9-EAB2F16680BB}"/>
                </a:ext>
              </a:extLst>
            </p:cNvPr>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730;p44">
              <a:extLst>
                <a:ext uri="{FF2B5EF4-FFF2-40B4-BE49-F238E27FC236}">
                  <a16:creationId xmlns:a16="http://schemas.microsoft.com/office/drawing/2014/main" id="{D860DE35-F0BD-FAF7-BC3A-9E533BE3E56A}"/>
                </a:ext>
              </a:extLst>
            </p:cNvPr>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731;p44">
              <a:extLst>
                <a:ext uri="{FF2B5EF4-FFF2-40B4-BE49-F238E27FC236}">
                  <a16:creationId xmlns:a16="http://schemas.microsoft.com/office/drawing/2014/main" id="{4F0258E0-57B4-6589-4C50-0BBC3D078BE8}"/>
                </a:ext>
              </a:extLst>
            </p:cNvPr>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732;p44">
              <a:extLst>
                <a:ext uri="{FF2B5EF4-FFF2-40B4-BE49-F238E27FC236}">
                  <a16:creationId xmlns:a16="http://schemas.microsoft.com/office/drawing/2014/main" id="{ADBD686F-B7AF-9A6A-3677-B5AA2E1B8BA6}"/>
                </a:ext>
              </a:extLst>
            </p:cNvPr>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733;p44">
              <a:extLst>
                <a:ext uri="{FF2B5EF4-FFF2-40B4-BE49-F238E27FC236}">
                  <a16:creationId xmlns:a16="http://schemas.microsoft.com/office/drawing/2014/main" id="{7D562B21-8999-5619-69BB-5DB1E1D25269}"/>
                </a:ext>
              </a:extLst>
            </p:cNvPr>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34;p44">
              <a:extLst>
                <a:ext uri="{FF2B5EF4-FFF2-40B4-BE49-F238E27FC236}">
                  <a16:creationId xmlns:a16="http://schemas.microsoft.com/office/drawing/2014/main" id="{C5B84D53-4513-5E02-B7E8-BD4CFFC1CAF1}"/>
                </a:ext>
              </a:extLst>
            </p:cNvPr>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35;p44">
              <a:extLst>
                <a:ext uri="{FF2B5EF4-FFF2-40B4-BE49-F238E27FC236}">
                  <a16:creationId xmlns:a16="http://schemas.microsoft.com/office/drawing/2014/main" id="{A4E5B9E8-8E1F-FA55-4B4C-7FCF9BB8FAA4}"/>
                </a:ext>
              </a:extLst>
            </p:cNvPr>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36;p44">
              <a:extLst>
                <a:ext uri="{FF2B5EF4-FFF2-40B4-BE49-F238E27FC236}">
                  <a16:creationId xmlns:a16="http://schemas.microsoft.com/office/drawing/2014/main" id="{AFF780B0-75A4-AD50-7B41-77B788602AFC}"/>
                </a:ext>
              </a:extLst>
            </p:cNvPr>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37;p44">
              <a:extLst>
                <a:ext uri="{FF2B5EF4-FFF2-40B4-BE49-F238E27FC236}">
                  <a16:creationId xmlns:a16="http://schemas.microsoft.com/office/drawing/2014/main" id="{99A4AE20-97EE-BFD8-C9B5-2716E932083A}"/>
                </a:ext>
              </a:extLst>
            </p:cNvPr>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TextBox 11">
            <a:extLst>
              <a:ext uri="{FF2B5EF4-FFF2-40B4-BE49-F238E27FC236}">
                <a16:creationId xmlns:a16="http://schemas.microsoft.com/office/drawing/2014/main" id="{BD5131AE-2D89-0138-661A-2769991500D3}"/>
              </a:ext>
            </a:extLst>
          </p:cNvPr>
          <p:cNvSpPr txBox="1"/>
          <p:nvPr/>
        </p:nvSpPr>
        <p:spPr>
          <a:xfrm>
            <a:off x="8679180" y="101989"/>
            <a:ext cx="30480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6</a:t>
            </a:r>
            <a:endParaRPr lang="en-IN" dirty="0">
              <a:solidFill>
                <a:sysClr val="windowText" lastClr="000000"/>
              </a:solidFill>
            </a:endParaRPr>
          </a:p>
        </p:txBody>
      </p:sp>
    </p:spTree>
    <p:extLst>
      <p:ext uri="{BB962C8B-B14F-4D97-AF65-F5344CB8AC3E}">
        <p14:creationId xmlns:p14="http://schemas.microsoft.com/office/powerpoint/2010/main" val="341134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1713" name="Google Shape;1713;p43"/>
          <p:cNvSpPr txBox="1">
            <a:spLocks noGrp="1"/>
          </p:cNvSpPr>
          <p:nvPr>
            <p:ph type="body" idx="1"/>
          </p:nvPr>
        </p:nvSpPr>
        <p:spPr>
          <a:xfrm>
            <a:off x="603807" y="445668"/>
            <a:ext cx="7936386" cy="4252164"/>
          </a:xfrm>
          <a:prstGeom prst="rect">
            <a:avLst/>
          </a:prstGeom>
        </p:spPr>
        <p:txBody>
          <a:bodyPr spcFirstLastPara="1" wrap="square" lIns="91425" tIns="91425" rIns="91425" bIns="91425" anchor="t" anchorCtr="0">
            <a:noAutofit/>
          </a:bodyPr>
          <a:lstStyle/>
          <a:p>
            <a:pPr marL="285750" indent="-285750"/>
            <a:r>
              <a:rPr lang="en-US" sz="1400" b="0" i="0" dirty="0">
                <a:solidFill>
                  <a:srgbClr val="212121"/>
                </a:solidFill>
                <a:effectLst/>
                <a:latin typeface="Grandview" panose="020B0502040204020203" pitchFamily="34" charset="0"/>
              </a:rPr>
              <a:t>According to </a:t>
            </a:r>
            <a:r>
              <a:rPr lang="en-US" sz="1400" b="1" i="1" dirty="0">
                <a:solidFill>
                  <a:srgbClr val="212121"/>
                </a:solidFill>
                <a:effectLst/>
                <a:latin typeface="Grandview" panose="020B0502040204020203" pitchFamily="34" charset="0"/>
              </a:rPr>
              <a:t>Lazarus and Folkman (</a:t>
            </a:r>
            <a:r>
              <a:rPr lang="en-US" sz="1400" b="1" i="1" u="sng" dirty="0">
                <a:solidFill>
                  <a:srgbClr val="376FAA"/>
                </a:solidFill>
                <a:effectLst/>
                <a:latin typeface="Grandview" panose="020B0502040204020203" pitchFamily="34" charset="0"/>
                <a:hlinkClick r:id="rId3"/>
              </a:rPr>
              <a:t>1984</a:t>
            </a:r>
            <a:r>
              <a:rPr lang="en-US" sz="1400" b="1" i="1" dirty="0">
                <a:solidFill>
                  <a:srgbClr val="212121"/>
                </a:solidFill>
                <a:effectLst/>
                <a:latin typeface="Grandview" panose="020B0502040204020203" pitchFamily="34" charset="0"/>
              </a:rPr>
              <a:t>)</a:t>
            </a:r>
            <a:r>
              <a:rPr lang="en-US" sz="1400" b="1" i="0" dirty="0">
                <a:solidFill>
                  <a:srgbClr val="212121"/>
                </a:solidFill>
                <a:effectLst/>
                <a:latin typeface="Grandview" panose="020B0502040204020203" pitchFamily="34" charset="0"/>
              </a:rPr>
              <a:t>, </a:t>
            </a:r>
          </a:p>
          <a:p>
            <a:pPr marL="742950" lvl="1" indent="-285750"/>
            <a:r>
              <a:rPr lang="en-US" sz="1200" b="0" i="0" dirty="0">
                <a:solidFill>
                  <a:srgbClr val="212121"/>
                </a:solidFill>
                <a:effectLst/>
                <a:latin typeface="Grandview" panose="020B0502040204020203" pitchFamily="34" charset="0"/>
              </a:rPr>
              <a:t>“</a:t>
            </a:r>
            <a:r>
              <a:rPr lang="en-US" sz="1200" b="1" dirty="0">
                <a:solidFill>
                  <a:srgbClr val="212121"/>
                </a:solidFill>
                <a:latin typeface="Grandview" panose="020B0502040204020203" pitchFamily="34" charset="0"/>
              </a:rPr>
              <a:t>P</a:t>
            </a:r>
            <a:r>
              <a:rPr lang="en-US" sz="1200" b="1" i="0" dirty="0">
                <a:solidFill>
                  <a:srgbClr val="212121"/>
                </a:solidFill>
                <a:effectLst/>
                <a:latin typeface="Grandview" panose="020B0502040204020203" pitchFamily="34" charset="0"/>
              </a:rPr>
              <a:t>sychological stress </a:t>
            </a:r>
            <a:r>
              <a:rPr lang="en-US" sz="1200" i="0" dirty="0">
                <a:solidFill>
                  <a:srgbClr val="212121"/>
                </a:solidFill>
                <a:effectLst/>
                <a:latin typeface="Grandview" panose="020B0502040204020203" pitchFamily="34" charset="0"/>
              </a:rPr>
              <a:t>is a particular </a:t>
            </a:r>
            <a:r>
              <a:rPr lang="en-US" sz="1200" i="0" u="sng" dirty="0">
                <a:solidFill>
                  <a:srgbClr val="212121"/>
                </a:solidFill>
                <a:effectLst/>
                <a:latin typeface="Grandview" panose="020B0502040204020203" pitchFamily="34" charset="0"/>
              </a:rPr>
              <a:t>relationship between the person and the environment that is appraised by the person as taxing </a:t>
            </a:r>
            <a:r>
              <a:rPr lang="en-US" sz="1200" i="0" dirty="0">
                <a:solidFill>
                  <a:srgbClr val="212121"/>
                </a:solidFill>
                <a:effectLst/>
                <a:latin typeface="Grandview" panose="020B0502040204020203" pitchFamily="34" charset="0"/>
              </a:rPr>
              <a:t>or exceeding his or her resources and endangering his or her well-being</a:t>
            </a:r>
            <a:r>
              <a:rPr lang="en-US" sz="1200" b="0" i="0" dirty="0">
                <a:solidFill>
                  <a:srgbClr val="212121"/>
                </a:solidFill>
                <a:effectLst/>
                <a:latin typeface="Grandview" panose="020B0502040204020203" pitchFamily="34" charset="0"/>
              </a:rPr>
              <a:t>” and, </a:t>
            </a:r>
          </a:p>
          <a:p>
            <a:pPr marL="742950" lvl="1" indent="-285750"/>
            <a:r>
              <a:rPr lang="en-US" sz="1200" dirty="0">
                <a:latin typeface="Grandview" panose="020B0502040204020203" pitchFamily="34" charset="0"/>
              </a:rPr>
              <a:t>The cognitive and behavioral </a:t>
            </a:r>
            <a:r>
              <a:rPr lang="en-US" sz="1200" u="sng" dirty="0">
                <a:latin typeface="Grandview" panose="020B0502040204020203" pitchFamily="34" charset="0"/>
              </a:rPr>
              <a:t>strategies that an individual uses to manage a stressful situation </a:t>
            </a:r>
            <a:r>
              <a:rPr lang="en-US" sz="1200" dirty="0">
                <a:latin typeface="Grandview" panose="020B0502040204020203" pitchFamily="34" charset="0"/>
              </a:rPr>
              <a:t>and the concomitant negative emotions are commonly referred to as </a:t>
            </a:r>
            <a:r>
              <a:rPr lang="en-US" sz="1200" b="1" dirty="0">
                <a:latin typeface="Grandview" panose="020B0502040204020203" pitchFamily="34" charset="0"/>
              </a:rPr>
              <a:t>coping strategies</a:t>
            </a:r>
            <a:r>
              <a:rPr lang="en-IN" sz="1200" b="1" dirty="0">
                <a:latin typeface="Grandview" panose="020B0502040204020203" pitchFamily="34" charset="0"/>
              </a:rPr>
              <a:t> </a:t>
            </a:r>
            <a:r>
              <a:rPr lang="en-IN" sz="1200" i="1" dirty="0">
                <a:latin typeface="Grandview" panose="020B0502040204020203" pitchFamily="34" charset="0"/>
              </a:rPr>
              <a:t>(Folkman &amp; Lazarus, 1980)</a:t>
            </a:r>
            <a:br>
              <a:rPr lang="en-IN" sz="1400" dirty="0">
                <a:solidFill>
                  <a:srgbClr val="212121"/>
                </a:solidFill>
                <a:latin typeface="Grandview" panose="020B0502040204020203" pitchFamily="34" charset="0"/>
                <a:cs typeface="Helvetica" panose="020B0604020202020204" pitchFamily="34" charset="0"/>
              </a:rPr>
            </a:br>
            <a:endParaRPr lang="en-IN" sz="1400" dirty="0">
              <a:solidFill>
                <a:srgbClr val="212121"/>
              </a:solidFill>
              <a:latin typeface="Grandview" panose="020B0502040204020203" pitchFamily="34" charset="0"/>
              <a:cs typeface="Helvetica" panose="020B0604020202020204" pitchFamily="34" charset="0"/>
            </a:endParaRPr>
          </a:p>
          <a:p>
            <a:pPr marL="285750" indent="-285750"/>
            <a:r>
              <a:rPr lang="en-US" sz="1350" dirty="0">
                <a:latin typeface="Grandview" panose="020B0502040204020203" pitchFamily="34" charset="0"/>
              </a:rPr>
              <a:t>Individuals use more or less adaptive means of coping with situations. The effectiveness of coping strategies has been shown to vary with the type of problem being faced and the degree of stressfulness of a situation </a:t>
            </a:r>
            <a:r>
              <a:rPr lang="en-US" sz="1350" i="1" dirty="0">
                <a:latin typeface="Grandview" panose="020B0502040204020203" pitchFamily="34" charset="0"/>
              </a:rPr>
              <a:t>(</a:t>
            </a:r>
            <a:r>
              <a:rPr lang="en-US" sz="1350" b="1" i="1" dirty="0" err="1">
                <a:latin typeface="Grandview" panose="020B0502040204020203" pitchFamily="34" charset="0"/>
              </a:rPr>
              <a:t>Aldwin</a:t>
            </a:r>
            <a:r>
              <a:rPr lang="en-US" sz="1350" b="1" i="1" dirty="0">
                <a:latin typeface="Grandview" panose="020B0502040204020203" pitchFamily="34" charset="0"/>
              </a:rPr>
              <a:t> &amp; Revenson, 1987</a:t>
            </a:r>
            <a:r>
              <a:rPr lang="en-US" sz="1350" i="1" dirty="0">
                <a:latin typeface="Grandview" panose="020B0502040204020203" pitchFamily="34" charset="0"/>
              </a:rPr>
              <a:t>).</a:t>
            </a:r>
            <a:br>
              <a:rPr lang="en-US" sz="1400" dirty="0">
                <a:latin typeface="Grandview" panose="020B0502040204020203" pitchFamily="34" charset="0"/>
              </a:rPr>
            </a:br>
            <a:endParaRPr lang="en-US" sz="1400" dirty="0">
              <a:solidFill>
                <a:srgbClr val="212121"/>
              </a:solidFill>
              <a:latin typeface="Grandview" panose="020B0502040204020203" pitchFamily="34" charset="0"/>
              <a:cs typeface="Helvetica" panose="020B0604020202020204" pitchFamily="34" charset="0"/>
            </a:endParaRPr>
          </a:p>
          <a:p>
            <a:pPr marL="285750" indent="-285750"/>
            <a:r>
              <a:rPr lang="en-US" sz="1400" dirty="0">
                <a:solidFill>
                  <a:srgbClr val="212121"/>
                </a:solidFill>
                <a:latin typeface="Grandview" panose="020B0502040204020203" pitchFamily="34" charset="0"/>
                <a:cs typeface="Helvetica" panose="020B0604020202020204" pitchFamily="34" charset="0"/>
              </a:rPr>
              <a:t>According to </a:t>
            </a:r>
            <a:r>
              <a:rPr lang="en-US" sz="1400" b="1" i="1" dirty="0">
                <a:solidFill>
                  <a:srgbClr val="212121"/>
                </a:solidFill>
                <a:latin typeface="Grandview" panose="020B0502040204020203" pitchFamily="34" charset="0"/>
                <a:cs typeface="Helvetica" panose="020B0604020202020204" pitchFamily="34" charset="0"/>
              </a:rPr>
              <a:t>Feng (1992) </a:t>
            </a:r>
            <a:r>
              <a:rPr lang="en-US" sz="1400" dirty="0">
                <a:solidFill>
                  <a:srgbClr val="212121"/>
                </a:solidFill>
                <a:latin typeface="Grandview" panose="020B0502040204020203" pitchFamily="34" charset="0"/>
                <a:cs typeface="Helvetica" panose="020B0604020202020204" pitchFamily="34" charset="0"/>
              </a:rPr>
              <a:t>and </a:t>
            </a:r>
            <a:r>
              <a:rPr lang="en-US" sz="1400" b="1" i="1" dirty="0">
                <a:solidFill>
                  <a:srgbClr val="212121"/>
                </a:solidFill>
                <a:latin typeface="Grandview" panose="020B0502040204020203" pitchFamily="34" charset="0"/>
                <a:cs typeface="Helvetica" panose="020B0604020202020204" pitchFamily="34" charset="0"/>
              </a:rPr>
              <a:t>Volpe (2000):</a:t>
            </a:r>
          </a:p>
          <a:p>
            <a:pPr marL="742950" lvl="1" indent="-285750"/>
            <a:r>
              <a:rPr lang="en-US" sz="1200" b="1" dirty="0">
                <a:solidFill>
                  <a:srgbClr val="212121"/>
                </a:solidFill>
                <a:latin typeface="Grandview" panose="020B0502040204020203" pitchFamily="34" charset="0"/>
                <a:cs typeface="Helvetica" panose="020B0604020202020204" pitchFamily="34" charset="0"/>
              </a:rPr>
              <a:t>Stressor</a:t>
            </a:r>
            <a:r>
              <a:rPr lang="en-US" sz="1200" dirty="0">
                <a:solidFill>
                  <a:srgbClr val="212121"/>
                </a:solidFill>
                <a:latin typeface="Grandview" panose="020B0502040204020203" pitchFamily="34" charset="0"/>
                <a:cs typeface="Helvetica" panose="020B0604020202020204" pitchFamily="34" charset="0"/>
              </a:rPr>
              <a:t> is anything that </a:t>
            </a:r>
            <a:r>
              <a:rPr lang="en-US" sz="1200" u="sng" dirty="0">
                <a:solidFill>
                  <a:srgbClr val="212121"/>
                </a:solidFill>
                <a:latin typeface="Grandview" panose="020B0502040204020203" pitchFamily="34" charset="0"/>
                <a:cs typeface="Helvetica" panose="020B0604020202020204" pitchFamily="34" charset="0"/>
              </a:rPr>
              <a:t>challenges an individual’s adaptability or stimulates an individual’s body or mentality</a:t>
            </a:r>
            <a:r>
              <a:rPr lang="en-US" sz="1200" dirty="0">
                <a:solidFill>
                  <a:srgbClr val="212121"/>
                </a:solidFill>
                <a:latin typeface="Grandview" panose="020B0502040204020203" pitchFamily="34" charset="0"/>
                <a:cs typeface="Helvetica" panose="020B0604020202020204" pitchFamily="34" charset="0"/>
              </a:rPr>
              <a:t>. </a:t>
            </a:r>
          </a:p>
          <a:p>
            <a:pPr marL="742950" lvl="1" indent="-285750"/>
            <a:r>
              <a:rPr lang="en-US" sz="1200" dirty="0">
                <a:solidFill>
                  <a:srgbClr val="212121"/>
                </a:solidFill>
                <a:latin typeface="Grandview" panose="020B0502040204020203" pitchFamily="34" charset="0"/>
                <a:cs typeface="Helvetica" panose="020B0604020202020204" pitchFamily="34" charset="0"/>
              </a:rPr>
              <a:t>Stress can be caused by environmental factors, psychological factors, biological factors, and social factors. It can be negative or positive to an individual, depending on the strength and persistence of the stress, the individual’s personality, cognitive appraisal of the stress, and social support.</a:t>
            </a:r>
          </a:p>
          <a:p>
            <a:pPr marL="285750" indent="-285750"/>
            <a:endParaRPr lang="en-US" sz="1400" dirty="0">
              <a:solidFill>
                <a:srgbClr val="374151"/>
              </a:solidFill>
              <a:latin typeface="Helvetica" panose="020B0604020202020204" pitchFamily="34" charset="0"/>
              <a:cs typeface="Helvetica" panose="020B0604020202020204" pitchFamily="34" charset="0"/>
            </a:endParaRPr>
          </a:p>
          <a:p>
            <a:pPr marL="285750" indent="-285750"/>
            <a:endParaRPr sz="1400" dirty="0">
              <a:solidFill>
                <a:schemeClr val="accent6"/>
              </a:solidFill>
              <a:latin typeface="Helvetica" panose="020B0604020202020204" pitchFamily="34" charset="0"/>
              <a:cs typeface="Helvetica" panose="020B0604020202020204" pitchFamily="34" charset="0"/>
            </a:endParaRPr>
          </a:p>
        </p:txBody>
      </p:sp>
      <p:sp>
        <p:nvSpPr>
          <p:cNvPr id="2" name="TextBox 1">
            <a:extLst>
              <a:ext uri="{FF2B5EF4-FFF2-40B4-BE49-F238E27FC236}">
                <a16:creationId xmlns:a16="http://schemas.microsoft.com/office/drawing/2014/main" id="{3C7758BA-A4B0-6244-0692-2D77C47A6BC7}"/>
              </a:ext>
            </a:extLst>
          </p:cNvPr>
          <p:cNvSpPr txBox="1"/>
          <p:nvPr/>
        </p:nvSpPr>
        <p:spPr>
          <a:xfrm>
            <a:off x="8679180" y="101989"/>
            <a:ext cx="30480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7</a:t>
            </a:r>
            <a:endParaRPr lang="en-IN" dirty="0">
              <a:solidFill>
                <a:sysClr val="windowText" lastClr="000000"/>
              </a:solidFill>
            </a:endParaRPr>
          </a:p>
        </p:txBody>
      </p:sp>
    </p:spTree>
    <p:extLst>
      <p:ext uri="{BB962C8B-B14F-4D97-AF65-F5344CB8AC3E}">
        <p14:creationId xmlns:p14="http://schemas.microsoft.com/office/powerpoint/2010/main" val="2854544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grpSp>
        <p:nvGrpSpPr>
          <p:cNvPr id="1728" name="Google Shape;1728;p44"/>
          <p:cNvGrpSpPr/>
          <p:nvPr/>
        </p:nvGrpSpPr>
        <p:grpSpPr>
          <a:xfrm>
            <a:off x="9260115" y="3605131"/>
            <a:ext cx="425875" cy="466752"/>
            <a:chOff x="6072409" y="4521978"/>
            <a:chExt cx="436705" cy="478622"/>
          </a:xfrm>
        </p:grpSpPr>
        <p:sp>
          <p:nvSpPr>
            <p:cNvPr id="1729" name="Google Shape;1729;p44"/>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4"/>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4"/>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4"/>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3" name="Google Shape;1733;p44"/>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4"/>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4"/>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4"/>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4"/>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1713;p43">
            <a:extLst>
              <a:ext uri="{FF2B5EF4-FFF2-40B4-BE49-F238E27FC236}">
                <a16:creationId xmlns:a16="http://schemas.microsoft.com/office/drawing/2014/main" id="{3DCF3F4C-B16F-803F-CD1F-75A508D7B9D2}"/>
              </a:ext>
            </a:extLst>
          </p:cNvPr>
          <p:cNvSpPr txBox="1">
            <a:spLocks/>
          </p:cNvSpPr>
          <p:nvPr/>
        </p:nvSpPr>
        <p:spPr>
          <a:xfrm>
            <a:off x="603807" y="445668"/>
            <a:ext cx="7936386" cy="42521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eaLnBrk="1" hangingPunct="1">
              <a:lnSpc>
                <a:spcPct val="100000"/>
              </a:lnSpc>
              <a:spcBef>
                <a:spcPts val="0"/>
              </a:spcBef>
              <a:spcAft>
                <a:spcPts val="0"/>
              </a:spcAft>
              <a:buClr>
                <a:schemeClr val="accent1"/>
              </a:buClr>
              <a:buSzPts val="1400"/>
              <a:buFont typeface="Karla"/>
              <a:buNone/>
              <a:defRPr sz="2000" b="1" i="0" u="none" strike="noStrike" cap="none">
                <a:solidFill>
                  <a:schemeClr val="dk1"/>
                </a:solidFill>
                <a:latin typeface="Open Sans"/>
                <a:ea typeface="Open Sans"/>
                <a:cs typeface="Open Sans"/>
                <a:sym typeface="Open Sans"/>
              </a:defRPr>
            </a:lvl1pPr>
            <a:lvl2pPr marL="914400" marR="0" lvl="1" indent="-317500" algn="ctr" rtl="0" eaLnBrk="1" hangingPunct="1">
              <a:lnSpc>
                <a:spcPct val="100000"/>
              </a:lnSpc>
              <a:spcBef>
                <a:spcPts val="0"/>
              </a:spcBef>
              <a:spcAft>
                <a:spcPts val="0"/>
              </a:spcAft>
              <a:buClr>
                <a:schemeClr val="accent1"/>
              </a:buClr>
              <a:buSzPts val="1400"/>
              <a:buFont typeface="Karla"/>
              <a:buNone/>
              <a:defRPr sz="2000" b="1" i="0" u="none" strike="noStrike" cap="none">
                <a:solidFill>
                  <a:schemeClr val="dk1"/>
                </a:solidFill>
                <a:latin typeface="Open Sans"/>
                <a:ea typeface="Open Sans"/>
                <a:cs typeface="Open Sans"/>
                <a:sym typeface="Open Sans"/>
              </a:defRPr>
            </a:lvl2pPr>
            <a:lvl3pPr marL="1371600" marR="0" lvl="2"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3pPr>
            <a:lvl4pPr marL="1828800" marR="0" lvl="3"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4pPr>
            <a:lvl5pPr marL="2286000" marR="0" lvl="4"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5pPr>
            <a:lvl6pPr marL="2743200" marR="0" lvl="5"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6pPr>
            <a:lvl7pPr marL="3200400" marR="0" lvl="6"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7pPr>
            <a:lvl8pPr marL="3657600" marR="0" lvl="7"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8pPr>
            <a:lvl9pPr marL="4114800" marR="0" lvl="8"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9pPr>
          </a:lstStyle>
          <a:p>
            <a:pPr marL="285750" indent="-285750" algn="l">
              <a:buFont typeface="Arial" panose="020B0604020202020204" pitchFamily="34" charset="0"/>
              <a:buChar char="•"/>
            </a:pPr>
            <a:r>
              <a:rPr lang="en-US" sz="1400" b="0" dirty="0">
                <a:solidFill>
                  <a:srgbClr val="374151"/>
                </a:solidFill>
                <a:latin typeface="Grandview" panose="020B0502040204020203" pitchFamily="34" charset="0"/>
                <a:cs typeface="Helvetica" panose="020B0604020202020204" pitchFamily="34" charset="0"/>
              </a:rPr>
              <a:t>In </a:t>
            </a:r>
            <a:r>
              <a:rPr lang="it-IT" sz="1400" i="1" dirty="0">
                <a:solidFill>
                  <a:srgbClr val="374151"/>
                </a:solidFill>
                <a:latin typeface="Grandview" panose="020B0502040204020203" pitchFamily="34" charset="0"/>
                <a:cs typeface="Helvetica" panose="020B0604020202020204" pitchFamily="34" charset="0"/>
              </a:rPr>
              <a:t>Akgün, S., &amp; Ciarrochi, J. (2003)</a:t>
            </a:r>
            <a:r>
              <a:rPr lang="it-IT" sz="1400" dirty="0">
                <a:solidFill>
                  <a:srgbClr val="374151"/>
                </a:solidFill>
                <a:latin typeface="Grandview" panose="020B0502040204020203" pitchFamily="34" charset="0"/>
                <a:cs typeface="Helvetica" panose="020B0604020202020204" pitchFamily="34" charset="0"/>
              </a:rPr>
              <a:t>, </a:t>
            </a:r>
            <a:br>
              <a:rPr lang="it-IT" sz="1400" b="0" dirty="0">
                <a:solidFill>
                  <a:srgbClr val="374151"/>
                </a:solidFill>
                <a:latin typeface="Grandview" panose="020B0502040204020203" pitchFamily="34" charset="0"/>
                <a:cs typeface="Helvetica" panose="020B0604020202020204" pitchFamily="34" charset="0"/>
              </a:rPr>
            </a:br>
            <a:endParaRPr lang="it-IT" sz="1400" b="0" dirty="0">
              <a:solidFill>
                <a:srgbClr val="374151"/>
              </a:solidFill>
              <a:latin typeface="Grandview" panose="020B0502040204020203" pitchFamily="34" charset="0"/>
              <a:cs typeface="Helvetica" panose="020B0604020202020204" pitchFamily="34" charset="0"/>
            </a:endParaRPr>
          </a:p>
          <a:p>
            <a:pPr marL="742950" lvl="1" indent="-285750" algn="l">
              <a:buFont typeface="Courier New" panose="02070309020205020404" pitchFamily="49" charset="0"/>
              <a:buChar char="o"/>
            </a:pPr>
            <a:r>
              <a:rPr lang="it-IT" sz="1200" b="0" dirty="0">
                <a:solidFill>
                  <a:srgbClr val="374151"/>
                </a:solidFill>
                <a:latin typeface="Grandview" panose="020B0502040204020203" pitchFamily="34" charset="0"/>
                <a:cs typeface="Helvetica" panose="020B0604020202020204" pitchFamily="34" charset="0"/>
              </a:rPr>
              <a:t>it was studied how </a:t>
            </a:r>
            <a:r>
              <a:rPr lang="en-US" sz="1200" dirty="0">
                <a:latin typeface="Grandview" panose="020B0502040204020203" pitchFamily="34" charset="0"/>
              </a:rPr>
              <a:t>learned resourcefulness moderates the relationship between academic stress and academic performance. </a:t>
            </a:r>
            <a:r>
              <a:rPr lang="en-US" sz="1200" b="0" dirty="0">
                <a:latin typeface="Grandview" panose="020B0502040204020203" pitchFamily="34" charset="0"/>
              </a:rPr>
              <a:t>It suggests that the negative impact of stress was moderated by learned resourcefulness. </a:t>
            </a:r>
          </a:p>
          <a:p>
            <a:pPr marL="742950" lvl="1" indent="-285750" algn="l">
              <a:buFont typeface="Courier New" panose="02070309020205020404" pitchFamily="49" charset="0"/>
              <a:buChar char="o"/>
            </a:pPr>
            <a:r>
              <a:rPr lang="en-US" sz="1200" b="0" dirty="0">
                <a:latin typeface="Grandview" panose="020B0502040204020203" pitchFamily="34" charset="0"/>
              </a:rPr>
              <a:t>Specifically, academic stress had a </a:t>
            </a:r>
            <a:r>
              <a:rPr lang="en-US" sz="1200" b="0" u="sng" dirty="0">
                <a:latin typeface="Grandview" panose="020B0502040204020203" pitchFamily="34" charset="0"/>
              </a:rPr>
              <a:t>significant negative effect</a:t>
            </a:r>
            <a:r>
              <a:rPr lang="en-US" sz="1200" b="0" dirty="0">
                <a:latin typeface="Grandview" panose="020B0502040204020203" pitchFamily="34" charset="0"/>
              </a:rPr>
              <a:t> on the academic performance of </a:t>
            </a:r>
            <a:r>
              <a:rPr lang="en-US" sz="1200" b="0" u="sng" dirty="0">
                <a:latin typeface="Grandview" panose="020B0502040204020203" pitchFamily="34" charset="0"/>
              </a:rPr>
              <a:t>low resourceful students,</a:t>
            </a:r>
            <a:r>
              <a:rPr lang="en-US" sz="1200" b="0" dirty="0">
                <a:latin typeface="Grandview" panose="020B0502040204020203" pitchFamily="34" charset="0"/>
              </a:rPr>
              <a:t> but had </a:t>
            </a:r>
            <a:r>
              <a:rPr lang="en-US" sz="1200" dirty="0">
                <a:latin typeface="Grandview" panose="020B0502040204020203" pitchFamily="34" charset="0"/>
              </a:rPr>
              <a:t>no effect on high resourceful students</a:t>
            </a:r>
            <a:r>
              <a:rPr lang="en-US" sz="1200" b="0" dirty="0">
                <a:latin typeface="Grandview" panose="020B0502040204020203" pitchFamily="34" charset="0"/>
              </a:rPr>
              <a:t>.</a:t>
            </a:r>
            <a:endParaRPr lang="en-US" sz="1200" b="0" dirty="0">
              <a:solidFill>
                <a:srgbClr val="374151"/>
              </a:solidFill>
              <a:latin typeface="Grandview" panose="020B0502040204020203" pitchFamily="34" charset="0"/>
              <a:cs typeface="Helvetica" panose="020B0604020202020204" pitchFamily="34" charset="0"/>
            </a:endParaRPr>
          </a:p>
          <a:p>
            <a:pPr marL="285750" indent="-285750" algn="l"/>
            <a:endParaRPr lang="en-US" sz="1400" b="0" dirty="0">
              <a:solidFill>
                <a:schemeClr val="accent6"/>
              </a:solidFill>
              <a:latin typeface="Grandview" panose="020B0502040204020203" pitchFamily="34" charset="0"/>
              <a:cs typeface="Helvetica" panose="020B0604020202020204" pitchFamily="34" charset="0"/>
            </a:endParaRPr>
          </a:p>
          <a:p>
            <a:pPr marL="285750" indent="-285750" algn="l"/>
            <a:endParaRPr lang="en-US" sz="1400" b="0" dirty="0">
              <a:solidFill>
                <a:schemeClr val="accent6"/>
              </a:solidFill>
              <a:latin typeface="Grandview" panose="020B0502040204020203" pitchFamily="34" charset="0"/>
              <a:cs typeface="Helvetica" panose="020B0604020202020204" pitchFamily="34" charset="0"/>
            </a:endParaRPr>
          </a:p>
          <a:p>
            <a:pPr marL="285750" indent="-285750" algn="l">
              <a:buFont typeface="Arial" panose="020B0604020202020204" pitchFamily="34" charset="0"/>
              <a:buChar char="•"/>
            </a:pPr>
            <a:r>
              <a:rPr lang="en-US" sz="1400" b="0" dirty="0">
                <a:solidFill>
                  <a:schemeClr val="accent6"/>
                </a:solidFill>
                <a:latin typeface="Grandview" panose="020B0502040204020203" pitchFamily="34" charset="0"/>
                <a:cs typeface="Helvetica" panose="020B0604020202020204" pitchFamily="34" charset="0"/>
              </a:rPr>
              <a:t>A survey was conducted to investigate the sources of stress among college students in Taiwan. </a:t>
            </a:r>
            <a:r>
              <a:rPr lang="en-US" sz="1400" dirty="0">
                <a:solidFill>
                  <a:schemeClr val="accent6"/>
                </a:solidFill>
                <a:latin typeface="Grandview" panose="020B0502040204020203" pitchFamily="34" charset="0"/>
                <a:cs typeface="Helvetica" panose="020B0604020202020204" pitchFamily="34" charset="0"/>
              </a:rPr>
              <a:t>[Kai-Wen &amp; et al (2009)]. </a:t>
            </a:r>
          </a:p>
          <a:p>
            <a:pPr marL="742950" lvl="1" indent="-285750" algn="l">
              <a:buFont typeface="Courier New" panose="02070309020205020404" pitchFamily="49" charset="0"/>
              <a:buChar char="o"/>
            </a:pPr>
            <a:endParaRPr lang="en-US" sz="1200" b="0" dirty="0">
              <a:solidFill>
                <a:schemeClr val="accent6"/>
              </a:solidFill>
              <a:latin typeface="Grandview" panose="020B0502040204020203" pitchFamily="34" charset="0"/>
              <a:cs typeface="Helvetica" panose="020B0604020202020204" pitchFamily="34" charset="0"/>
            </a:endParaRPr>
          </a:p>
          <a:p>
            <a:pPr marL="742950" lvl="1" indent="-285750" algn="l">
              <a:buFont typeface="Courier New" panose="02070309020205020404" pitchFamily="49" charset="0"/>
              <a:buChar char="o"/>
            </a:pPr>
            <a:r>
              <a:rPr lang="en-US" sz="1200" b="0" dirty="0">
                <a:solidFill>
                  <a:schemeClr val="accent6"/>
                </a:solidFill>
                <a:latin typeface="Grandview" panose="020B0502040204020203" pitchFamily="34" charset="0"/>
                <a:cs typeface="Helvetica" panose="020B0604020202020204" pitchFamily="34" charset="0"/>
              </a:rPr>
              <a:t>In this study it was revealed that the most </a:t>
            </a:r>
            <a:r>
              <a:rPr lang="en-US" sz="1200" b="0" u="sng" dirty="0">
                <a:solidFill>
                  <a:schemeClr val="accent6"/>
                </a:solidFill>
                <a:latin typeface="Grandview" panose="020B0502040204020203" pitchFamily="34" charset="0"/>
                <a:cs typeface="Helvetica" panose="020B0604020202020204" pitchFamily="34" charset="0"/>
              </a:rPr>
              <a:t>significant stressors </a:t>
            </a:r>
            <a:r>
              <a:rPr lang="en-US" sz="1200" b="0" dirty="0">
                <a:solidFill>
                  <a:schemeClr val="accent6"/>
                </a:solidFill>
                <a:latin typeface="Grandview" panose="020B0502040204020203" pitchFamily="34" charset="0"/>
                <a:cs typeface="Helvetica" panose="020B0604020202020204" pitchFamily="34" charset="0"/>
              </a:rPr>
              <a:t>in students were ‘</a:t>
            </a:r>
            <a:r>
              <a:rPr lang="en-US" sz="1200" dirty="0">
                <a:solidFill>
                  <a:schemeClr val="accent6"/>
                </a:solidFill>
                <a:latin typeface="Grandview" panose="020B0502040204020203" pitchFamily="34" charset="0"/>
                <a:cs typeface="Helvetica" panose="020B0604020202020204" pitchFamily="34" charset="0"/>
              </a:rPr>
              <a:t>Family Expectations</a:t>
            </a:r>
            <a:r>
              <a:rPr lang="en-US" sz="1200" b="0" dirty="0">
                <a:solidFill>
                  <a:schemeClr val="accent6"/>
                </a:solidFill>
                <a:latin typeface="Grandview" panose="020B0502040204020203" pitchFamily="34" charset="0"/>
                <a:cs typeface="Helvetica" panose="020B0604020202020204" pitchFamily="34" charset="0"/>
              </a:rPr>
              <a:t>’ &amp; ‘</a:t>
            </a:r>
            <a:r>
              <a:rPr lang="en-US" sz="1200" dirty="0">
                <a:solidFill>
                  <a:schemeClr val="accent6"/>
                </a:solidFill>
                <a:latin typeface="Grandview" panose="020B0502040204020203" pitchFamily="34" charset="0"/>
                <a:cs typeface="Helvetica" panose="020B0604020202020204" pitchFamily="34" charset="0"/>
              </a:rPr>
              <a:t>Financial situation</a:t>
            </a:r>
            <a:r>
              <a:rPr lang="en-US" sz="1200" b="0" dirty="0">
                <a:solidFill>
                  <a:schemeClr val="accent6"/>
                </a:solidFill>
                <a:latin typeface="Grandview" panose="020B0502040204020203" pitchFamily="34" charset="0"/>
                <a:cs typeface="Helvetica" panose="020B0604020202020204" pitchFamily="34" charset="0"/>
              </a:rPr>
              <a:t>’</a:t>
            </a:r>
          </a:p>
          <a:p>
            <a:pPr marL="0" indent="0" algn="l"/>
            <a:endParaRPr lang="en-US" sz="1400" b="0" dirty="0">
              <a:solidFill>
                <a:schemeClr val="accent6"/>
              </a:solidFill>
              <a:latin typeface="Grandview" panose="020B0502040204020203" pitchFamily="34" charset="0"/>
              <a:cs typeface="Helvetica" panose="020B0604020202020204" pitchFamily="34" charset="0"/>
            </a:endParaRPr>
          </a:p>
          <a:p>
            <a:pPr marL="285750" indent="-285750" algn="l">
              <a:buFont typeface="Arial" panose="020B0604020202020204" pitchFamily="34" charset="0"/>
              <a:buChar char="•"/>
            </a:pPr>
            <a:r>
              <a:rPr lang="en-US" sz="1400" b="0" dirty="0">
                <a:solidFill>
                  <a:schemeClr val="tx1"/>
                </a:solidFill>
                <a:latin typeface="Grandview" panose="020B0502040204020203" pitchFamily="34" charset="0"/>
                <a:cs typeface="Helvetica" panose="020B0604020202020204" pitchFamily="34" charset="0"/>
              </a:rPr>
              <a:t>In </a:t>
            </a:r>
            <a:r>
              <a:rPr lang="en-US" sz="1400" dirty="0">
                <a:solidFill>
                  <a:schemeClr val="tx1"/>
                </a:solidFill>
                <a:latin typeface="Grandview" panose="020B0502040204020203" pitchFamily="34" charset="0"/>
                <a:cs typeface="Helvetica" panose="020B0604020202020204" pitchFamily="34" charset="0"/>
              </a:rPr>
              <a:t>Ji, H., &amp; Zhang, L. (2011),</a:t>
            </a:r>
            <a:br>
              <a:rPr lang="en-US" sz="1400" b="0" dirty="0">
                <a:solidFill>
                  <a:schemeClr val="tx1"/>
                </a:solidFill>
                <a:latin typeface="Grandview" panose="020B0502040204020203" pitchFamily="34" charset="0"/>
                <a:cs typeface="Helvetica" panose="020B0604020202020204" pitchFamily="34" charset="0"/>
              </a:rPr>
            </a:br>
            <a:endParaRPr lang="en-US" sz="1400" b="0" dirty="0">
              <a:solidFill>
                <a:schemeClr val="tx1"/>
              </a:solidFill>
              <a:latin typeface="Grandview" panose="020B0502040204020203" pitchFamily="34" charset="0"/>
              <a:cs typeface="Helvetica" panose="020B0604020202020204" pitchFamily="34" charset="0"/>
            </a:endParaRPr>
          </a:p>
          <a:p>
            <a:pPr marL="742950" lvl="1" indent="-285750" algn="l">
              <a:buFont typeface="Courier New" panose="02070309020205020404" pitchFamily="49" charset="0"/>
              <a:buChar char="o"/>
            </a:pPr>
            <a:r>
              <a:rPr lang="en-US" sz="1200" b="0" dirty="0">
                <a:solidFill>
                  <a:schemeClr val="tx1"/>
                </a:solidFill>
                <a:latin typeface="Grandview" panose="020B0502040204020203" pitchFamily="34" charset="0"/>
                <a:cs typeface="Helvetica" panose="020B0604020202020204" pitchFamily="34" charset="0"/>
              </a:rPr>
              <a:t>Another such survey conducted on 734 college students </a:t>
            </a:r>
            <a:r>
              <a:rPr lang="en-US" sz="1200" b="0" dirty="0">
                <a:solidFill>
                  <a:schemeClr val="tx1"/>
                </a:solidFill>
                <a:latin typeface="Grandview" panose="020B0502040204020203" pitchFamily="34" charset="0"/>
              </a:rPr>
              <a:t>indicates that the </a:t>
            </a:r>
            <a:r>
              <a:rPr lang="en-US" sz="1200" dirty="0">
                <a:solidFill>
                  <a:schemeClr val="tx1"/>
                </a:solidFill>
                <a:latin typeface="Grandview" panose="020B0502040204020203" pitchFamily="34" charset="0"/>
              </a:rPr>
              <a:t>mental stresses </a:t>
            </a:r>
            <a:r>
              <a:rPr lang="en-US" sz="1200" b="0" dirty="0">
                <a:solidFill>
                  <a:schemeClr val="tx1"/>
                </a:solidFill>
                <a:latin typeface="Grandview" panose="020B0502040204020203" pitchFamily="34" charset="0"/>
              </a:rPr>
              <a:t>of college students have </a:t>
            </a:r>
            <a:r>
              <a:rPr lang="en-US" sz="1200" dirty="0">
                <a:solidFill>
                  <a:schemeClr val="tx1"/>
                </a:solidFill>
                <a:latin typeface="Grandview" panose="020B0502040204020203" pitchFamily="34" charset="0"/>
              </a:rPr>
              <a:t>positive correlations </a:t>
            </a:r>
            <a:r>
              <a:rPr lang="en-US" sz="1200" b="0" dirty="0">
                <a:solidFill>
                  <a:schemeClr val="tx1"/>
                </a:solidFill>
                <a:latin typeface="Grandview" panose="020B0502040204020203" pitchFamily="34" charset="0"/>
              </a:rPr>
              <a:t>with </a:t>
            </a:r>
            <a:r>
              <a:rPr lang="en-US" sz="1200" b="0" u="sng" dirty="0">
                <a:solidFill>
                  <a:schemeClr val="tx1"/>
                </a:solidFill>
                <a:latin typeface="Grandview" panose="020B0502040204020203" pitchFamily="34" charset="0"/>
              </a:rPr>
              <a:t>study conditions, employment situations, economic conditions, and personal factors. </a:t>
            </a:r>
            <a:endParaRPr lang="en-US" sz="1200" b="0" u="sng" dirty="0">
              <a:solidFill>
                <a:schemeClr val="tx1"/>
              </a:solidFill>
              <a:latin typeface="Grandview" panose="020B0502040204020203" pitchFamily="34" charset="0"/>
              <a:cs typeface="Helvetica" panose="020B0604020202020204" pitchFamily="34" charset="0"/>
            </a:endParaRPr>
          </a:p>
        </p:txBody>
      </p:sp>
      <p:sp>
        <p:nvSpPr>
          <p:cNvPr id="2" name="TextBox 1">
            <a:extLst>
              <a:ext uri="{FF2B5EF4-FFF2-40B4-BE49-F238E27FC236}">
                <a16:creationId xmlns:a16="http://schemas.microsoft.com/office/drawing/2014/main" id="{FC1F27C8-28EC-FE96-A102-CF352DADEE83}"/>
              </a:ext>
            </a:extLst>
          </p:cNvPr>
          <p:cNvSpPr txBox="1"/>
          <p:nvPr/>
        </p:nvSpPr>
        <p:spPr>
          <a:xfrm>
            <a:off x="8679180" y="101989"/>
            <a:ext cx="30480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8</a:t>
            </a:r>
            <a:endParaRPr lang="en-IN" dirty="0">
              <a:solidFill>
                <a:sysClr val="windowText" lastClr="000000"/>
              </a:solidFill>
            </a:endParaRPr>
          </a:p>
        </p:txBody>
      </p:sp>
    </p:spTree>
    <p:extLst>
      <p:ext uri="{BB962C8B-B14F-4D97-AF65-F5344CB8AC3E}">
        <p14:creationId xmlns:p14="http://schemas.microsoft.com/office/powerpoint/2010/main" val="2723775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70"/>
        <p:cNvGrpSpPr/>
        <p:nvPr/>
      </p:nvGrpSpPr>
      <p:grpSpPr>
        <a:xfrm>
          <a:off x="0" y="0"/>
          <a:ext cx="0" cy="0"/>
          <a:chOff x="0" y="0"/>
          <a:chExt cx="0" cy="0"/>
        </a:xfrm>
      </p:grpSpPr>
      <p:sp>
        <p:nvSpPr>
          <p:cNvPr id="1971" name="Google Shape;1971;p48"/>
          <p:cNvSpPr txBox="1">
            <a:spLocks noGrp="1"/>
          </p:cNvSpPr>
          <p:nvPr>
            <p:ph type="title"/>
          </p:nvPr>
        </p:nvSpPr>
        <p:spPr>
          <a:xfrm>
            <a:off x="1420996" y="2330664"/>
            <a:ext cx="6302008" cy="48217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sz="5400" dirty="0"/>
              <a:t>METHODOLOGY</a:t>
            </a:r>
            <a:endParaRPr sz="5400" dirty="0"/>
          </a:p>
        </p:txBody>
      </p:sp>
      <p:grpSp>
        <p:nvGrpSpPr>
          <p:cNvPr id="1972" name="Google Shape;1972;p48"/>
          <p:cNvGrpSpPr/>
          <p:nvPr/>
        </p:nvGrpSpPr>
        <p:grpSpPr>
          <a:xfrm>
            <a:off x="517907" y="353944"/>
            <a:ext cx="804847" cy="882052"/>
            <a:chOff x="6072409" y="4521978"/>
            <a:chExt cx="436705" cy="478622"/>
          </a:xfrm>
        </p:grpSpPr>
        <p:sp>
          <p:nvSpPr>
            <p:cNvPr id="1973" name="Google Shape;1973;p48"/>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8"/>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8"/>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8"/>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8"/>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8"/>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8"/>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8"/>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8"/>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1728;p44">
            <a:extLst>
              <a:ext uri="{FF2B5EF4-FFF2-40B4-BE49-F238E27FC236}">
                <a16:creationId xmlns:a16="http://schemas.microsoft.com/office/drawing/2014/main" id="{235E8577-AE08-2D19-9185-FF24576ED541}"/>
              </a:ext>
            </a:extLst>
          </p:cNvPr>
          <p:cNvGrpSpPr/>
          <p:nvPr/>
        </p:nvGrpSpPr>
        <p:grpSpPr>
          <a:xfrm>
            <a:off x="8202012" y="4512795"/>
            <a:ext cx="425875" cy="466752"/>
            <a:chOff x="6072409" y="4521978"/>
            <a:chExt cx="436705" cy="478622"/>
          </a:xfrm>
        </p:grpSpPr>
        <p:sp>
          <p:nvSpPr>
            <p:cNvPr id="3" name="Google Shape;1729;p44">
              <a:extLst>
                <a:ext uri="{FF2B5EF4-FFF2-40B4-BE49-F238E27FC236}">
                  <a16:creationId xmlns:a16="http://schemas.microsoft.com/office/drawing/2014/main" id="{4B74561C-5334-B9E9-C1F9-EAB2F16680BB}"/>
                </a:ext>
              </a:extLst>
            </p:cNvPr>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730;p44">
              <a:extLst>
                <a:ext uri="{FF2B5EF4-FFF2-40B4-BE49-F238E27FC236}">
                  <a16:creationId xmlns:a16="http://schemas.microsoft.com/office/drawing/2014/main" id="{D860DE35-F0BD-FAF7-BC3A-9E533BE3E56A}"/>
                </a:ext>
              </a:extLst>
            </p:cNvPr>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731;p44">
              <a:extLst>
                <a:ext uri="{FF2B5EF4-FFF2-40B4-BE49-F238E27FC236}">
                  <a16:creationId xmlns:a16="http://schemas.microsoft.com/office/drawing/2014/main" id="{4F0258E0-57B4-6589-4C50-0BBC3D078BE8}"/>
                </a:ext>
              </a:extLst>
            </p:cNvPr>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732;p44">
              <a:extLst>
                <a:ext uri="{FF2B5EF4-FFF2-40B4-BE49-F238E27FC236}">
                  <a16:creationId xmlns:a16="http://schemas.microsoft.com/office/drawing/2014/main" id="{ADBD686F-B7AF-9A6A-3677-B5AA2E1B8BA6}"/>
                </a:ext>
              </a:extLst>
            </p:cNvPr>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733;p44">
              <a:extLst>
                <a:ext uri="{FF2B5EF4-FFF2-40B4-BE49-F238E27FC236}">
                  <a16:creationId xmlns:a16="http://schemas.microsoft.com/office/drawing/2014/main" id="{7D562B21-8999-5619-69BB-5DB1E1D25269}"/>
                </a:ext>
              </a:extLst>
            </p:cNvPr>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34;p44">
              <a:extLst>
                <a:ext uri="{FF2B5EF4-FFF2-40B4-BE49-F238E27FC236}">
                  <a16:creationId xmlns:a16="http://schemas.microsoft.com/office/drawing/2014/main" id="{C5B84D53-4513-5E02-B7E8-BD4CFFC1CAF1}"/>
                </a:ext>
              </a:extLst>
            </p:cNvPr>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35;p44">
              <a:extLst>
                <a:ext uri="{FF2B5EF4-FFF2-40B4-BE49-F238E27FC236}">
                  <a16:creationId xmlns:a16="http://schemas.microsoft.com/office/drawing/2014/main" id="{A4E5B9E8-8E1F-FA55-4B4C-7FCF9BB8FAA4}"/>
                </a:ext>
              </a:extLst>
            </p:cNvPr>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36;p44">
              <a:extLst>
                <a:ext uri="{FF2B5EF4-FFF2-40B4-BE49-F238E27FC236}">
                  <a16:creationId xmlns:a16="http://schemas.microsoft.com/office/drawing/2014/main" id="{AFF780B0-75A4-AD50-7B41-77B788602AFC}"/>
                </a:ext>
              </a:extLst>
            </p:cNvPr>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37;p44">
              <a:extLst>
                <a:ext uri="{FF2B5EF4-FFF2-40B4-BE49-F238E27FC236}">
                  <a16:creationId xmlns:a16="http://schemas.microsoft.com/office/drawing/2014/main" id="{99A4AE20-97EE-BFD8-C9B5-2716E932083A}"/>
                </a:ext>
              </a:extLst>
            </p:cNvPr>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TextBox 11">
            <a:extLst>
              <a:ext uri="{FF2B5EF4-FFF2-40B4-BE49-F238E27FC236}">
                <a16:creationId xmlns:a16="http://schemas.microsoft.com/office/drawing/2014/main" id="{014C72CB-5D91-3606-A2EA-1A22306E936F}"/>
              </a:ext>
            </a:extLst>
          </p:cNvPr>
          <p:cNvSpPr txBox="1"/>
          <p:nvPr/>
        </p:nvSpPr>
        <p:spPr>
          <a:xfrm>
            <a:off x="8679180" y="101989"/>
            <a:ext cx="30480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9</a:t>
            </a:r>
            <a:endParaRPr lang="en-IN" dirty="0">
              <a:solidFill>
                <a:sysClr val="windowText" lastClr="000000"/>
              </a:solidFill>
            </a:endParaRPr>
          </a:p>
        </p:txBody>
      </p:sp>
    </p:spTree>
    <p:extLst>
      <p:ext uri="{BB962C8B-B14F-4D97-AF65-F5344CB8AC3E}">
        <p14:creationId xmlns:p14="http://schemas.microsoft.com/office/powerpoint/2010/main" val="3379009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1713" name="Google Shape;1713;p43"/>
          <p:cNvSpPr txBox="1">
            <a:spLocks noGrp="1"/>
          </p:cNvSpPr>
          <p:nvPr>
            <p:ph type="body" idx="1"/>
          </p:nvPr>
        </p:nvSpPr>
        <p:spPr>
          <a:xfrm>
            <a:off x="603807" y="692412"/>
            <a:ext cx="7936386" cy="1557303"/>
          </a:xfrm>
          <a:prstGeom prst="rect">
            <a:avLst/>
          </a:prstGeom>
        </p:spPr>
        <p:txBody>
          <a:bodyPr spcFirstLastPara="1" wrap="square" lIns="91425" tIns="91425" rIns="91425" bIns="91425" anchor="t" anchorCtr="0">
            <a:noAutofit/>
          </a:bodyPr>
          <a:lstStyle/>
          <a:p>
            <a:pPr marL="285750" indent="-285750"/>
            <a:r>
              <a:rPr lang="en-US" sz="1400" i="0" dirty="0">
                <a:solidFill>
                  <a:srgbClr val="212121"/>
                </a:solidFill>
                <a:effectLst/>
                <a:latin typeface="Grandview" panose="020B0502040204020203" pitchFamily="34" charset="0"/>
              </a:rPr>
              <a:t>The questionnaire employs </a:t>
            </a:r>
            <a:r>
              <a:rPr lang="en-US" sz="1400" b="1" i="0" dirty="0">
                <a:solidFill>
                  <a:srgbClr val="212121"/>
                </a:solidFill>
                <a:effectLst/>
                <a:latin typeface="Grandview" panose="020B0502040204020203" pitchFamily="34" charset="0"/>
              </a:rPr>
              <a:t>a Likert scale of 5 (1 to 5)</a:t>
            </a:r>
            <a:r>
              <a:rPr lang="en-US" sz="1400" i="0" dirty="0">
                <a:solidFill>
                  <a:srgbClr val="212121"/>
                </a:solidFill>
                <a:effectLst/>
                <a:latin typeface="Grandview" panose="020B0502040204020203" pitchFamily="34" charset="0"/>
              </a:rPr>
              <a:t>. </a:t>
            </a:r>
          </a:p>
          <a:p>
            <a:pPr marL="285750" indent="-285750"/>
            <a:endParaRPr lang="en-US" sz="1400" b="1" dirty="0">
              <a:solidFill>
                <a:srgbClr val="212121"/>
              </a:solidFill>
              <a:latin typeface="Grandview" panose="020B0502040204020203" pitchFamily="34" charset="0"/>
            </a:endParaRPr>
          </a:p>
          <a:p>
            <a:pPr marL="285750" indent="-285750"/>
            <a:r>
              <a:rPr lang="en-US" sz="1400" b="1" u="sng" dirty="0">
                <a:solidFill>
                  <a:srgbClr val="212121"/>
                </a:solidFill>
                <a:latin typeface="Grandview" panose="020B0502040204020203" pitchFamily="34" charset="0"/>
              </a:rPr>
              <a:t>The variables and their types are as follows:</a:t>
            </a:r>
          </a:p>
          <a:p>
            <a:pPr marL="285750" indent="-285750"/>
            <a:endParaRPr lang="en-US" sz="1400" b="1" dirty="0">
              <a:solidFill>
                <a:srgbClr val="212121"/>
              </a:solidFill>
              <a:latin typeface="Grandview" panose="020B0502040204020203" pitchFamily="34" charset="0"/>
            </a:endParaRPr>
          </a:p>
          <a:p>
            <a:pPr marL="800100" lvl="1" indent="-342900">
              <a:buFont typeface="+mj-lt"/>
              <a:buAutoNum type="arabicPeriod"/>
            </a:pPr>
            <a:r>
              <a:rPr lang="en-US" sz="1200" b="1" dirty="0">
                <a:solidFill>
                  <a:srgbClr val="212121"/>
                </a:solidFill>
                <a:latin typeface="Grandview" panose="020B0502040204020203" pitchFamily="34" charset="0"/>
              </a:rPr>
              <a:t>Age – </a:t>
            </a:r>
            <a:r>
              <a:rPr lang="en-US" sz="1200" dirty="0">
                <a:solidFill>
                  <a:srgbClr val="212121"/>
                </a:solidFill>
                <a:latin typeface="Grandview" panose="020B0502040204020203" pitchFamily="34" charset="0"/>
              </a:rPr>
              <a:t>Quantitative variable (can be used for categorization)</a:t>
            </a:r>
          </a:p>
          <a:p>
            <a:pPr marL="800100" lvl="1" indent="-342900">
              <a:buFont typeface="+mj-lt"/>
              <a:buAutoNum type="arabicPeriod"/>
            </a:pPr>
            <a:r>
              <a:rPr lang="en-US" sz="1200" b="1" dirty="0">
                <a:solidFill>
                  <a:srgbClr val="212121"/>
                </a:solidFill>
                <a:latin typeface="Grandview" panose="020B0502040204020203" pitchFamily="34" charset="0"/>
              </a:rPr>
              <a:t>Gender – </a:t>
            </a:r>
            <a:r>
              <a:rPr lang="en-US" sz="1200" dirty="0">
                <a:solidFill>
                  <a:srgbClr val="212121"/>
                </a:solidFill>
                <a:latin typeface="Grandview" panose="020B0502040204020203" pitchFamily="34" charset="0"/>
              </a:rPr>
              <a:t>Nominal Variable (can be used for categorization)</a:t>
            </a:r>
          </a:p>
          <a:p>
            <a:pPr marL="800100" lvl="1" indent="-342900">
              <a:buFont typeface="+mj-lt"/>
              <a:buAutoNum type="arabicPeriod"/>
            </a:pPr>
            <a:r>
              <a:rPr lang="en-US" sz="1200" b="1" dirty="0">
                <a:solidFill>
                  <a:srgbClr val="212121"/>
                </a:solidFill>
                <a:latin typeface="Grandview" panose="020B0502040204020203" pitchFamily="34" charset="0"/>
              </a:rPr>
              <a:t>Education – </a:t>
            </a:r>
            <a:r>
              <a:rPr lang="en-US" sz="1200" dirty="0">
                <a:solidFill>
                  <a:srgbClr val="212121"/>
                </a:solidFill>
                <a:latin typeface="Grandview" panose="020B0502040204020203" pitchFamily="34" charset="0"/>
              </a:rPr>
              <a:t>Nominal Variable (can be used for categorization)</a:t>
            </a:r>
          </a:p>
          <a:p>
            <a:pPr marL="800100" lvl="1" indent="-342900">
              <a:buFont typeface="+mj-lt"/>
              <a:buAutoNum type="arabicPeriod"/>
            </a:pPr>
            <a:r>
              <a:rPr lang="en-US" sz="1200" b="1" dirty="0">
                <a:solidFill>
                  <a:srgbClr val="212121"/>
                </a:solidFill>
                <a:latin typeface="Grandview" panose="020B0502040204020203" pitchFamily="34" charset="0"/>
              </a:rPr>
              <a:t>Overall Stress – </a:t>
            </a:r>
            <a:r>
              <a:rPr lang="en-US" sz="1200" dirty="0">
                <a:solidFill>
                  <a:srgbClr val="212121"/>
                </a:solidFill>
                <a:latin typeface="Grandview" panose="020B0502040204020203" pitchFamily="34" charset="0"/>
              </a:rPr>
              <a:t>Ordinal variable (Dependent variable)</a:t>
            </a:r>
          </a:p>
          <a:p>
            <a:pPr marL="800100" lvl="1" indent="-342900">
              <a:buFont typeface="+mj-lt"/>
              <a:buAutoNum type="arabicPeriod"/>
            </a:pPr>
            <a:r>
              <a:rPr lang="en-US" sz="1200" b="1" dirty="0">
                <a:solidFill>
                  <a:srgbClr val="212121"/>
                </a:solidFill>
                <a:latin typeface="Grandview" panose="020B0502040204020203" pitchFamily="34" charset="0"/>
              </a:rPr>
              <a:t>Academic Workload – </a:t>
            </a:r>
            <a:r>
              <a:rPr lang="en-US" sz="1200" dirty="0">
                <a:solidFill>
                  <a:srgbClr val="212121"/>
                </a:solidFill>
                <a:latin typeface="Grandview" panose="020B0502040204020203" pitchFamily="34" charset="0"/>
              </a:rPr>
              <a:t>Ordinal variable (Independent variable) </a:t>
            </a:r>
            <a:r>
              <a:rPr lang="en-US" sz="1200" b="1" dirty="0" err="1">
                <a:solidFill>
                  <a:srgbClr val="212121"/>
                </a:solidFill>
                <a:latin typeface="Grandview" panose="020B0502040204020203" pitchFamily="34" charset="0"/>
              </a:rPr>
              <a:t>i.e</a:t>
            </a:r>
            <a:r>
              <a:rPr lang="en-US" sz="1200" b="1" dirty="0">
                <a:solidFill>
                  <a:srgbClr val="212121"/>
                </a:solidFill>
                <a:latin typeface="Grandview" panose="020B0502040204020203" pitchFamily="34" charset="0"/>
              </a:rPr>
              <a:t> X_1</a:t>
            </a:r>
          </a:p>
          <a:p>
            <a:pPr marL="800100" lvl="1" indent="-342900">
              <a:buFont typeface="+mj-lt"/>
              <a:buAutoNum type="arabicPeriod"/>
            </a:pPr>
            <a:r>
              <a:rPr lang="en-US" sz="1200" b="1" dirty="0">
                <a:solidFill>
                  <a:srgbClr val="212121"/>
                </a:solidFill>
                <a:latin typeface="Grandview" panose="020B0502040204020203" pitchFamily="34" charset="0"/>
              </a:rPr>
              <a:t>Peer Pressure – </a:t>
            </a:r>
            <a:r>
              <a:rPr lang="en-US" sz="1200" dirty="0">
                <a:solidFill>
                  <a:srgbClr val="212121"/>
                </a:solidFill>
                <a:latin typeface="Grandview" panose="020B0502040204020203" pitchFamily="34" charset="0"/>
              </a:rPr>
              <a:t>Ordinal variable (Independent variable) </a:t>
            </a:r>
            <a:r>
              <a:rPr lang="en-US" sz="1200" b="1" dirty="0">
                <a:solidFill>
                  <a:srgbClr val="212121"/>
                </a:solidFill>
                <a:latin typeface="Grandview" panose="020B0502040204020203" pitchFamily="34" charset="0"/>
              </a:rPr>
              <a:t>i.e. X_2</a:t>
            </a:r>
          </a:p>
          <a:p>
            <a:pPr marL="800100" lvl="1" indent="-342900">
              <a:buFont typeface="+mj-lt"/>
              <a:buAutoNum type="arabicPeriod"/>
            </a:pPr>
            <a:r>
              <a:rPr lang="en-US" sz="1200" b="1" dirty="0">
                <a:solidFill>
                  <a:srgbClr val="212121"/>
                </a:solidFill>
                <a:latin typeface="Grandview" panose="020B0502040204020203" pitchFamily="34" charset="0"/>
              </a:rPr>
              <a:t>Social isolation – </a:t>
            </a:r>
            <a:r>
              <a:rPr lang="en-US" sz="1200" dirty="0">
                <a:solidFill>
                  <a:srgbClr val="212121"/>
                </a:solidFill>
                <a:latin typeface="Grandview" panose="020B0502040204020203" pitchFamily="34" charset="0"/>
              </a:rPr>
              <a:t>Ordinal variable (Independent variable) </a:t>
            </a:r>
            <a:r>
              <a:rPr lang="en-US" sz="1200" b="1" dirty="0">
                <a:solidFill>
                  <a:srgbClr val="212121"/>
                </a:solidFill>
                <a:latin typeface="Grandview" panose="020B0502040204020203" pitchFamily="34" charset="0"/>
              </a:rPr>
              <a:t>i.e. X_3</a:t>
            </a:r>
          </a:p>
          <a:p>
            <a:pPr marL="800100" lvl="1" indent="-342900">
              <a:buFont typeface="+mj-lt"/>
              <a:buAutoNum type="arabicPeriod"/>
            </a:pPr>
            <a:r>
              <a:rPr lang="en-US" sz="1200" b="1" dirty="0">
                <a:solidFill>
                  <a:srgbClr val="212121"/>
                </a:solidFill>
                <a:latin typeface="Grandview" panose="020B0502040204020203" pitchFamily="34" charset="0"/>
              </a:rPr>
              <a:t>Financial Issues – </a:t>
            </a:r>
            <a:r>
              <a:rPr lang="en-US" sz="1200" dirty="0">
                <a:solidFill>
                  <a:srgbClr val="212121"/>
                </a:solidFill>
                <a:latin typeface="Grandview" panose="020B0502040204020203" pitchFamily="34" charset="0"/>
              </a:rPr>
              <a:t>Ordinal variable (Independent variable) </a:t>
            </a:r>
            <a:r>
              <a:rPr lang="en-US" sz="1200" b="1" dirty="0">
                <a:solidFill>
                  <a:srgbClr val="212121"/>
                </a:solidFill>
                <a:latin typeface="Grandview" panose="020B0502040204020203" pitchFamily="34" charset="0"/>
              </a:rPr>
              <a:t>i.e. X_4</a:t>
            </a:r>
          </a:p>
          <a:p>
            <a:pPr marL="800100" lvl="1" indent="-342900">
              <a:buFont typeface="+mj-lt"/>
              <a:buAutoNum type="arabicPeriod"/>
            </a:pPr>
            <a:r>
              <a:rPr lang="en-US" sz="1200" b="1" dirty="0">
                <a:solidFill>
                  <a:srgbClr val="212121"/>
                </a:solidFill>
                <a:latin typeface="Grandview" panose="020B0502040204020203" pitchFamily="34" charset="0"/>
              </a:rPr>
              <a:t>Health Issues – </a:t>
            </a:r>
            <a:r>
              <a:rPr lang="en-US" sz="1200" dirty="0">
                <a:solidFill>
                  <a:srgbClr val="212121"/>
                </a:solidFill>
                <a:latin typeface="Grandview" panose="020B0502040204020203" pitchFamily="34" charset="0"/>
              </a:rPr>
              <a:t>Ordinal variable (Independent variable) </a:t>
            </a:r>
            <a:r>
              <a:rPr lang="en-US" sz="1200" b="1" dirty="0">
                <a:solidFill>
                  <a:srgbClr val="212121"/>
                </a:solidFill>
                <a:latin typeface="Grandview" panose="020B0502040204020203" pitchFamily="34" charset="0"/>
              </a:rPr>
              <a:t>i.e. X_5</a:t>
            </a:r>
          </a:p>
          <a:p>
            <a:pPr marL="800100" lvl="1" indent="-342900">
              <a:buFont typeface="+mj-lt"/>
              <a:buAutoNum type="arabicPeriod" startAt="10"/>
            </a:pPr>
            <a:r>
              <a:rPr lang="en-US" sz="1200" b="1" dirty="0">
                <a:solidFill>
                  <a:srgbClr val="212121"/>
                </a:solidFill>
                <a:latin typeface="Grandview" panose="020B0502040204020203" pitchFamily="34" charset="0"/>
              </a:rPr>
              <a:t>Family expectation – </a:t>
            </a:r>
            <a:r>
              <a:rPr lang="en-US" sz="1200" dirty="0">
                <a:solidFill>
                  <a:srgbClr val="212121"/>
                </a:solidFill>
                <a:latin typeface="Grandview" panose="020B0502040204020203" pitchFamily="34" charset="0"/>
              </a:rPr>
              <a:t>Ordinal variable (Independent variable) </a:t>
            </a:r>
            <a:r>
              <a:rPr lang="en-US" sz="1200" b="1" dirty="0" err="1">
                <a:solidFill>
                  <a:srgbClr val="212121"/>
                </a:solidFill>
                <a:latin typeface="Grandview" panose="020B0502040204020203" pitchFamily="34" charset="0"/>
              </a:rPr>
              <a:t>i.e</a:t>
            </a:r>
            <a:r>
              <a:rPr lang="en-US" sz="1200" b="1" dirty="0">
                <a:solidFill>
                  <a:srgbClr val="212121"/>
                </a:solidFill>
                <a:latin typeface="Grandview" panose="020B0502040204020203" pitchFamily="34" charset="0"/>
              </a:rPr>
              <a:t> X_6 </a:t>
            </a:r>
          </a:p>
          <a:p>
            <a:pPr marL="800100" lvl="1" indent="-342900">
              <a:buFont typeface="+mj-lt"/>
              <a:buAutoNum type="arabicPeriod" startAt="10"/>
            </a:pPr>
            <a:r>
              <a:rPr lang="en-US" sz="1200" b="1" dirty="0">
                <a:solidFill>
                  <a:srgbClr val="212121"/>
                </a:solidFill>
                <a:latin typeface="Grandview" panose="020B0502040204020203" pitchFamily="34" charset="0"/>
              </a:rPr>
              <a:t>Lack of support – </a:t>
            </a:r>
            <a:r>
              <a:rPr lang="en-US" sz="1200" dirty="0">
                <a:solidFill>
                  <a:srgbClr val="212121"/>
                </a:solidFill>
                <a:latin typeface="Grandview" panose="020B0502040204020203" pitchFamily="34" charset="0"/>
              </a:rPr>
              <a:t>Ordinal variable (Independent variable) </a:t>
            </a:r>
            <a:r>
              <a:rPr lang="en-US" sz="1200" b="1" dirty="0" err="1">
                <a:solidFill>
                  <a:srgbClr val="212121"/>
                </a:solidFill>
                <a:latin typeface="Grandview" panose="020B0502040204020203" pitchFamily="34" charset="0"/>
              </a:rPr>
              <a:t>i.e</a:t>
            </a:r>
            <a:r>
              <a:rPr lang="en-US" sz="1200" b="1" dirty="0">
                <a:solidFill>
                  <a:srgbClr val="212121"/>
                </a:solidFill>
                <a:latin typeface="Grandview" panose="020B0502040204020203" pitchFamily="34" charset="0"/>
              </a:rPr>
              <a:t> X_7</a:t>
            </a:r>
          </a:p>
          <a:p>
            <a:pPr marL="800100" lvl="1" indent="-342900">
              <a:buFont typeface="+mj-lt"/>
              <a:buAutoNum type="arabicPeriod" startAt="10"/>
            </a:pPr>
            <a:r>
              <a:rPr lang="en-US" sz="1200" b="1" i="0" dirty="0">
                <a:solidFill>
                  <a:srgbClr val="212121"/>
                </a:solidFill>
                <a:effectLst/>
                <a:latin typeface="Grandview" panose="020B0502040204020203" pitchFamily="34" charset="0"/>
              </a:rPr>
              <a:t>Coping Frequency – </a:t>
            </a:r>
            <a:r>
              <a:rPr lang="en-US" sz="1200" dirty="0">
                <a:solidFill>
                  <a:srgbClr val="212121"/>
                </a:solidFill>
                <a:latin typeface="Grandview" panose="020B0502040204020203" pitchFamily="34" charset="0"/>
              </a:rPr>
              <a:t>Ordinal</a:t>
            </a:r>
            <a:r>
              <a:rPr lang="en-US" sz="1200" i="0" dirty="0">
                <a:solidFill>
                  <a:srgbClr val="212121"/>
                </a:solidFill>
                <a:effectLst/>
                <a:latin typeface="Grandview" panose="020B0502040204020203" pitchFamily="34" charset="0"/>
              </a:rPr>
              <a:t> variable</a:t>
            </a:r>
            <a:r>
              <a:rPr lang="en-US" sz="1200" dirty="0">
                <a:solidFill>
                  <a:srgbClr val="212121"/>
                </a:solidFill>
                <a:latin typeface="Grandview" panose="020B0502040204020203" pitchFamily="34" charset="0"/>
              </a:rPr>
              <a:t> (Independent variable) </a:t>
            </a:r>
          </a:p>
          <a:p>
            <a:pPr marL="800100" lvl="1" indent="-342900">
              <a:buFont typeface="+mj-lt"/>
              <a:buAutoNum type="arabicPeriod"/>
            </a:pPr>
            <a:endParaRPr lang="en-US" sz="12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p:txBody>
      </p:sp>
      <p:sp>
        <p:nvSpPr>
          <p:cNvPr id="2" name="Google Shape;1480;p38">
            <a:extLst>
              <a:ext uri="{FF2B5EF4-FFF2-40B4-BE49-F238E27FC236}">
                <a16:creationId xmlns:a16="http://schemas.microsoft.com/office/drawing/2014/main" id="{0F6FB33E-AAA4-7A71-BEE9-8C7A087D0A82}"/>
              </a:ext>
            </a:extLst>
          </p:cNvPr>
          <p:cNvSpPr txBox="1">
            <a:spLocks noGrp="1"/>
          </p:cNvSpPr>
          <p:nvPr>
            <p:ph type="title"/>
          </p:nvPr>
        </p:nvSpPr>
        <p:spPr>
          <a:xfrm>
            <a:off x="822393" y="257597"/>
            <a:ext cx="7717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u="sng" dirty="0"/>
              <a:t>TYPES OF VARIABLES </a:t>
            </a:r>
            <a:r>
              <a:rPr lang="en" sz="1600" dirty="0"/>
              <a:t>:</a:t>
            </a:r>
            <a:endParaRPr sz="1600" dirty="0"/>
          </a:p>
        </p:txBody>
      </p:sp>
      <p:sp>
        <p:nvSpPr>
          <p:cNvPr id="4" name="TextBox 3">
            <a:extLst>
              <a:ext uri="{FF2B5EF4-FFF2-40B4-BE49-F238E27FC236}">
                <a16:creationId xmlns:a16="http://schemas.microsoft.com/office/drawing/2014/main" id="{643F0E23-A498-CE9D-B73D-1282D288B614}"/>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10</a:t>
            </a:r>
            <a:endParaRPr lang="en-IN" dirty="0">
              <a:solidFill>
                <a:sysClr val="windowText" lastClr="000000"/>
              </a:solidFill>
            </a:endParaRPr>
          </a:p>
        </p:txBody>
      </p:sp>
    </p:spTree>
    <p:extLst>
      <p:ext uri="{BB962C8B-B14F-4D97-AF65-F5344CB8AC3E}">
        <p14:creationId xmlns:p14="http://schemas.microsoft.com/office/powerpoint/2010/main" val="1365663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1713" name="Google Shape;1713;p43"/>
          <p:cNvSpPr txBox="1">
            <a:spLocks noGrp="1"/>
          </p:cNvSpPr>
          <p:nvPr>
            <p:ph type="body" idx="1"/>
          </p:nvPr>
        </p:nvSpPr>
        <p:spPr>
          <a:xfrm>
            <a:off x="603807" y="989955"/>
            <a:ext cx="7936386" cy="3792502"/>
          </a:xfrm>
          <a:prstGeom prst="rect">
            <a:avLst/>
          </a:prstGeom>
        </p:spPr>
        <p:txBody>
          <a:bodyPr spcFirstLastPara="1" wrap="square" lIns="91425" tIns="91425" rIns="91425" bIns="91425" anchor="t" anchorCtr="0">
            <a:noAutofit/>
          </a:bodyPr>
          <a:lstStyle/>
          <a:p>
            <a:pPr marL="285750" indent="-285750"/>
            <a:r>
              <a:rPr lang="en-US" sz="1400" b="0" i="1" dirty="0">
                <a:solidFill>
                  <a:srgbClr val="374151"/>
                </a:solidFill>
                <a:effectLst/>
                <a:latin typeface="Grandview" panose="020B0502040204020203" pitchFamily="34" charset="0"/>
              </a:rPr>
              <a:t>“Descriptive analysis is a statistical method used to summarize and present data in a clear, understandable way. It involves organizing, summarizing, and visualizing data to provide insights into its key characteristics.</a:t>
            </a:r>
            <a:r>
              <a:rPr lang="en-US" sz="1400" dirty="0">
                <a:solidFill>
                  <a:srgbClr val="374151"/>
                </a:solidFill>
                <a:latin typeface="Grandview" panose="020B0502040204020203" pitchFamily="34" charset="0"/>
              </a:rPr>
              <a:t>”</a:t>
            </a:r>
            <a:r>
              <a:rPr lang="en-US" sz="1400" b="0" i="0" dirty="0">
                <a:solidFill>
                  <a:srgbClr val="374151"/>
                </a:solidFill>
                <a:effectLst/>
                <a:latin typeface="Grandview" panose="020B0502040204020203" pitchFamily="34" charset="0"/>
              </a:rPr>
              <a:t> </a:t>
            </a:r>
          </a:p>
          <a:p>
            <a:pPr marL="285750" indent="-285750"/>
            <a:endParaRPr lang="en-US" sz="1400" dirty="0">
              <a:solidFill>
                <a:srgbClr val="374151"/>
              </a:solidFill>
              <a:latin typeface="Grandview" panose="020B0502040204020203" pitchFamily="34" charset="0"/>
            </a:endParaRPr>
          </a:p>
          <a:p>
            <a:pPr marL="285750" indent="-285750"/>
            <a:r>
              <a:rPr lang="en-US" sz="1400" b="0" i="0" dirty="0">
                <a:solidFill>
                  <a:srgbClr val="374151"/>
                </a:solidFill>
                <a:effectLst/>
                <a:latin typeface="Grandview" panose="020B0502040204020203" pitchFamily="34" charset="0"/>
              </a:rPr>
              <a:t>It </a:t>
            </a:r>
            <a:r>
              <a:rPr lang="en-US" sz="1400" b="1" i="0" dirty="0">
                <a:solidFill>
                  <a:srgbClr val="374151"/>
                </a:solidFill>
                <a:effectLst/>
                <a:latin typeface="Grandview" panose="020B0502040204020203" pitchFamily="34" charset="0"/>
              </a:rPr>
              <a:t>does not involve making inferences </a:t>
            </a:r>
            <a:r>
              <a:rPr lang="en-US" sz="1400" b="0" i="0" dirty="0">
                <a:solidFill>
                  <a:srgbClr val="374151"/>
                </a:solidFill>
                <a:effectLst/>
                <a:latin typeface="Grandview" panose="020B0502040204020203" pitchFamily="34" charset="0"/>
              </a:rPr>
              <a:t>or drawing conclusions about a larger population; instead, it focuses on describing the data you have in a </a:t>
            </a:r>
            <a:r>
              <a:rPr lang="en-US" sz="1400" b="1" i="0" dirty="0">
                <a:solidFill>
                  <a:srgbClr val="374151"/>
                </a:solidFill>
                <a:effectLst/>
                <a:latin typeface="Grandview" panose="020B0502040204020203" pitchFamily="34" charset="0"/>
              </a:rPr>
              <a:t>concise and meaningful manner</a:t>
            </a:r>
            <a:r>
              <a:rPr lang="en-US" sz="1400" b="0" i="0" dirty="0">
                <a:solidFill>
                  <a:srgbClr val="374151"/>
                </a:solidFill>
                <a:effectLst/>
                <a:latin typeface="Grandview" panose="020B0502040204020203" pitchFamily="34" charset="0"/>
              </a:rPr>
              <a:t>.</a:t>
            </a:r>
            <a:endParaRPr lang="en-US" sz="1400" i="0" dirty="0">
              <a:solidFill>
                <a:srgbClr val="212121"/>
              </a:solidFill>
              <a:effectLst/>
              <a:latin typeface="Grandview" panose="020B0502040204020203" pitchFamily="34" charset="0"/>
            </a:endParaRPr>
          </a:p>
          <a:p>
            <a:pPr marL="0" indent="0">
              <a:buNone/>
            </a:pPr>
            <a:endParaRPr lang="en-US" sz="1400" i="0" dirty="0">
              <a:solidFill>
                <a:srgbClr val="212121"/>
              </a:solidFill>
              <a:effectLst/>
              <a:latin typeface="Grandview" panose="020B0502040204020203" pitchFamily="34" charset="0"/>
            </a:endParaRPr>
          </a:p>
          <a:p>
            <a:pPr marL="285750" indent="-285750"/>
            <a:r>
              <a:rPr lang="en-US" sz="1400" i="0" dirty="0">
                <a:solidFill>
                  <a:srgbClr val="212121"/>
                </a:solidFill>
                <a:effectLst/>
                <a:latin typeface="Grandview" panose="020B0502040204020203" pitchFamily="34" charset="0"/>
              </a:rPr>
              <a:t>Using </a:t>
            </a:r>
            <a:r>
              <a:rPr lang="en-US" sz="1400" dirty="0">
                <a:solidFill>
                  <a:srgbClr val="212121"/>
                </a:solidFill>
                <a:latin typeface="Grandview" panose="020B0502040204020203" pitchFamily="34" charset="0"/>
              </a:rPr>
              <a:t>the categorical variables</a:t>
            </a:r>
            <a:r>
              <a:rPr lang="en-US" sz="1400" b="1" dirty="0">
                <a:solidFill>
                  <a:srgbClr val="212121"/>
                </a:solidFill>
                <a:latin typeface="Grandview" panose="020B0502040204020203" pitchFamily="34" charset="0"/>
              </a:rPr>
              <a:t>: Age</a:t>
            </a:r>
            <a:r>
              <a:rPr lang="en-US" sz="1400" dirty="0">
                <a:solidFill>
                  <a:srgbClr val="212121"/>
                </a:solidFill>
                <a:latin typeface="Grandview" panose="020B0502040204020203" pitchFamily="34" charset="0"/>
              </a:rPr>
              <a:t>, </a:t>
            </a:r>
            <a:r>
              <a:rPr lang="en-US" sz="1400" b="1" dirty="0">
                <a:solidFill>
                  <a:srgbClr val="212121"/>
                </a:solidFill>
                <a:latin typeface="Grandview" panose="020B0502040204020203" pitchFamily="34" charset="0"/>
              </a:rPr>
              <a:t>Gender</a:t>
            </a:r>
            <a:r>
              <a:rPr lang="en-US" sz="1400" dirty="0">
                <a:solidFill>
                  <a:srgbClr val="212121"/>
                </a:solidFill>
                <a:latin typeface="Grandview" panose="020B0502040204020203" pitchFamily="34" charset="0"/>
              </a:rPr>
              <a:t> and </a:t>
            </a:r>
            <a:r>
              <a:rPr lang="en-US" sz="1400" b="1" dirty="0">
                <a:solidFill>
                  <a:srgbClr val="212121"/>
                </a:solidFill>
                <a:latin typeface="Grandview" panose="020B0502040204020203" pitchFamily="34" charset="0"/>
              </a:rPr>
              <a:t>Education</a:t>
            </a:r>
            <a:r>
              <a:rPr lang="en-US" sz="1400" dirty="0">
                <a:solidFill>
                  <a:srgbClr val="212121"/>
                </a:solidFill>
                <a:latin typeface="Grandview" panose="020B0502040204020203" pitchFamily="34" charset="0"/>
              </a:rPr>
              <a:t> </a:t>
            </a:r>
            <a:r>
              <a:rPr lang="en-US" sz="1400" b="1" dirty="0">
                <a:solidFill>
                  <a:srgbClr val="212121"/>
                </a:solidFill>
                <a:latin typeface="Grandview" panose="020B0502040204020203" pitchFamily="34" charset="0"/>
              </a:rPr>
              <a:t>level</a:t>
            </a:r>
            <a:r>
              <a:rPr lang="en-US" sz="1400" dirty="0">
                <a:solidFill>
                  <a:srgbClr val="212121"/>
                </a:solidFill>
                <a:latin typeface="Grandview" panose="020B0502040204020203" pitchFamily="34" charset="0"/>
              </a:rPr>
              <a:t> to analysis how the sample is divided as follows: </a:t>
            </a:r>
            <a:endParaRPr lang="en-US" sz="1400"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p:txBody>
      </p:sp>
      <p:sp>
        <p:nvSpPr>
          <p:cNvPr id="2" name="Google Shape;1480;p38">
            <a:extLst>
              <a:ext uri="{FF2B5EF4-FFF2-40B4-BE49-F238E27FC236}">
                <a16:creationId xmlns:a16="http://schemas.microsoft.com/office/drawing/2014/main" id="{0F6FB33E-AAA4-7A71-BEE9-8C7A087D0A82}"/>
              </a:ext>
            </a:extLst>
          </p:cNvPr>
          <p:cNvSpPr txBox="1">
            <a:spLocks noGrp="1"/>
          </p:cNvSpPr>
          <p:nvPr>
            <p:ph type="title"/>
          </p:nvPr>
        </p:nvSpPr>
        <p:spPr>
          <a:xfrm>
            <a:off x="822393" y="257597"/>
            <a:ext cx="7717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u="sng" dirty="0"/>
              <a:t>BASIC ANALYSIS</a:t>
            </a:r>
            <a:endParaRPr sz="2000" dirty="0"/>
          </a:p>
        </p:txBody>
      </p:sp>
      <p:graphicFrame>
        <p:nvGraphicFramePr>
          <p:cNvPr id="3" name="Table 2">
            <a:extLst>
              <a:ext uri="{FF2B5EF4-FFF2-40B4-BE49-F238E27FC236}">
                <a16:creationId xmlns:a16="http://schemas.microsoft.com/office/drawing/2014/main" id="{B63D88E6-B6F4-80FC-23BF-DF8C828C6471}"/>
              </a:ext>
            </a:extLst>
          </p:cNvPr>
          <p:cNvGraphicFramePr>
            <a:graphicFrameLocks noGrp="1"/>
          </p:cNvGraphicFramePr>
          <p:nvPr>
            <p:extLst>
              <p:ext uri="{D42A27DB-BD31-4B8C-83A1-F6EECF244321}">
                <p14:modId xmlns:p14="http://schemas.microsoft.com/office/powerpoint/2010/main" val="2927764265"/>
              </p:ext>
            </p:extLst>
          </p:nvPr>
        </p:nvGraphicFramePr>
        <p:xfrm>
          <a:off x="2692400" y="3251199"/>
          <a:ext cx="3759200" cy="1465942"/>
        </p:xfrm>
        <a:graphic>
          <a:graphicData uri="http://schemas.openxmlformats.org/drawingml/2006/table">
            <a:tbl>
              <a:tblPr>
                <a:tableStyleId>{3C2FFA5D-87B4-456A-9821-1D502468CF0F}</a:tableStyleId>
              </a:tblPr>
              <a:tblGrid>
                <a:gridCol w="1838561">
                  <a:extLst>
                    <a:ext uri="{9D8B030D-6E8A-4147-A177-3AD203B41FA5}">
                      <a16:colId xmlns:a16="http://schemas.microsoft.com/office/drawing/2014/main" val="316931764"/>
                    </a:ext>
                  </a:extLst>
                </a:gridCol>
                <a:gridCol w="1132685">
                  <a:extLst>
                    <a:ext uri="{9D8B030D-6E8A-4147-A177-3AD203B41FA5}">
                      <a16:colId xmlns:a16="http://schemas.microsoft.com/office/drawing/2014/main" val="4274264939"/>
                    </a:ext>
                  </a:extLst>
                </a:gridCol>
                <a:gridCol w="787954">
                  <a:extLst>
                    <a:ext uri="{9D8B030D-6E8A-4147-A177-3AD203B41FA5}">
                      <a16:colId xmlns:a16="http://schemas.microsoft.com/office/drawing/2014/main" val="2535979850"/>
                    </a:ext>
                  </a:extLst>
                </a:gridCol>
              </a:tblGrid>
              <a:tr h="288382">
                <a:tc gridSpan="3">
                  <a:txBody>
                    <a:bodyPr/>
                    <a:lstStyle/>
                    <a:p>
                      <a:pPr algn="ctr" fontAlgn="ctr"/>
                      <a:r>
                        <a:rPr lang="en-IN" sz="1200" b="1" u="sng" strike="noStrike" dirty="0">
                          <a:solidFill>
                            <a:schemeClr val="bg1"/>
                          </a:solidFill>
                          <a:effectLst/>
                          <a:latin typeface="Grandview" panose="020B0502040204020203" pitchFamily="34" charset="0"/>
                        </a:rPr>
                        <a:t>Gender</a:t>
                      </a:r>
                      <a:endParaRPr lang="en-IN" sz="1200" b="1" i="0" u="sng" strike="noStrike" dirty="0">
                        <a:solidFill>
                          <a:schemeClr val="bg1"/>
                        </a:solidFill>
                        <a:effectLst/>
                        <a:latin typeface="Grandview" panose="020B0502040204020203" pitchFamily="34" charset="0"/>
                      </a:endParaRPr>
                    </a:p>
                  </a:txBody>
                  <a:tcPr marL="7620" marR="7620" marT="7620" marB="0" anchor="ctr">
                    <a:solidFill>
                      <a:srgbClr val="126B85"/>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244325210"/>
                  </a:ext>
                </a:extLst>
              </a:tr>
              <a:tr h="300398">
                <a:tc>
                  <a:txBody>
                    <a:bodyPr/>
                    <a:lstStyle/>
                    <a:p>
                      <a:pPr algn="ctr" fontAlgn="b"/>
                      <a:r>
                        <a:rPr lang="en-IN" sz="1200" b="1" u="none" strike="noStrike" dirty="0">
                          <a:effectLst/>
                          <a:latin typeface="Grandview" panose="020B0502040204020203" pitchFamily="34" charset="0"/>
                        </a:rPr>
                        <a:t> Choice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accent2">
                        <a:lumMod val="10000"/>
                        <a:lumOff val="90000"/>
                      </a:schemeClr>
                    </a:solidFill>
                  </a:tcPr>
                </a:tc>
                <a:tc>
                  <a:txBody>
                    <a:bodyPr/>
                    <a:lstStyle/>
                    <a:p>
                      <a:pPr algn="ctr" fontAlgn="b"/>
                      <a:r>
                        <a:rPr lang="en-IN" sz="1200" b="1" u="none" strike="noStrike" dirty="0">
                          <a:effectLst/>
                          <a:latin typeface="Grandview" panose="020B0502040204020203" pitchFamily="34" charset="0"/>
                        </a:rPr>
                        <a:t>Frequency</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accent2">
                        <a:lumMod val="10000"/>
                        <a:lumOff val="90000"/>
                      </a:schemeClr>
                    </a:solidFill>
                  </a:tcPr>
                </a:tc>
                <a:tc>
                  <a:txBody>
                    <a:bodyPr/>
                    <a:lstStyle/>
                    <a:p>
                      <a:pPr algn="ctr" fontAlgn="b"/>
                      <a:r>
                        <a:rPr lang="en-IN" sz="1200" b="1" u="none" strike="noStrike" dirty="0">
                          <a:effectLst/>
                          <a:latin typeface="Grandview" panose="020B0502040204020203" pitchFamily="34" charset="0"/>
                        </a:rPr>
                        <a:t>Percent</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accent2">
                        <a:lumMod val="10000"/>
                        <a:lumOff val="90000"/>
                      </a:schemeClr>
                    </a:solidFill>
                  </a:tcPr>
                </a:tc>
                <a:extLst>
                  <a:ext uri="{0D108BD9-81ED-4DB2-BD59-A6C34878D82A}">
                    <a16:rowId xmlns:a16="http://schemas.microsoft.com/office/drawing/2014/main" val="1189886766"/>
                  </a:ext>
                </a:extLst>
              </a:tr>
              <a:tr h="288382">
                <a:tc>
                  <a:txBody>
                    <a:bodyPr/>
                    <a:lstStyle/>
                    <a:p>
                      <a:pPr algn="ctr" fontAlgn="t"/>
                      <a:r>
                        <a:rPr lang="en-IN" sz="1200" u="none" strike="noStrike" dirty="0">
                          <a:effectLst/>
                          <a:latin typeface="Grandview" panose="020B0502040204020203" pitchFamily="34" charset="0"/>
                        </a:rPr>
                        <a:t>Female</a:t>
                      </a:r>
                      <a:endParaRPr lang="en-IN" sz="1200" b="0" i="0" u="none" strike="noStrike" dirty="0">
                        <a:solidFill>
                          <a:srgbClr val="000000"/>
                        </a:solidFill>
                        <a:effectLst/>
                        <a:latin typeface="Grandview" panose="020B0502040204020203" pitchFamily="34" charset="0"/>
                      </a:endParaRPr>
                    </a:p>
                  </a:txBody>
                  <a:tcPr marL="7620" marR="7620" marT="7620" marB="0"/>
                </a:tc>
                <a:tc>
                  <a:txBody>
                    <a:bodyPr/>
                    <a:lstStyle/>
                    <a:p>
                      <a:pPr algn="ctr" fontAlgn="ctr"/>
                      <a:r>
                        <a:rPr lang="en-IN" sz="1200" u="none" strike="noStrike" dirty="0">
                          <a:effectLst/>
                          <a:latin typeface="Grandview" panose="020B0502040204020203" pitchFamily="34" charset="0"/>
                        </a:rPr>
                        <a:t>54</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49.5%</a:t>
                      </a:r>
                      <a:endParaRPr lang="en-IN" sz="1200" b="0"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239389141"/>
                  </a:ext>
                </a:extLst>
              </a:tr>
              <a:tr h="288382">
                <a:tc>
                  <a:txBody>
                    <a:bodyPr/>
                    <a:lstStyle/>
                    <a:p>
                      <a:pPr algn="ctr" fontAlgn="t"/>
                      <a:r>
                        <a:rPr lang="en-IN" sz="1200" u="none" strike="noStrike">
                          <a:effectLst/>
                          <a:latin typeface="Grandview" panose="020B0502040204020203" pitchFamily="34" charset="0"/>
                        </a:rPr>
                        <a:t>Male</a:t>
                      </a:r>
                      <a:endParaRPr lang="en-IN" sz="1200" b="0" i="0" u="none" strike="noStrike">
                        <a:solidFill>
                          <a:srgbClr val="000000"/>
                        </a:solidFill>
                        <a:effectLst/>
                        <a:latin typeface="Grandview" panose="020B0502040204020203" pitchFamily="34" charset="0"/>
                      </a:endParaRPr>
                    </a:p>
                  </a:txBody>
                  <a:tcPr marL="7620" marR="7620" marT="7620" marB="0"/>
                </a:tc>
                <a:tc>
                  <a:txBody>
                    <a:bodyPr/>
                    <a:lstStyle/>
                    <a:p>
                      <a:pPr algn="ctr" fontAlgn="ctr"/>
                      <a:r>
                        <a:rPr lang="en-IN" sz="1200" u="none" strike="noStrike">
                          <a:effectLst/>
                          <a:latin typeface="Grandview" panose="020B0502040204020203" pitchFamily="34" charset="0"/>
                        </a:rPr>
                        <a:t>55</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50.5%</a:t>
                      </a:r>
                      <a:endParaRPr lang="en-IN" sz="1200" b="0"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1730754071"/>
                  </a:ext>
                </a:extLst>
              </a:tr>
              <a:tr h="300398">
                <a:tc>
                  <a:txBody>
                    <a:bodyPr/>
                    <a:lstStyle/>
                    <a:p>
                      <a:pPr algn="ctr" fontAlgn="t"/>
                      <a:r>
                        <a:rPr lang="en-IN" sz="1200" b="1" u="none" strike="noStrike" dirty="0">
                          <a:effectLst/>
                          <a:latin typeface="Grandview" panose="020B0502040204020203" pitchFamily="34" charset="0"/>
                        </a:rPr>
                        <a:t>Total</a:t>
                      </a:r>
                      <a:endParaRPr lang="en-IN" sz="1200" b="1" i="0" u="none" strike="noStrike" dirty="0">
                        <a:solidFill>
                          <a:srgbClr val="000000"/>
                        </a:solidFill>
                        <a:effectLst/>
                        <a:latin typeface="Grandview" panose="020B0502040204020203" pitchFamily="34" charset="0"/>
                      </a:endParaRPr>
                    </a:p>
                  </a:txBody>
                  <a:tcPr marL="7620" marR="7620" marT="7620" marB="0"/>
                </a:tc>
                <a:tc>
                  <a:txBody>
                    <a:bodyPr/>
                    <a:lstStyle/>
                    <a:p>
                      <a:pPr algn="ctr" fontAlgn="ctr"/>
                      <a:r>
                        <a:rPr lang="en-IN" sz="1200" b="1" u="none" strike="noStrike" dirty="0">
                          <a:effectLst/>
                          <a:latin typeface="Grandview" panose="020B0502040204020203" pitchFamily="34" charset="0"/>
                        </a:rPr>
                        <a:t>109</a:t>
                      </a:r>
                      <a:endParaRPr lang="en-IN" sz="12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1" u="none" strike="noStrike" dirty="0">
                          <a:effectLst/>
                          <a:latin typeface="Grandview" panose="020B0502040204020203" pitchFamily="34" charset="0"/>
                        </a:rPr>
                        <a:t>100.0</a:t>
                      </a:r>
                      <a:endParaRPr lang="en-IN" sz="1200" b="1"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972140419"/>
                  </a:ext>
                </a:extLst>
              </a:tr>
            </a:tbl>
          </a:graphicData>
        </a:graphic>
      </p:graphicFrame>
      <p:sp>
        <p:nvSpPr>
          <p:cNvPr id="4" name="TextBox 3">
            <a:extLst>
              <a:ext uri="{FF2B5EF4-FFF2-40B4-BE49-F238E27FC236}">
                <a16:creationId xmlns:a16="http://schemas.microsoft.com/office/drawing/2014/main" id="{FB253310-2F02-104A-EF03-09BFAF458517}"/>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12</a:t>
            </a:r>
            <a:endParaRPr lang="en-IN" dirty="0">
              <a:solidFill>
                <a:sysClr val="windowText" lastClr="000000"/>
              </a:solidFill>
            </a:endParaRPr>
          </a:p>
        </p:txBody>
      </p:sp>
    </p:spTree>
    <p:extLst>
      <p:ext uri="{BB962C8B-B14F-4D97-AF65-F5344CB8AC3E}">
        <p14:creationId xmlns:p14="http://schemas.microsoft.com/office/powerpoint/2010/main" val="3189608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8" name="Google Shape;1713;p43">
            <a:extLst>
              <a:ext uri="{FF2B5EF4-FFF2-40B4-BE49-F238E27FC236}">
                <a16:creationId xmlns:a16="http://schemas.microsoft.com/office/drawing/2014/main" id="{54AFEFEF-00AB-2CF1-636D-F72AD162DDD3}"/>
              </a:ext>
            </a:extLst>
          </p:cNvPr>
          <p:cNvSpPr txBox="1">
            <a:spLocks noGrp="1"/>
          </p:cNvSpPr>
          <p:nvPr>
            <p:ph type="body" idx="1"/>
          </p:nvPr>
        </p:nvSpPr>
        <p:spPr>
          <a:xfrm>
            <a:off x="603807" y="610184"/>
            <a:ext cx="7936386" cy="3923131"/>
          </a:xfrm>
          <a:prstGeom prst="rect">
            <a:avLst/>
          </a:prstGeom>
        </p:spPr>
        <p:txBody>
          <a:bodyPr spcFirstLastPara="1" wrap="square" lIns="91425" tIns="91425" rIns="91425" bIns="91425" anchor="t" anchorCtr="0">
            <a:noAutofit/>
          </a:bodyPr>
          <a:lstStyle/>
          <a:p>
            <a:pPr marL="285750" indent="-285750"/>
            <a:r>
              <a:rPr lang="en-US" sz="1400" i="0" dirty="0">
                <a:solidFill>
                  <a:srgbClr val="212121"/>
                </a:solidFill>
                <a:effectLst/>
                <a:latin typeface="Grandview" panose="020B0502040204020203" pitchFamily="34" charset="0"/>
              </a:rPr>
              <a:t>From the </a:t>
            </a:r>
            <a:r>
              <a:rPr lang="en-US" sz="1400" dirty="0">
                <a:solidFill>
                  <a:srgbClr val="212121"/>
                </a:solidFill>
                <a:latin typeface="Grandview" panose="020B0502040204020203" pitchFamily="34" charset="0"/>
              </a:rPr>
              <a:t>given table, it can be observed that the sample is divided into </a:t>
            </a:r>
            <a:r>
              <a:rPr lang="en-US" sz="1400" b="1" dirty="0">
                <a:solidFill>
                  <a:srgbClr val="212121"/>
                </a:solidFill>
                <a:latin typeface="Grandview" panose="020B0502040204020203" pitchFamily="34" charset="0"/>
              </a:rPr>
              <a:t>Male</a:t>
            </a:r>
            <a:r>
              <a:rPr lang="en-US" sz="1400" dirty="0">
                <a:solidFill>
                  <a:srgbClr val="212121"/>
                </a:solidFill>
                <a:latin typeface="Grandview" panose="020B0502040204020203" pitchFamily="34" charset="0"/>
              </a:rPr>
              <a:t> and </a:t>
            </a:r>
            <a:r>
              <a:rPr lang="en-US" sz="1400" b="1" dirty="0">
                <a:solidFill>
                  <a:srgbClr val="212121"/>
                </a:solidFill>
                <a:latin typeface="Grandview" panose="020B0502040204020203" pitchFamily="34" charset="0"/>
              </a:rPr>
              <a:t>Female</a:t>
            </a:r>
            <a:r>
              <a:rPr lang="en-US" sz="1400" dirty="0">
                <a:solidFill>
                  <a:srgbClr val="212121"/>
                </a:solidFill>
                <a:latin typeface="Grandview" panose="020B0502040204020203" pitchFamily="34" charset="0"/>
              </a:rPr>
              <a:t> as </a:t>
            </a:r>
            <a:r>
              <a:rPr lang="en-US" sz="1400" b="1" dirty="0">
                <a:solidFill>
                  <a:srgbClr val="212121"/>
                </a:solidFill>
                <a:latin typeface="Grandview" panose="020B0502040204020203" pitchFamily="34" charset="0"/>
              </a:rPr>
              <a:t>49.5%</a:t>
            </a:r>
            <a:r>
              <a:rPr lang="en-US" sz="1400" dirty="0">
                <a:solidFill>
                  <a:srgbClr val="212121"/>
                </a:solidFill>
                <a:latin typeface="Grandview" panose="020B0502040204020203" pitchFamily="34" charset="0"/>
              </a:rPr>
              <a:t> and </a:t>
            </a:r>
            <a:r>
              <a:rPr lang="en-US" sz="1400" b="1" dirty="0">
                <a:solidFill>
                  <a:srgbClr val="212121"/>
                </a:solidFill>
                <a:latin typeface="Grandview" panose="020B0502040204020203" pitchFamily="34" charset="0"/>
              </a:rPr>
              <a:t>50.5%</a:t>
            </a:r>
            <a:r>
              <a:rPr lang="en-US" sz="1400" dirty="0">
                <a:solidFill>
                  <a:srgbClr val="212121"/>
                </a:solidFill>
                <a:latin typeface="Grandview" panose="020B0502040204020203" pitchFamily="34" charset="0"/>
              </a:rPr>
              <a:t>.</a:t>
            </a: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r>
              <a:rPr lang="en-US" sz="1400" i="0" dirty="0">
                <a:solidFill>
                  <a:srgbClr val="212121"/>
                </a:solidFill>
                <a:effectLst/>
                <a:latin typeface="Grandview" panose="020B0502040204020203" pitchFamily="34" charset="0"/>
              </a:rPr>
              <a:t>Now, in the frequency distribution for </a:t>
            </a:r>
            <a:r>
              <a:rPr lang="en-US" sz="1400" b="1" i="0" dirty="0">
                <a:solidFill>
                  <a:srgbClr val="212121"/>
                </a:solidFill>
                <a:effectLst/>
                <a:latin typeface="Grandview" panose="020B0502040204020203" pitchFamily="34" charset="0"/>
              </a:rPr>
              <a:t>Age</a:t>
            </a:r>
            <a:r>
              <a:rPr lang="en-US" sz="1400" i="0" dirty="0">
                <a:solidFill>
                  <a:srgbClr val="212121"/>
                </a:solidFill>
                <a:effectLst/>
                <a:latin typeface="Grandview" panose="020B0502040204020203" pitchFamily="34" charset="0"/>
              </a:rPr>
              <a:t>, it can be observed that the sample is divided into the age groups of </a:t>
            </a:r>
            <a:r>
              <a:rPr lang="en-US" sz="1400" b="1" i="0" dirty="0">
                <a:solidFill>
                  <a:srgbClr val="212121"/>
                </a:solidFill>
                <a:effectLst/>
                <a:latin typeface="Grandview" panose="020B0502040204020203" pitchFamily="34" charset="0"/>
              </a:rPr>
              <a:t>(&lt;18)</a:t>
            </a:r>
            <a:r>
              <a:rPr lang="en-US" sz="1400" i="0" dirty="0">
                <a:solidFill>
                  <a:srgbClr val="212121"/>
                </a:solidFill>
                <a:effectLst/>
                <a:latin typeface="Grandview" panose="020B0502040204020203" pitchFamily="34" charset="0"/>
              </a:rPr>
              <a:t>, </a:t>
            </a:r>
            <a:r>
              <a:rPr lang="en-US" sz="1400" b="1" i="0" dirty="0">
                <a:solidFill>
                  <a:srgbClr val="212121"/>
                </a:solidFill>
                <a:effectLst/>
                <a:latin typeface="Grandview" panose="020B0502040204020203" pitchFamily="34" charset="0"/>
              </a:rPr>
              <a:t>(18 – 21)</a:t>
            </a:r>
            <a:r>
              <a:rPr lang="en-US" sz="1400" i="0" dirty="0">
                <a:solidFill>
                  <a:srgbClr val="212121"/>
                </a:solidFill>
                <a:effectLst/>
                <a:latin typeface="Grandview" panose="020B0502040204020203" pitchFamily="34" charset="0"/>
              </a:rPr>
              <a:t>, and </a:t>
            </a:r>
            <a:r>
              <a:rPr lang="en-US" sz="1400" b="1" i="0" dirty="0">
                <a:solidFill>
                  <a:srgbClr val="212121"/>
                </a:solidFill>
                <a:effectLst/>
                <a:latin typeface="Grandview" panose="020B0502040204020203" pitchFamily="34" charset="0"/>
              </a:rPr>
              <a:t>(22 – 25) </a:t>
            </a:r>
            <a:r>
              <a:rPr lang="en-US" sz="1400" i="0" dirty="0">
                <a:solidFill>
                  <a:srgbClr val="212121"/>
                </a:solidFill>
                <a:effectLst/>
                <a:latin typeface="Grandview" panose="020B0502040204020203" pitchFamily="34" charset="0"/>
              </a:rPr>
              <a:t>as </a:t>
            </a:r>
            <a:r>
              <a:rPr lang="en-US" sz="1400" b="1" i="0" dirty="0">
                <a:solidFill>
                  <a:srgbClr val="212121"/>
                </a:solidFill>
                <a:effectLst/>
                <a:latin typeface="Grandview" panose="020B0502040204020203" pitchFamily="34" charset="0"/>
              </a:rPr>
              <a:t>6.4%</a:t>
            </a:r>
            <a:r>
              <a:rPr lang="en-US" sz="1400" i="0" dirty="0">
                <a:solidFill>
                  <a:srgbClr val="212121"/>
                </a:solidFill>
                <a:effectLst/>
                <a:latin typeface="Grandview" panose="020B0502040204020203" pitchFamily="34" charset="0"/>
              </a:rPr>
              <a:t>, </a:t>
            </a:r>
            <a:r>
              <a:rPr lang="en-US" sz="1400" b="1" i="0" dirty="0">
                <a:solidFill>
                  <a:srgbClr val="212121"/>
                </a:solidFill>
                <a:effectLst/>
                <a:latin typeface="Grandview" panose="020B0502040204020203" pitchFamily="34" charset="0"/>
              </a:rPr>
              <a:t>58.7%</a:t>
            </a:r>
            <a:r>
              <a:rPr lang="en-US" sz="1400" i="0" dirty="0">
                <a:solidFill>
                  <a:srgbClr val="212121"/>
                </a:solidFill>
                <a:effectLst/>
                <a:latin typeface="Grandview" panose="020B0502040204020203" pitchFamily="34" charset="0"/>
              </a:rPr>
              <a:t> and </a:t>
            </a:r>
            <a:r>
              <a:rPr lang="en-US" sz="1400" b="1" i="0" dirty="0">
                <a:solidFill>
                  <a:srgbClr val="212121"/>
                </a:solidFill>
                <a:effectLst/>
                <a:latin typeface="Grandview" panose="020B0502040204020203" pitchFamily="34" charset="0"/>
              </a:rPr>
              <a:t>34.9%</a:t>
            </a:r>
            <a:r>
              <a:rPr lang="en-US" sz="1400" i="0" dirty="0">
                <a:solidFill>
                  <a:srgbClr val="212121"/>
                </a:solidFill>
                <a:effectLst/>
                <a:latin typeface="Grandview" panose="020B0502040204020203" pitchFamily="34" charset="0"/>
              </a:rPr>
              <a:t> respectively.</a:t>
            </a:r>
          </a:p>
          <a:p>
            <a:pPr marL="285750" indent="-285750"/>
            <a:endParaRPr lang="en-US" sz="1400" b="1" i="0" dirty="0">
              <a:solidFill>
                <a:srgbClr val="212121"/>
              </a:solidFill>
              <a:effectLst/>
              <a:latin typeface="Grandview" panose="020B0502040204020203" pitchFamily="34" charset="0"/>
            </a:endParaRPr>
          </a:p>
        </p:txBody>
      </p:sp>
      <p:graphicFrame>
        <p:nvGraphicFramePr>
          <p:cNvPr id="3" name="Table 2">
            <a:extLst>
              <a:ext uri="{FF2B5EF4-FFF2-40B4-BE49-F238E27FC236}">
                <a16:creationId xmlns:a16="http://schemas.microsoft.com/office/drawing/2014/main" id="{B63D88E6-B6F4-80FC-23BF-DF8C828C6471}"/>
              </a:ext>
            </a:extLst>
          </p:cNvPr>
          <p:cNvGraphicFramePr>
            <a:graphicFrameLocks noGrp="1"/>
          </p:cNvGraphicFramePr>
          <p:nvPr>
            <p:extLst>
              <p:ext uri="{D42A27DB-BD31-4B8C-83A1-F6EECF244321}">
                <p14:modId xmlns:p14="http://schemas.microsoft.com/office/powerpoint/2010/main" val="4286326329"/>
              </p:ext>
            </p:extLst>
          </p:nvPr>
        </p:nvGraphicFramePr>
        <p:xfrm>
          <a:off x="2692400" y="1393372"/>
          <a:ext cx="3759200" cy="1754324"/>
        </p:xfrm>
        <a:graphic>
          <a:graphicData uri="http://schemas.openxmlformats.org/drawingml/2006/table">
            <a:tbl>
              <a:tblPr>
                <a:tableStyleId>{3C2FFA5D-87B4-456A-9821-1D502468CF0F}</a:tableStyleId>
              </a:tblPr>
              <a:tblGrid>
                <a:gridCol w="1838561">
                  <a:extLst>
                    <a:ext uri="{9D8B030D-6E8A-4147-A177-3AD203B41FA5}">
                      <a16:colId xmlns:a16="http://schemas.microsoft.com/office/drawing/2014/main" val="316931764"/>
                    </a:ext>
                  </a:extLst>
                </a:gridCol>
                <a:gridCol w="1132685">
                  <a:extLst>
                    <a:ext uri="{9D8B030D-6E8A-4147-A177-3AD203B41FA5}">
                      <a16:colId xmlns:a16="http://schemas.microsoft.com/office/drawing/2014/main" val="4274264939"/>
                    </a:ext>
                  </a:extLst>
                </a:gridCol>
                <a:gridCol w="787954">
                  <a:extLst>
                    <a:ext uri="{9D8B030D-6E8A-4147-A177-3AD203B41FA5}">
                      <a16:colId xmlns:a16="http://schemas.microsoft.com/office/drawing/2014/main" val="2535979850"/>
                    </a:ext>
                  </a:extLst>
                </a:gridCol>
              </a:tblGrid>
              <a:tr h="288382">
                <a:tc gridSpan="3">
                  <a:txBody>
                    <a:bodyPr/>
                    <a:lstStyle/>
                    <a:p>
                      <a:pPr algn="ctr" fontAlgn="ctr"/>
                      <a:r>
                        <a:rPr lang="en-IN" sz="1200" b="1" u="sng" strike="noStrike" dirty="0">
                          <a:solidFill>
                            <a:schemeClr val="bg1"/>
                          </a:solidFill>
                          <a:effectLst/>
                          <a:latin typeface="Grandview" panose="020B0502040204020203" pitchFamily="34" charset="0"/>
                        </a:rPr>
                        <a:t>Age</a:t>
                      </a:r>
                      <a:endParaRPr lang="en-IN" sz="1200" b="1" i="0" u="sng" strike="noStrike" dirty="0">
                        <a:solidFill>
                          <a:schemeClr val="bg1"/>
                        </a:solidFill>
                        <a:effectLst/>
                        <a:latin typeface="Grandview" panose="020B0502040204020203" pitchFamily="34" charset="0"/>
                      </a:endParaRPr>
                    </a:p>
                  </a:txBody>
                  <a:tcPr marL="7620" marR="7620" marT="7620" marB="0" anchor="ctr">
                    <a:solidFill>
                      <a:srgbClr val="126B85"/>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244325210"/>
                  </a:ext>
                </a:extLst>
              </a:tr>
              <a:tr h="300398">
                <a:tc>
                  <a:txBody>
                    <a:bodyPr/>
                    <a:lstStyle/>
                    <a:p>
                      <a:pPr algn="ctr" fontAlgn="b"/>
                      <a:r>
                        <a:rPr lang="en-IN" sz="1200" b="1" u="none" strike="noStrike" dirty="0">
                          <a:effectLst/>
                          <a:latin typeface="Grandview" panose="020B0502040204020203" pitchFamily="34" charset="0"/>
                        </a:rPr>
                        <a:t> Choice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accent2">
                        <a:lumMod val="10000"/>
                        <a:lumOff val="90000"/>
                      </a:schemeClr>
                    </a:solidFill>
                  </a:tcPr>
                </a:tc>
                <a:tc>
                  <a:txBody>
                    <a:bodyPr/>
                    <a:lstStyle/>
                    <a:p>
                      <a:pPr algn="ctr" fontAlgn="b"/>
                      <a:r>
                        <a:rPr lang="en-IN" sz="1200" b="1" u="none" strike="noStrike" dirty="0">
                          <a:effectLst/>
                          <a:latin typeface="Grandview" panose="020B0502040204020203" pitchFamily="34" charset="0"/>
                        </a:rPr>
                        <a:t>Frequency</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accent2">
                        <a:lumMod val="10000"/>
                        <a:lumOff val="90000"/>
                      </a:schemeClr>
                    </a:solidFill>
                  </a:tcPr>
                </a:tc>
                <a:tc>
                  <a:txBody>
                    <a:bodyPr/>
                    <a:lstStyle/>
                    <a:p>
                      <a:pPr algn="ctr" fontAlgn="b"/>
                      <a:r>
                        <a:rPr lang="en-IN" sz="1200" b="1" u="none" strike="noStrike" dirty="0">
                          <a:effectLst/>
                          <a:latin typeface="Grandview" panose="020B0502040204020203" pitchFamily="34" charset="0"/>
                        </a:rPr>
                        <a:t>Percent</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accent2">
                        <a:lumMod val="10000"/>
                        <a:lumOff val="90000"/>
                      </a:schemeClr>
                    </a:solidFill>
                  </a:tcPr>
                </a:tc>
                <a:extLst>
                  <a:ext uri="{0D108BD9-81ED-4DB2-BD59-A6C34878D82A}">
                    <a16:rowId xmlns:a16="http://schemas.microsoft.com/office/drawing/2014/main" val="1189886766"/>
                  </a:ext>
                </a:extLst>
              </a:tr>
              <a:tr h="288382">
                <a:tc>
                  <a:txBody>
                    <a:bodyPr/>
                    <a:lstStyle/>
                    <a:p>
                      <a:pPr algn="ctr" fontAlgn="t"/>
                      <a:r>
                        <a:rPr lang="en-IN" sz="1200" u="none" strike="noStrike" dirty="0">
                          <a:effectLst/>
                          <a:latin typeface="Grandview" panose="020B0502040204020203" pitchFamily="34" charset="0"/>
                        </a:rPr>
                        <a:t>&lt;18</a:t>
                      </a:r>
                      <a:endParaRPr lang="en-IN" sz="1200" b="0" i="0" u="none" strike="noStrike" dirty="0">
                        <a:solidFill>
                          <a:srgbClr val="000000"/>
                        </a:solidFill>
                        <a:effectLst/>
                        <a:latin typeface="Grandview" panose="020B0502040204020203" pitchFamily="34" charset="0"/>
                      </a:endParaRPr>
                    </a:p>
                  </a:txBody>
                  <a:tcPr marL="7620" marR="7620" marT="7620" marB="0"/>
                </a:tc>
                <a:tc>
                  <a:txBody>
                    <a:bodyPr/>
                    <a:lstStyle/>
                    <a:p>
                      <a:pPr algn="ctr" fontAlgn="ctr"/>
                      <a:r>
                        <a:rPr lang="en-IN" sz="1200" b="0" i="0" u="none" strike="noStrike" dirty="0">
                          <a:solidFill>
                            <a:srgbClr val="000000"/>
                          </a:solidFill>
                          <a:effectLst/>
                          <a:latin typeface="Grandview" panose="020B0502040204020203" pitchFamily="34" charset="0"/>
                        </a:rPr>
                        <a:t>7</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6.4</a:t>
                      </a:r>
                    </a:p>
                  </a:txBody>
                  <a:tcPr marL="7620" marR="7620" marT="7620" marB="0" anchor="ctr"/>
                </a:tc>
                <a:extLst>
                  <a:ext uri="{0D108BD9-81ED-4DB2-BD59-A6C34878D82A}">
                    <a16:rowId xmlns:a16="http://schemas.microsoft.com/office/drawing/2014/main" val="239389141"/>
                  </a:ext>
                </a:extLst>
              </a:tr>
              <a:tr h="288382">
                <a:tc>
                  <a:txBody>
                    <a:bodyPr/>
                    <a:lstStyle/>
                    <a:p>
                      <a:pPr algn="ctr" fontAlgn="t"/>
                      <a:r>
                        <a:rPr lang="en-IN" sz="1200" b="0" i="0" u="none" strike="noStrike" dirty="0">
                          <a:solidFill>
                            <a:srgbClr val="000000"/>
                          </a:solidFill>
                          <a:effectLst/>
                          <a:latin typeface="Grandview" panose="020B0502040204020203" pitchFamily="34" charset="0"/>
                        </a:rPr>
                        <a:t>18-21</a:t>
                      </a:r>
                    </a:p>
                  </a:txBody>
                  <a:tcPr marL="7620" marR="7620" marT="7620" marB="0"/>
                </a:tc>
                <a:tc>
                  <a:txBody>
                    <a:bodyPr/>
                    <a:lstStyle/>
                    <a:p>
                      <a:pPr algn="ctr" fontAlgn="ctr"/>
                      <a:r>
                        <a:rPr lang="en-IN" sz="1200" b="0" i="0" u="none" strike="noStrike" dirty="0">
                          <a:solidFill>
                            <a:srgbClr val="000000"/>
                          </a:solidFill>
                          <a:effectLst/>
                          <a:latin typeface="Grandview" panose="020B0502040204020203" pitchFamily="34" charset="0"/>
                        </a:rPr>
                        <a:t>64</a:t>
                      </a:r>
                    </a:p>
                  </a:txBody>
                  <a:tcPr marL="7620" marR="7620" marT="7620" marB="0" anchor="ctr"/>
                </a:tc>
                <a:tc>
                  <a:txBody>
                    <a:bodyPr/>
                    <a:lstStyle/>
                    <a:p>
                      <a:pPr algn="ctr" fontAlgn="ctr"/>
                      <a:r>
                        <a:rPr lang="en-IN" sz="1200" b="0" i="0" u="none" strike="noStrike" dirty="0">
                          <a:solidFill>
                            <a:srgbClr val="000000"/>
                          </a:solidFill>
                          <a:effectLst/>
                          <a:latin typeface="Grandview" panose="020B0502040204020203" pitchFamily="34" charset="0"/>
                        </a:rPr>
                        <a:t>58.7</a:t>
                      </a:r>
                    </a:p>
                  </a:txBody>
                  <a:tcPr marL="7620" marR="7620" marT="7620" marB="0" anchor="ctr"/>
                </a:tc>
                <a:extLst>
                  <a:ext uri="{0D108BD9-81ED-4DB2-BD59-A6C34878D82A}">
                    <a16:rowId xmlns:a16="http://schemas.microsoft.com/office/drawing/2014/main" val="1730754071"/>
                  </a:ext>
                </a:extLst>
              </a:tr>
              <a:tr h="288382">
                <a:tc>
                  <a:txBody>
                    <a:bodyPr/>
                    <a:lstStyle/>
                    <a:p>
                      <a:pPr algn="ctr" fontAlgn="t"/>
                      <a:r>
                        <a:rPr lang="en-IN" sz="1200" b="0" i="0" u="none" strike="noStrike" dirty="0">
                          <a:solidFill>
                            <a:srgbClr val="000000"/>
                          </a:solidFill>
                          <a:effectLst/>
                          <a:latin typeface="Grandview" panose="020B0502040204020203" pitchFamily="34" charset="0"/>
                        </a:rPr>
                        <a:t>22-25</a:t>
                      </a:r>
                    </a:p>
                  </a:txBody>
                  <a:tcPr marL="7620" marR="7620" marT="7620" marB="0"/>
                </a:tc>
                <a:tc>
                  <a:txBody>
                    <a:bodyPr/>
                    <a:lstStyle/>
                    <a:p>
                      <a:pPr algn="ctr" fontAlgn="ctr"/>
                      <a:r>
                        <a:rPr lang="en-IN" sz="1200" b="0" i="0" u="none" strike="noStrike" dirty="0">
                          <a:solidFill>
                            <a:srgbClr val="000000"/>
                          </a:solidFill>
                          <a:effectLst/>
                          <a:latin typeface="Grandview" panose="020B0502040204020203" pitchFamily="34" charset="0"/>
                        </a:rPr>
                        <a:t>38</a:t>
                      </a:r>
                    </a:p>
                  </a:txBody>
                  <a:tcPr marL="7620" marR="7620" marT="7620" marB="0" anchor="ctr"/>
                </a:tc>
                <a:tc>
                  <a:txBody>
                    <a:bodyPr/>
                    <a:lstStyle/>
                    <a:p>
                      <a:pPr algn="ctr" fontAlgn="ctr"/>
                      <a:r>
                        <a:rPr lang="en-IN" sz="1200" b="0" i="0" u="none" strike="noStrike" dirty="0">
                          <a:solidFill>
                            <a:srgbClr val="000000"/>
                          </a:solidFill>
                          <a:effectLst/>
                          <a:latin typeface="Grandview" panose="020B0502040204020203" pitchFamily="34" charset="0"/>
                        </a:rPr>
                        <a:t>34.9</a:t>
                      </a:r>
                    </a:p>
                  </a:txBody>
                  <a:tcPr marL="7620" marR="7620" marT="7620" marB="0" anchor="ctr"/>
                </a:tc>
                <a:extLst>
                  <a:ext uri="{0D108BD9-81ED-4DB2-BD59-A6C34878D82A}">
                    <a16:rowId xmlns:a16="http://schemas.microsoft.com/office/drawing/2014/main" val="3258917538"/>
                  </a:ext>
                </a:extLst>
              </a:tr>
              <a:tr h="300398">
                <a:tc>
                  <a:txBody>
                    <a:bodyPr/>
                    <a:lstStyle/>
                    <a:p>
                      <a:pPr algn="ctr" fontAlgn="t"/>
                      <a:r>
                        <a:rPr lang="en-IN" sz="1200" b="1" u="none" strike="noStrike" dirty="0">
                          <a:effectLst/>
                          <a:latin typeface="Grandview" panose="020B0502040204020203" pitchFamily="34" charset="0"/>
                        </a:rPr>
                        <a:t>Total</a:t>
                      </a:r>
                      <a:endParaRPr lang="en-IN" sz="1200" b="1" i="0" u="none" strike="noStrike" dirty="0">
                        <a:solidFill>
                          <a:srgbClr val="000000"/>
                        </a:solidFill>
                        <a:effectLst/>
                        <a:latin typeface="Grandview" panose="020B0502040204020203" pitchFamily="34" charset="0"/>
                      </a:endParaRPr>
                    </a:p>
                  </a:txBody>
                  <a:tcPr marL="7620" marR="7620" marT="7620" marB="0"/>
                </a:tc>
                <a:tc>
                  <a:txBody>
                    <a:bodyPr/>
                    <a:lstStyle/>
                    <a:p>
                      <a:pPr algn="ctr" fontAlgn="ctr"/>
                      <a:r>
                        <a:rPr lang="en-IN" sz="1200" b="1" u="none" strike="noStrike" dirty="0">
                          <a:effectLst/>
                          <a:latin typeface="Grandview" panose="020B0502040204020203" pitchFamily="34" charset="0"/>
                        </a:rPr>
                        <a:t>109</a:t>
                      </a:r>
                      <a:endParaRPr lang="en-IN" sz="12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1" u="none" strike="noStrike" dirty="0">
                          <a:effectLst/>
                          <a:latin typeface="Grandview" panose="020B0502040204020203" pitchFamily="34" charset="0"/>
                        </a:rPr>
                        <a:t>100.0</a:t>
                      </a:r>
                      <a:endParaRPr lang="en-IN" sz="1200" b="1"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972140419"/>
                  </a:ext>
                </a:extLst>
              </a:tr>
            </a:tbl>
          </a:graphicData>
        </a:graphic>
      </p:graphicFrame>
      <p:sp>
        <p:nvSpPr>
          <p:cNvPr id="2" name="TextBox 1">
            <a:extLst>
              <a:ext uri="{FF2B5EF4-FFF2-40B4-BE49-F238E27FC236}">
                <a16:creationId xmlns:a16="http://schemas.microsoft.com/office/drawing/2014/main" id="{2474CBB0-1AFE-8BDF-1B33-237811C0DE85}"/>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13</a:t>
            </a:r>
            <a:endParaRPr lang="en-IN" dirty="0">
              <a:solidFill>
                <a:sysClr val="windowText" lastClr="000000"/>
              </a:solidFill>
            </a:endParaRPr>
          </a:p>
        </p:txBody>
      </p:sp>
    </p:spTree>
    <p:extLst>
      <p:ext uri="{BB962C8B-B14F-4D97-AF65-F5344CB8AC3E}">
        <p14:creationId xmlns:p14="http://schemas.microsoft.com/office/powerpoint/2010/main" val="983057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8" name="Google Shape;1713;p43">
            <a:extLst>
              <a:ext uri="{FF2B5EF4-FFF2-40B4-BE49-F238E27FC236}">
                <a16:creationId xmlns:a16="http://schemas.microsoft.com/office/drawing/2014/main" id="{54AFEFEF-00AB-2CF1-636D-F72AD162DDD3}"/>
              </a:ext>
            </a:extLst>
          </p:cNvPr>
          <p:cNvSpPr txBox="1">
            <a:spLocks noGrp="1"/>
          </p:cNvSpPr>
          <p:nvPr>
            <p:ph type="body" idx="1"/>
          </p:nvPr>
        </p:nvSpPr>
        <p:spPr>
          <a:xfrm>
            <a:off x="603807" y="465041"/>
            <a:ext cx="7936386" cy="3923131"/>
          </a:xfrm>
          <a:prstGeom prst="rect">
            <a:avLst/>
          </a:prstGeom>
        </p:spPr>
        <p:txBody>
          <a:bodyPr spcFirstLastPara="1" wrap="square" lIns="91425" tIns="91425" rIns="91425" bIns="91425" anchor="t" anchorCtr="0">
            <a:noAutofit/>
          </a:bodyPr>
          <a:lstStyle/>
          <a:p>
            <a:pPr marL="0" indent="0">
              <a:buNone/>
            </a:pPr>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r>
              <a:rPr lang="en-US" sz="1400" i="0" dirty="0">
                <a:solidFill>
                  <a:srgbClr val="212121"/>
                </a:solidFill>
                <a:effectLst/>
                <a:latin typeface="Grandview" panose="020B0502040204020203" pitchFamily="34" charset="0"/>
              </a:rPr>
              <a:t>Now, in the frequency distribution for </a:t>
            </a:r>
            <a:r>
              <a:rPr lang="en-US" sz="1400" b="1" i="0" dirty="0">
                <a:solidFill>
                  <a:srgbClr val="212121"/>
                </a:solidFill>
                <a:effectLst/>
                <a:latin typeface="Grandview" panose="020B0502040204020203" pitchFamily="34" charset="0"/>
              </a:rPr>
              <a:t>Education Level</a:t>
            </a:r>
            <a:r>
              <a:rPr lang="en-US" sz="1400" i="0" dirty="0">
                <a:solidFill>
                  <a:srgbClr val="212121"/>
                </a:solidFill>
                <a:effectLst/>
                <a:latin typeface="Grandview" panose="020B0502040204020203" pitchFamily="34" charset="0"/>
              </a:rPr>
              <a:t>, it can be observed that the sample obtained is divided into the groups of </a:t>
            </a:r>
            <a:r>
              <a:rPr lang="en-US" sz="1400" b="1" i="0" dirty="0">
                <a:solidFill>
                  <a:srgbClr val="212121"/>
                </a:solidFill>
                <a:effectLst/>
                <a:latin typeface="Grandview" panose="020B0502040204020203" pitchFamily="34" charset="0"/>
              </a:rPr>
              <a:t>High School / Diploma</a:t>
            </a:r>
            <a:r>
              <a:rPr lang="en-US" sz="1400" i="0" dirty="0">
                <a:solidFill>
                  <a:srgbClr val="212121"/>
                </a:solidFill>
                <a:effectLst/>
                <a:latin typeface="Grandview" panose="020B0502040204020203" pitchFamily="34" charset="0"/>
              </a:rPr>
              <a:t>, </a:t>
            </a:r>
            <a:r>
              <a:rPr lang="en-US" sz="1400" b="1" dirty="0">
                <a:solidFill>
                  <a:srgbClr val="212121"/>
                </a:solidFill>
                <a:latin typeface="Grandview" panose="020B0502040204020203" pitchFamily="34" charset="0"/>
              </a:rPr>
              <a:t>Undergraduate</a:t>
            </a:r>
            <a:r>
              <a:rPr lang="en-US" sz="1400" i="0" dirty="0">
                <a:solidFill>
                  <a:srgbClr val="212121"/>
                </a:solidFill>
                <a:effectLst/>
                <a:latin typeface="Grandview" panose="020B0502040204020203" pitchFamily="34" charset="0"/>
              </a:rPr>
              <a:t>, and </a:t>
            </a:r>
            <a:r>
              <a:rPr lang="en-US" sz="1400" b="1" dirty="0">
                <a:solidFill>
                  <a:srgbClr val="212121"/>
                </a:solidFill>
                <a:latin typeface="Grandview" panose="020B0502040204020203" pitchFamily="34" charset="0"/>
              </a:rPr>
              <a:t>Postgraduate</a:t>
            </a:r>
            <a:r>
              <a:rPr lang="en-US" sz="1400" b="1" i="0" dirty="0">
                <a:solidFill>
                  <a:srgbClr val="212121"/>
                </a:solidFill>
                <a:effectLst/>
                <a:latin typeface="Grandview" panose="020B0502040204020203" pitchFamily="34" charset="0"/>
              </a:rPr>
              <a:t> </a:t>
            </a:r>
            <a:r>
              <a:rPr lang="en-US" sz="1400" i="0" dirty="0">
                <a:solidFill>
                  <a:srgbClr val="212121"/>
                </a:solidFill>
                <a:effectLst/>
                <a:latin typeface="Grandview" panose="020B0502040204020203" pitchFamily="34" charset="0"/>
              </a:rPr>
              <a:t>as </a:t>
            </a:r>
            <a:r>
              <a:rPr lang="en-US" sz="1400" b="1" dirty="0">
                <a:solidFill>
                  <a:srgbClr val="212121"/>
                </a:solidFill>
                <a:latin typeface="Grandview" panose="020B0502040204020203" pitchFamily="34" charset="0"/>
              </a:rPr>
              <a:t>7.3</a:t>
            </a:r>
            <a:r>
              <a:rPr lang="en-US" sz="1400" b="1" i="0" dirty="0">
                <a:solidFill>
                  <a:srgbClr val="212121"/>
                </a:solidFill>
                <a:effectLst/>
                <a:latin typeface="Grandview" panose="020B0502040204020203" pitchFamily="34" charset="0"/>
              </a:rPr>
              <a:t>%</a:t>
            </a:r>
            <a:r>
              <a:rPr lang="en-US" sz="1400" i="0" dirty="0">
                <a:solidFill>
                  <a:srgbClr val="212121"/>
                </a:solidFill>
                <a:effectLst/>
                <a:latin typeface="Grandview" panose="020B0502040204020203" pitchFamily="34" charset="0"/>
              </a:rPr>
              <a:t>, </a:t>
            </a:r>
            <a:r>
              <a:rPr lang="en-US" sz="1400" b="1" dirty="0">
                <a:solidFill>
                  <a:srgbClr val="212121"/>
                </a:solidFill>
                <a:latin typeface="Grandview" panose="020B0502040204020203" pitchFamily="34" charset="0"/>
              </a:rPr>
              <a:t>65</a:t>
            </a:r>
            <a:r>
              <a:rPr lang="en-US" sz="1400" b="1" i="0" dirty="0">
                <a:solidFill>
                  <a:srgbClr val="212121"/>
                </a:solidFill>
                <a:effectLst/>
                <a:latin typeface="Grandview" panose="020B0502040204020203" pitchFamily="34" charset="0"/>
              </a:rPr>
              <a:t>.1%</a:t>
            </a:r>
            <a:r>
              <a:rPr lang="en-US" sz="1400" i="0" dirty="0">
                <a:solidFill>
                  <a:srgbClr val="212121"/>
                </a:solidFill>
                <a:effectLst/>
                <a:latin typeface="Grandview" panose="020B0502040204020203" pitchFamily="34" charset="0"/>
              </a:rPr>
              <a:t> and </a:t>
            </a:r>
            <a:r>
              <a:rPr lang="en-US" sz="1400" b="1" dirty="0">
                <a:solidFill>
                  <a:srgbClr val="212121"/>
                </a:solidFill>
                <a:latin typeface="Grandview" panose="020B0502040204020203" pitchFamily="34" charset="0"/>
              </a:rPr>
              <a:t>27</a:t>
            </a:r>
            <a:r>
              <a:rPr lang="en-US" sz="1400" b="1" i="0" dirty="0">
                <a:solidFill>
                  <a:srgbClr val="212121"/>
                </a:solidFill>
                <a:effectLst/>
                <a:latin typeface="Grandview" panose="020B0502040204020203" pitchFamily="34" charset="0"/>
              </a:rPr>
              <a:t>.5%</a:t>
            </a:r>
            <a:r>
              <a:rPr lang="en-US" sz="1400" i="0" dirty="0">
                <a:solidFill>
                  <a:srgbClr val="212121"/>
                </a:solidFill>
                <a:effectLst/>
                <a:latin typeface="Grandview" panose="020B0502040204020203" pitchFamily="34" charset="0"/>
              </a:rPr>
              <a:t> respectively.</a:t>
            </a:r>
          </a:p>
          <a:p>
            <a:pPr marL="285750" indent="-285750"/>
            <a:endParaRPr lang="en-US" sz="1400" b="1" i="0" dirty="0">
              <a:solidFill>
                <a:srgbClr val="212121"/>
              </a:solidFill>
              <a:effectLst/>
              <a:latin typeface="Grandview" panose="020B0502040204020203" pitchFamily="34" charset="0"/>
            </a:endParaRPr>
          </a:p>
        </p:txBody>
      </p:sp>
      <p:graphicFrame>
        <p:nvGraphicFramePr>
          <p:cNvPr id="3" name="Table 2">
            <a:extLst>
              <a:ext uri="{FF2B5EF4-FFF2-40B4-BE49-F238E27FC236}">
                <a16:creationId xmlns:a16="http://schemas.microsoft.com/office/drawing/2014/main" id="{B63D88E6-B6F4-80FC-23BF-DF8C828C6471}"/>
              </a:ext>
            </a:extLst>
          </p:cNvPr>
          <p:cNvGraphicFramePr>
            <a:graphicFrameLocks noGrp="1"/>
          </p:cNvGraphicFramePr>
          <p:nvPr>
            <p:extLst>
              <p:ext uri="{D42A27DB-BD31-4B8C-83A1-F6EECF244321}">
                <p14:modId xmlns:p14="http://schemas.microsoft.com/office/powerpoint/2010/main" val="2664528355"/>
              </p:ext>
            </p:extLst>
          </p:nvPr>
        </p:nvGraphicFramePr>
        <p:xfrm>
          <a:off x="2692400" y="998854"/>
          <a:ext cx="3759200" cy="1754324"/>
        </p:xfrm>
        <a:graphic>
          <a:graphicData uri="http://schemas.openxmlformats.org/drawingml/2006/table">
            <a:tbl>
              <a:tblPr>
                <a:tableStyleId>{3C2FFA5D-87B4-456A-9821-1D502468CF0F}</a:tableStyleId>
              </a:tblPr>
              <a:tblGrid>
                <a:gridCol w="1838561">
                  <a:extLst>
                    <a:ext uri="{9D8B030D-6E8A-4147-A177-3AD203B41FA5}">
                      <a16:colId xmlns:a16="http://schemas.microsoft.com/office/drawing/2014/main" val="316931764"/>
                    </a:ext>
                  </a:extLst>
                </a:gridCol>
                <a:gridCol w="1132685">
                  <a:extLst>
                    <a:ext uri="{9D8B030D-6E8A-4147-A177-3AD203B41FA5}">
                      <a16:colId xmlns:a16="http://schemas.microsoft.com/office/drawing/2014/main" val="4274264939"/>
                    </a:ext>
                  </a:extLst>
                </a:gridCol>
                <a:gridCol w="787954">
                  <a:extLst>
                    <a:ext uri="{9D8B030D-6E8A-4147-A177-3AD203B41FA5}">
                      <a16:colId xmlns:a16="http://schemas.microsoft.com/office/drawing/2014/main" val="2535979850"/>
                    </a:ext>
                  </a:extLst>
                </a:gridCol>
              </a:tblGrid>
              <a:tr h="288382">
                <a:tc gridSpan="3">
                  <a:txBody>
                    <a:bodyPr/>
                    <a:lstStyle/>
                    <a:p>
                      <a:pPr algn="ctr" fontAlgn="ctr"/>
                      <a:r>
                        <a:rPr lang="en-IN" sz="1200" b="1" u="sng" strike="noStrike" dirty="0">
                          <a:solidFill>
                            <a:schemeClr val="bg1"/>
                          </a:solidFill>
                          <a:effectLst/>
                          <a:latin typeface="Grandview" panose="020B0502040204020203" pitchFamily="34" charset="0"/>
                        </a:rPr>
                        <a:t>Education Level</a:t>
                      </a:r>
                      <a:endParaRPr lang="en-IN" sz="1200" b="1" i="0" u="sng" strike="noStrike" dirty="0">
                        <a:solidFill>
                          <a:schemeClr val="bg1"/>
                        </a:solidFill>
                        <a:effectLst/>
                        <a:latin typeface="Grandview" panose="020B0502040204020203" pitchFamily="34" charset="0"/>
                      </a:endParaRPr>
                    </a:p>
                  </a:txBody>
                  <a:tcPr marL="7620" marR="7620" marT="7620" marB="0" anchor="ctr">
                    <a:solidFill>
                      <a:srgbClr val="126B85"/>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244325210"/>
                  </a:ext>
                </a:extLst>
              </a:tr>
              <a:tr h="300398">
                <a:tc>
                  <a:txBody>
                    <a:bodyPr/>
                    <a:lstStyle/>
                    <a:p>
                      <a:pPr algn="ctr" fontAlgn="b"/>
                      <a:r>
                        <a:rPr lang="en-IN" sz="1200" b="1" u="none" strike="noStrike" dirty="0">
                          <a:effectLst/>
                          <a:latin typeface="Grandview" panose="020B0502040204020203" pitchFamily="34" charset="0"/>
                        </a:rPr>
                        <a:t> Choice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accent2">
                        <a:lumMod val="10000"/>
                        <a:lumOff val="90000"/>
                      </a:schemeClr>
                    </a:solidFill>
                  </a:tcPr>
                </a:tc>
                <a:tc>
                  <a:txBody>
                    <a:bodyPr/>
                    <a:lstStyle/>
                    <a:p>
                      <a:pPr algn="ctr" fontAlgn="b"/>
                      <a:r>
                        <a:rPr lang="en-IN" sz="1200" b="1" u="none" strike="noStrike" dirty="0">
                          <a:effectLst/>
                          <a:latin typeface="Grandview" panose="020B0502040204020203" pitchFamily="34" charset="0"/>
                        </a:rPr>
                        <a:t>Frequency</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accent2">
                        <a:lumMod val="10000"/>
                        <a:lumOff val="90000"/>
                      </a:schemeClr>
                    </a:solidFill>
                  </a:tcPr>
                </a:tc>
                <a:tc>
                  <a:txBody>
                    <a:bodyPr/>
                    <a:lstStyle/>
                    <a:p>
                      <a:pPr algn="ctr" fontAlgn="b"/>
                      <a:r>
                        <a:rPr lang="en-IN" sz="1200" b="1" u="none" strike="noStrike" dirty="0">
                          <a:effectLst/>
                          <a:latin typeface="Grandview" panose="020B0502040204020203" pitchFamily="34" charset="0"/>
                        </a:rPr>
                        <a:t>Percent</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accent2">
                        <a:lumMod val="10000"/>
                        <a:lumOff val="90000"/>
                      </a:schemeClr>
                    </a:solidFill>
                  </a:tcPr>
                </a:tc>
                <a:extLst>
                  <a:ext uri="{0D108BD9-81ED-4DB2-BD59-A6C34878D82A}">
                    <a16:rowId xmlns:a16="http://schemas.microsoft.com/office/drawing/2014/main" val="1189886766"/>
                  </a:ext>
                </a:extLst>
              </a:tr>
              <a:tr h="288382">
                <a:tc>
                  <a:txBody>
                    <a:bodyPr/>
                    <a:lstStyle/>
                    <a:p>
                      <a:pPr algn="ctr" fontAlgn="t"/>
                      <a:r>
                        <a:rPr lang="en-IN" sz="1200" b="0" i="0" u="none" strike="noStrike" dirty="0">
                          <a:solidFill>
                            <a:srgbClr val="000000"/>
                          </a:solidFill>
                          <a:effectLst/>
                          <a:latin typeface="Grandview" panose="020B0502040204020203" pitchFamily="34" charset="0"/>
                        </a:rPr>
                        <a:t>High School/ Diploma</a:t>
                      </a:r>
                    </a:p>
                  </a:txBody>
                  <a:tcPr marL="7620" marR="7620" marT="7620" marB="0"/>
                </a:tc>
                <a:tc>
                  <a:txBody>
                    <a:bodyPr/>
                    <a:lstStyle/>
                    <a:p>
                      <a:pPr algn="ctr" fontAlgn="ctr"/>
                      <a:r>
                        <a:rPr lang="en-IN" sz="1200" b="0" i="0" u="none" strike="noStrike" dirty="0">
                          <a:solidFill>
                            <a:srgbClr val="000000"/>
                          </a:solidFill>
                          <a:effectLst/>
                          <a:latin typeface="Grandview" panose="020B0502040204020203" pitchFamily="34" charset="0"/>
                        </a:rPr>
                        <a:t>8</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7.3</a:t>
                      </a:r>
                    </a:p>
                  </a:txBody>
                  <a:tcPr marL="7620" marR="7620" marT="7620" marB="0" anchor="ctr"/>
                </a:tc>
                <a:extLst>
                  <a:ext uri="{0D108BD9-81ED-4DB2-BD59-A6C34878D82A}">
                    <a16:rowId xmlns:a16="http://schemas.microsoft.com/office/drawing/2014/main" val="239389141"/>
                  </a:ext>
                </a:extLst>
              </a:tr>
              <a:tr h="288382">
                <a:tc>
                  <a:txBody>
                    <a:bodyPr/>
                    <a:lstStyle/>
                    <a:p>
                      <a:pPr algn="ctr" fontAlgn="t"/>
                      <a:r>
                        <a:rPr lang="en-IN" sz="1200" b="0" i="0" u="none" strike="noStrike" dirty="0">
                          <a:solidFill>
                            <a:srgbClr val="000000"/>
                          </a:solidFill>
                          <a:effectLst/>
                          <a:latin typeface="Grandview" panose="020B0502040204020203" pitchFamily="34" charset="0"/>
                        </a:rPr>
                        <a:t>Undergraduate level</a:t>
                      </a:r>
                    </a:p>
                  </a:txBody>
                  <a:tcPr marL="7620" marR="7620" marT="7620" marB="0"/>
                </a:tc>
                <a:tc>
                  <a:txBody>
                    <a:bodyPr/>
                    <a:lstStyle/>
                    <a:p>
                      <a:pPr algn="ctr" fontAlgn="ctr"/>
                      <a:r>
                        <a:rPr lang="en-IN" sz="1200" b="0" i="0" u="none" strike="noStrike" dirty="0">
                          <a:solidFill>
                            <a:srgbClr val="000000"/>
                          </a:solidFill>
                          <a:effectLst/>
                          <a:latin typeface="Grandview" panose="020B0502040204020203" pitchFamily="34" charset="0"/>
                        </a:rPr>
                        <a:t>71</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65.1</a:t>
                      </a:r>
                    </a:p>
                  </a:txBody>
                  <a:tcPr marL="7620" marR="7620" marT="7620" marB="0" anchor="ctr"/>
                </a:tc>
                <a:extLst>
                  <a:ext uri="{0D108BD9-81ED-4DB2-BD59-A6C34878D82A}">
                    <a16:rowId xmlns:a16="http://schemas.microsoft.com/office/drawing/2014/main" val="1730754071"/>
                  </a:ext>
                </a:extLst>
              </a:tr>
              <a:tr h="288382">
                <a:tc>
                  <a:txBody>
                    <a:bodyPr/>
                    <a:lstStyle/>
                    <a:p>
                      <a:pPr algn="ctr" fontAlgn="t"/>
                      <a:r>
                        <a:rPr lang="en-IN" sz="1200" b="0" i="0" u="none" strike="noStrike" dirty="0">
                          <a:solidFill>
                            <a:srgbClr val="000000"/>
                          </a:solidFill>
                          <a:effectLst/>
                          <a:latin typeface="Grandview" panose="020B0502040204020203" pitchFamily="34" charset="0"/>
                        </a:rPr>
                        <a:t>Postgraduate level</a:t>
                      </a:r>
                    </a:p>
                  </a:txBody>
                  <a:tcPr marL="7620" marR="7620" marT="7620" marB="0"/>
                </a:tc>
                <a:tc>
                  <a:txBody>
                    <a:bodyPr/>
                    <a:lstStyle/>
                    <a:p>
                      <a:pPr algn="ctr" fontAlgn="ctr"/>
                      <a:r>
                        <a:rPr lang="en-IN" sz="1200" b="0" i="0" u="none" strike="noStrike" dirty="0">
                          <a:solidFill>
                            <a:srgbClr val="000000"/>
                          </a:solidFill>
                          <a:effectLst/>
                          <a:latin typeface="Grandview" panose="020B0502040204020203" pitchFamily="34" charset="0"/>
                        </a:rPr>
                        <a:t>30</a:t>
                      </a:r>
                    </a:p>
                  </a:txBody>
                  <a:tcPr marL="7620" marR="7620" marT="7620" marB="0" anchor="ctr"/>
                </a:tc>
                <a:tc>
                  <a:txBody>
                    <a:bodyPr/>
                    <a:lstStyle/>
                    <a:p>
                      <a:pPr algn="ctr" fontAlgn="ctr"/>
                      <a:r>
                        <a:rPr lang="en-IN" sz="1200" b="0" i="0" u="none" strike="noStrike" dirty="0">
                          <a:solidFill>
                            <a:srgbClr val="000000"/>
                          </a:solidFill>
                          <a:effectLst/>
                          <a:latin typeface="Grandview" panose="020B0502040204020203" pitchFamily="34" charset="0"/>
                        </a:rPr>
                        <a:t>27.5</a:t>
                      </a:r>
                    </a:p>
                  </a:txBody>
                  <a:tcPr marL="7620" marR="7620" marT="7620" marB="0" anchor="ctr"/>
                </a:tc>
                <a:extLst>
                  <a:ext uri="{0D108BD9-81ED-4DB2-BD59-A6C34878D82A}">
                    <a16:rowId xmlns:a16="http://schemas.microsoft.com/office/drawing/2014/main" val="3258917538"/>
                  </a:ext>
                </a:extLst>
              </a:tr>
              <a:tr h="300398">
                <a:tc>
                  <a:txBody>
                    <a:bodyPr/>
                    <a:lstStyle/>
                    <a:p>
                      <a:pPr algn="ctr" fontAlgn="t"/>
                      <a:r>
                        <a:rPr lang="en-IN" sz="1200" b="1" u="none" strike="noStrike" dirty="0">
                          <a:effectLst/>
                          <a:latin typeface="Grandview" panose="020B0502040204020203" pitchFamily="34" charset="0"/>
                        </a:rPr>
                        <a:t>Total</a:t>
                      </a:r>
                      <a:endParaRPr lang="en-IN" sz="1200" b="1" i="0" u="none" strike="noStrike" dirty="0">
                        <a:solidFill>
                          <a:srgbClr val="000000"/>
                        </a:solidFill>
                        <a:effectLst/>
                        <a:latin typeface="Grandview" panose="020B0502040204020203" pitchFamily="34" charset="0"/>
                      </a:endParaRPr>
                    </a:p>
                  </a:txBody>
                  <a:tcPr marL="7620" marR="7620" marT="7620" marB="0"/>
                </a:tc>
                <a:tc>
                  <a:txBody>
                    <a:bodyPr/>
                    <a:lstStyle/>
                    <a:p>
                      <a:pPr algn="ctr" fontAlgn="ctr"/>
                      <a:r>
                        <a:rPr lang="en-IN" sz="1200" b="1" u="none" strike="noStrike" dirty="0">
                          <a:effectLst/>
                          <a:latin typeface="Grandview" panose="020B0502040204020203" pitchFamily="34" charset="0"/>
                        </a:rPr>
                        <a:t>109</a:t>
                      </a:r>
                      <a:endParaRPr lang="en-IN" sz="12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1" u="none" strike="noStrike" dirty="0">
                          <a:effectLst/>
                          <a:latin typeface="Grandview" panose="020B0502040204020203" pitchFamily="34" charset="0"/>
                        </a:rPr>
                        <a:t>100.0</a:t>
                      </a:r>
                      <a:endParaRPr lang="en-IN" sz="1200" b="1"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972140419"/>
                  </a:ext>
                </a:extLst>
              </a:tr>
            </a:tbl>
          </a:graphicData>
        </a:graphic>
      </p:graphicFrame>
      <p:sp>
        <p:nvSpPr>
          <p:cNvPr id="2" name="TextBox 1">
            <a:extLst>
              <a:ext uri="{FF2B5EF4-FFF2-40B4-BE49-F238E27FC236}">
                <a16:creationId xmlns:a16="http://schemas.microsoft.com/office/drawing/2014/main" id="{4B7C7549-D03E-5762-6E4E-922B1A01E362}"/>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14</a:t>
            </a:r>
            <a:endParaRPr lang="en-IN" dirty="0">
              <a:solidFill>
                <a:sysClr val="windowText" lastClr="000000"/>
              </a:solidFill>
            </a:endParaRPr>
          </a:p>
        </p:txBody>
      </p:sp>
    </p:spTree>
    <p:extLst>
      <p:ext uri="{BB962C8B-B14F-4D97-AF65-F5344CB8AC3E}">
        <p14:creationId xmlns:p14="http://schemas.microsoft.com/office/powerpoint/2010/main" val="2365041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70"/>
        <p:cNvGrpSpPr/>
        <p:nvPr/>
      </p:nvGrpSpPr>
      <p:grpSpPr>
        <a:xfrm>
          <a:off x="0" y="0"/>
          <a:ext cx="0" cy="0"/>
          <a:chOff x="0" y="0"/>
          <a:chExt cx="0" cy="0"/>
        </a:xfrm>
      </p:grpSpPr>
      <p:sp>
        <p:nvSpPr>
          <p:cNvPr id="1971" name="Google Shape;1971;p48"/>
          <p:cNvSpPr txBox="1">
            <a:spLocks noGrp="1"/>
          </p:cNvSpPr>
          <p:nvPr>
            <p:ph type="title"/>
          </p:nvPr>
        </p:nvSpPr>
        <p:spPr>
          <a:xfrm>
            <a:off x="1420996" y="2753595"/>
            <a:ext cx="6302008" cy="48217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3600" b="1" i="0" dirty="0">
                <a:effectLst/>
                <a:latin typeface="Grandview" panose="020B0502040204020203" pitchFamily="34" charset="0"/>
              </a:rPr>
              <a:t>Exploring Stress Factors and Stress Levels</a:t>
            </a:r>
            <a:br>
              <a:rPr lang="en-US" sz="3600" b="1" i="0" dirty="0">
                <a:effectLst/>
                <a:latin typeface="Grandview" panose="020B0502040204020203" pitchFamily="34" charset="0"/>
              </a:rPr>
            </a:br>
            <a:endParaRPr sz="3600" dirty="0"/>
          </a:p>
        </p:txBody>
      </p:sp>
      <p:grpSp>
        <p:nvGrpSpPr>
          <p:cNvPr id="1972" name="Google Shape;1972;p48"/>
          <p:cNvGrpSpPr/>
          <p:nvPr/>
        </p:nvGrpSpPr>
        <p:grpSpPr>
          <a:xfrm>
            <a:off x="517907" y="353944"/>
            <a:ext cx="804847" cy="882052"/>
            <a:chOff x="6072409" y="4521978"/>
            <a:chExt cx="436705" cy="478622"/>
          </a:xfrm>
        </p:grpSpPr>
        <p:sp>
          <p:nvSpPr>
            <p:cNvPr id="1973" name="Google Shape;1973;p48"/>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8"/>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8"/>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8"/>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8"/>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8"/>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8"/>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8"/>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8"/>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1728;p44">
            <a:extLst>
              <a:ext uri="{FF2B5EF4-FFF2-40B4-BE49-F238E27FC236}">
                <a16:creationId xmlns:a16="http://schemas.microsoft.com/office/drawing/2014/main" id="{235E8577-AE08-2D19-9185-FF24576ED541}"/>
              </a:ext>
            </a:extLst>
          </p:cNvPr>
          <p:cNvGrpSpPr/>
          <p:nvPr/>
        </p:nvGrpSpPr>
        <p:grpSpPr>
          <a:xfrm>
            <a:off x="8202012" y="4512795"/>
            <a:ext cx="425875" cy="466752"/>
            <a:chOff x="6072409" y="4521978"/>
            <a:chExt cx="436705" cy="478622"/>
          </a:xfrm>
        </p:grpSpPr>
        <p:sp>
          <p:nvSpPr>
            <p:cNvPr id="3" name="Google Shape;1729;p44">
              <a:extLst>
                <a:ext uri="{FF2B5EF4-FFF2-40B4-BE49-F238E27FC236}">
                  <a16:creationId xmlns:a16="http://schemas.microsoft.com/office/drawing/2014/main" id="{4B74561C-5334-B9E9-C1F9-EAB2F16680BB}"/>
                </a:ext>
              </a:extLst>
            </p:cNvPr>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730;p44">
              <a:extLst>
                <a:ext uri="{FF2B5EF4-FFF2-40B4-BE49-F238E27FC236}">
                  <a16:creationId xmlns:a16="http://schemas.microsoft.com/office/drawing/2014/main" id="{D860DE35-F0BD-FAF7-BC3A-9E533BE3E56A}"/>
                </a:ext>
              </a:extLst>
            </p:cNvPr>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731;p44">
              <a:extLst>
                <a:ext uri="{FF2B5EF4-FFF2-40B4-BE49-F238E27FC236}">
                  <a16:creationId xmlns:a16="http://schemas.microsoft.com/office/drawing/2014/main" id="{4F0258E0-57B4-6589-4C50-0BBC3D078BE8}"/>
                </a:ext>
              </a:extLst>
            </p:cNvPr>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732;p44">
              <a:extLst>
                <a:ext uri="{FF2B5EF4-FFF2-40B4-BE49-F238E27FC236}">
                  <a16:creationId xmlns:a16="http://schemas.microsoft.com/office/drawing/2014/main" id="{ADBD686F-B7AF-9A6A-3677-B5AA2E1B8BA6}"/>
                </a:ext>
              </a:extLst>
            </p:cNvPr>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733;p44">
              <a:extLst>
                <a:ext uri="{FF2B5EF4-FFF2-40B4-BE49-F238E27FC236}">
                  <a16:creationId xmlns:a16="http://schemas.microsoft.com/office/drawing/2014/main" id="{7D562B21-8999-5619-69BB-5DB1E1D25269}"/>
                </a:ext>
              </a:extLst>
            </p:cNvPr>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34;p44">
              <a:extLst>
                <a:ext uri="{FF2B5EF4-FFF2-40B4-BE49-F238E27FC236}">
                  <a16:creationId xmlns:a16="http://schemas.microsoft.com/office/drawing/2014/main" id="{C5B84D53-4513-5E02-B7E8-BD4CFFC1CAF1}"/>
                </a:ext>
              </a:extLst>
            </p:cNvPr>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35;p44">
              <a:extLst>
                <a:ext uri="{FF2B5EF4-FFF2-40B4-BE49-F238E27FC236}">
                  <a16:creationId xmlns:a16="http://schemas.microsoft.com/office/drawing/2014/main" id="{A4E5B9E8-8E1F-FA55-4B4C-7FCF9BB8FAA4}"/>
                </a:ext>
              </a:extLst>
            </p:cNvPr>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36;p44">
              <a:extLst>
                <a:ext uri="{FF2B5EF4-FFF2-40B4-BE49-F238E27FC236}">
                  <a16:creationId xmlns:a16="http://schemas.microsoft.com/office/drawing/2014/main" id="{AFF780B0-75A4-AD50-7B41-77B788602AFC}"/>
                </a:ext>
              </a:extLst>
            </p:cNvPr>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37;p44">
              <a:extLst>
                <a:ext uri="{FF2B5EF4-FFF2-40B4-BE49-F238E27FC236}">
                  <a16:creationId xmlns:a16="http://schemas.microsoft.com/office/drawing/2014/main" id="{99A4AE20-97EE-BFD8-C9B5-2716E932083A}"/>
                </a:ext>
              </a:extLst>
            </p:cNvPr>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TextBox 11">
            <a:extLst>
              <a:ext uri="{FF2B5EF4-FFF2-40B4-BE49-F238E27FC236}">
                <a16:creationId xmlns:a16="http://schemas.microsoft.com/office/drawing/2014/main" id="{FDCDB88D-00EC-BE61-AA08-2C7A65BFBDF4}"/>
              </a:ext>
            </a:extLst>
          </p:cNvPr>
          <p:cNvSpPr txBox="1"/>
          <p:nvPr/>
        </p:nvSpPr>
        <p:spPr>
          <a:xfrm>
            <a:off x="3874533" y="1574800"/>
            <a:ext cx="1394934" cy="523220"/>
          </a:xfrm>
          <a:prstGeom prst="rect">
            <a:avLst/>
          </a:prstGeom>
          <a:noFill/>
        </p:spPr>
        <p:txBody>
          <a:bodyPr wrap="none" rtlCol="0">
            <a:spAutoFit/>
          </a:bodyPr>
          <a:lstStyle/>
          <a:p>
            <a:r>
              <a:rPr lang="en-IN" sz="2800" u="sng"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Part - I</a:t>
            </a:r>
          </a:p>
        </p:txBody>
      </p:sp>
      <p:sp>
        <p:nvSpPr>
          <p:cNvPr id="13" name="TextBox 12">
            <a:extLst>
              <a:ext uri="{FF2B5EF4-FFF2-40B4-BE49-F238E27FC236}">
                <a16:creationId xmlns:a16="http://schemas.microsoft.com/office/drawing/2014/main" id="{4226C234-5629-9143-E6CF-2C487BC4723F}"/>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15</a:t>
            </a:r>
            <a:endParaRPr lang="en-IN" dirty="0">
              <a:solidFill>
                <a:sysClr val="windowText" lastClr="000000"/>
              </a:solidFill>
            </a:endParaRPr>
          </a:p>
        </p:txBody>
      </p:sp>
    </p:spTree>
    <p:extLst>
      <p:ext uri="{BB962C8B-B14F-4D97-AF65-F5344CB8AC3E}">
        <p14:creationId xmlns:p14="http://schemas.microsoft.com/office/powerpoint/2010/main" val="2175410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F1F1B44-984E-F18B-6286-EAAAB881DE89}"/>
              </a:ext>
            </a:extLst>
          </p:cNvPr>
          <p:cNvSpPr/>
          <p:nvPr/>
        </p:nvSpPr>
        <p:spPr>
          <a:xfrm>
            <a:off x="587829" y="551543"/>
            <a:ext cx="4062492" cy="39551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3">
                  <a:lumMod val="60000"/>
                  <a:lumOff val="40000"/>
                </a:schemeClr>
              </a:solidFill>
            </a:endParaRPr>
          </a:p>
        </p:txBody>
      </p:sp>
      <p:grpSp>
        <p:nvGrpSpPr>
          <p:cNvPr id="1728" name="Google Shape;1728;p44"/>
          <p:cNvGrpSpPr/>
          <p:nvPr/>
        </p:nvGrpSpPr>
        <p:grpSpPr>
          <a:xfrm>
            <a:off x="4112961" y="281901"/>
            <a:ext cx="425875" cy="466752"/>
            <a:chOff x="6072409" y="4521978"/>
            <a:chExt cx="436705" cy="478622"/>
          </a:xfrm>
        </p:grpSpPr>
        <p:sp>
          <p:nvSpPr>
            <p:cNvPr id="1729" name="Google Shape;1729;p44"/>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4"/>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4"/>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4"/>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3" name="Google Shape;1733;p44"/>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4"/>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4"/>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4"/>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4"/>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1713;p43">
            <a:extLst>
              <a:ext uri="{FF2B5EF4-FFF2-40B4-BE49-F238E27FC236}">
                <a16:creationId xmlns:a16="http://schemas.microsoft.com/office/drawing/2014/main" id="{3DCF3F4C-B16F-803F-CD1F-75A508D7B9D2}"/>
              </a:ext>
            </a:extLst>
          </p:cNvPr>
          <p:cNvSpPr txBox="1">
            <a:spLocks/>
          </p:cNvSpPr>
          <p:nvPr/>
        </p:nvSpPr>
        <p:spPr>
          <a:xfrm>
            <a:off x="687883" y="748653"/>
            <a:ext cx="3823050" cy="437851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eaLnBrk="1" hangingPunct="1">
              <a:lnSpc>
                <a:spcPct val="100000"/>
              </a:lnSpc>
              <a:spcBef>
                <a:spcPts val="0"/>
              </a:spcBef>
              <a:spcAft>
                <a:spcPts val="0"/>
              </a:spcAft>
              <a:buClr>
                <a:schemeClr val="accent1"/>
              </a:buClr>
              <a:buSzPts val="1400"/>
              <a:buFont typeface="Karla"/>
              <a:buNone/>
              <a:defRPr sz="2000" b="1" i="0" u="none" strike="noStrike" cap="none">
                <a:solidFill>
                  <a:schemeClr val="dk1"/>
                </a:solidFill>
                <a:latin typeface="Open Sans"/>
                <a:ea typeface="Open Sans"/>
                <a:cs typeface="Open Sans"/>
                <a:sym typeface="Open Sans"/>
              </a:defRPr>
            </a:lvl1pPr>
            <a:lvl2pPr marL="914400" marR="0" lvl="1" indent="-317500" algn="ctr" rtl="0" eaLnBrk="1" hangingPunct="1">
              <a:lnSpc>
                <a:spcPct val="100000"/>
              </a:lnSpc>
              <a:spcBef>
                <a:spcPts val="0"/>
              </a:spcBef>
              <a:spcAft>
                <a:spcPts val="0"/>
              </a:spcAft>
              <a:buClr>
                <a:schemeClr val="accent1"/>
              </a:buClr>
              <a:buSzPts val="1400"/>
              <a:buFont typeface="Karla"/>
              <a:buNone/>
              <a:defRPr sz="2000" b="1" i="0" u="none" strike="noStrike" cap="none">
                <a:solidFill>
                  <a:schemeClr val="dk1"/>
                </a:solidFill>
                <a:latin typeface="Open Sans"/>
                <a:ea typeface="Open Sans"/>
                <a:cs typeface="Open Sans"/>
                <a:sym typeface="Open Sans"/>
              </a:defRPr>
            </a:lvl2pPr>
            <a:lvl3pPr marL="1371600" marR="0" lvl="2"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3pPr>
            <a:lvl4pPr marL="1828800" marR="0" lvl="3"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4pPr>
            <a:lvl5pPr marL="2286000" marR="0" lvl="4"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5pPr>
            <a:lvl6pPr marL="2743200" marR="0" lvl="5"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6pPr>
            <a:lvl7pPr marL="3200400" marR="0" lvl="6"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7pPr>
            <a:lvl8pPr marL="3657600" marR="0" lvl="7"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8pPr>
            <a:lvl9pPr marL="4114800" marR="0" lvl="8"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9pPr>
          </a:lstStyle>
          <a:p>
            <a:pPr marL="285750" indent="-285750" algn="just">
              <a:buClr>
                <a:schemeClr val="accent3"/>
              </a:buClr>
              <a:buFont typeface="Arial" panose="020B0604020202020204" pitchFamily="34" charset="0"/>
              <a:buChar char="•"/>
            </a:pPr>
            <a:r>
              <a:rPr lang="en-US" sz="1300" b="0" dirty="0">
                <a:solidFill>
                  <a:schemeClr val="bg1"/>
                </a:solidFill>
                <a:latin typeface="Grandview" panose="020B0502040204020203" pitchFamily="34" charset="0"/>
                <a:cs typeface="Helvetica" panose="020B0604020202020204" pitchFamily="34" charset="0"/>
              </a:rPr>
              <a:t>In this section, we will start peeling back the layers </a:t>
            </a:r>
            <a:r>
              <a:rPr lang="en-US" sz="1300" b="0" i="0" dirty="0">
                <a:solidFill>
                  <a:schemeClr val="bg1"/>
                </a:solidFill>
                <a:effectLst/>
                <a:latin typeface="Grandview" panose="020B0502040204020203" pitchFamily="34" charset="0"/>
              </a:rPr>
              <a:t>of student stress, uncovering the key factors that significantly influence their stress levels.</a:t>
            </a:r>
          </a:p>
          <a:p>
            <a:pPr marL="285750" indent="-285750" algn="just">
              <a:buFont typeface="Arial" panose="020B0604020202020204" pitchFamily="34" charset="0"/>
              <a:buChar char="•"/>
            </a:pPr>
            <a:endParaRPr lang="en-US" sz="1300" b="0" dirty="0">
              <a:solidFill>
                <a:schemeClr val="bg1"/>
              </a:solidFill>
              <a:latin typeface="Grandview" panose="020B0502040204020203" pitchFamily="34" charset="0"/>
              <a:cs typeface="Helvetica" panose="020B0604020202020204" pitchFamily="34" charset="0"/>
            </a:endParaRPr>
          </a:p>
          <a:p>
            <a:pPr marL="285750" indent="-285750" algn="just">
              <a:buClr>
                <a:schemeClr val="accent3"/>
              </a:buClr>
              <a:buFont typeface="Arial" panose="020B0604020202020204" pitchFamily="34" charset="0"/>
              <a:buChar char="•"/>
            </a:pPr>
            <a:r>
              <a:rPr lang="en-US" sz="1300" b="0" dirty="0">
                <a:solidFill>
                  <a:schemeClr val="bg1"/>
                </a:solidFill>
                <a:latin typeface="Grandview" panose="020B0502040204020203" pitchFamily="34" charset="0"/>
                <a:cs typeface="Helvetica" panose="020B0604020202020204" pitchFamily="34" charset="0"/>
              </a:rPr>
              <a:t>To execute this, we will employ a </a:t>
            </a:r>
            <a:r>
              <a:rPr lang="en-US" sz="1300" b="0" dirty="0">
                <a:solidFill>
                  <a:schemeClr val="accent3"/>
                </a:solidFill>
                <a:latin typeface="Grandview" panose="020B0502040204020203" pitchFamily="34" charset="0"/>
                <a:cs typeface="Helvetica" panose="020B0604020202020204" pitchFamily="34" charset="0"/>
              </a:rPr>
              <a:t>regression model</a:t>
            </a:r>
            <a:r>
              <a:rPr lang="en-US" sz="1300" b="0" dirty="0">
                <a:solidFill>
                  <a:schemeClr val="bg1"/>
                </a:solidFill>
                <a:latin typeface="Grandview" panose="020B0502040204020203" pitchFamily="34" charset="0"/>
                <a:cs typeface="Helvetica" panose="020B0604020202020204" pitchFamily="34" charset="0"/>
              </a:rPr>
              <a:t> to find out which stressors have a </a:t>
            </a:r>
            <a:r>
              <a:rPr lang="en-US" sz="1300" b="0" u="sng" dirty="0">
                <a:solidFill>
                  <a:schemeClr val="bg1"/>
                </a:solidFill>
                <a:latin typeface="Grandview" panose="020B0502040204020203" pitchFamily="34" charset="0"/>
                <a:cs typeface="Helvetica" panose="020B0604020202020204" pitchFamily="34" charset="0"/>
              </a:rPr>
              <a:t>significant impact on the overall stress level </a:t>
            </a:r>
            <a:r>
              <a:rPr lang="en-US" sz="1300" b="0" dirty="0">
                <a:solidFill>
                  <a:schemeClr val="bg1"/>
                </a:solidFill>
                <a:latin typeface="Grandview" panose="020B0502040204020203" pitchFamily="34" charset="0"/>
                <a:cs typeface="Helvetica" panose="020B0604020202020204" pitchFamily="34" charset="0"/>
              </a:rPr>
              <a:t>in students. </a:t>
            </a:r>
          </a:p>
          <a:p>
            <a:pPr marL="285750" indent="-285750" algn="just">
              <a:buClr>
                <a:schemeClr val="accent3"/>
              </a:buClr>
              <a:buFont typeface="Arial" panose="020B0604020202020204" pitchFamily="34" charset="0"/>
              <a:buChar char="•"/>
            </a:pPr>
            <a:endParaRPr lang="en-US" sz="1300" b="0" dirty="0">
              <a:solidFill>
                <a:schemeClr val="bg1"/>
              </a:solidFill>
              <a:latin typeface="Grandview" panose="020B0502040204020203" pitchFamily="34" charset="0"/>
              <a:cs typeface="Helvetica" panose="020B0604020202020204" pitchFamily="34" charset="0"/>
            </a:endParaRPr>
          </a:p>
          <a:p>
            <a:pPr marL="285750" indent="-285750" algn="just">
              <a:buClr>
                <a:schemeClr val="accent3"/>
              </a:buClr>
              <a:buFont typeface="Arial" panose="020B0604020202020204" pitchFamily="34" charset="0"/>
              <a:buChar char="•"/>
            </a:pPr>
            <a:r>
              <a:rPr lang="en-US" sz="1300" b="0" i="0" dirty="0">
                <a:solidFill>
                  <a:schemeClr val="bg1"/>
                </a:solidFill>
                <a:effectLst/>
                <a:latin typeface="Grandview" panose="020B0502040204020203" pitchFamily="34" charset="0"/>
              </a:rPr>
              <a:t>By identifying the stress, we offer valuable insights that can inform the </a:t>
            </a:r>
            <a:r>
              <a:rPr lang="en-US" sz="1300" b="0" i="0" dirty="0">
                <a:solidFill>
                  <a:schemeClr val="accent3"/>
                </a:solidFill>
                <a:effectLst/>
                <a:latin typeface="Grandview" panose="020B0502040204020203" pitchFamily="34" charset="0"/>
              </a:rPr>
              <a:t>development of targeted interventions</a:t>
            </a:r>
            <a:r>
              <a:rPr lang="en-US" sz="1300" b="0" i="0" dirty="0">
                <a:solidFill>
                  <a:schemeClr val="bg1"/>
                </a:solidFill>
                <a:effectLst/>
                <a:latin typeface="Grandview" panose="020B0502040204020203" pitchFamily="34" charset="0"/>
              </a:rPr>
              <a:t> by educational institutions and support services. </a:t>
            </a:r>
            <a:endParaRPr lang="en-US" sz="1300" b="0" dirty="0">
              <a:solidFill>
                <a:schemeClr val="bg1"/>
              </a:solidFill>
              <a:latin typeface="Grandview" panose="020B0502040204020203" pitchFamily="34" charset="0"/>
              <a:cs typeface="Helvetica" panose="020B0604020202020204" pitchFamily="34" charset="0"/>
            </a:endParaRPr>
          </a:p>
          <a:p>
            <a:pPr marL="285750" indent="-285750" algn="just">
              <a:buClr>
                <a:schemeClr val="accent3"/>
              </a:buClr>
              <a:buFont typeface="Arial" panose="020B0604020202020204" pitchFamily="34" charset="0"/>
              <a:buChar char="•"/>
            </a:pPr>
            <a:endParaRPr lang="en-US" sz="1300" b="0" dirty="0">
              <a:solidFill>
                <a:schemeClr val="bg1"/>
              </a:solidFill>
              <a:latin typeface="Grandview" panose="020B0502040204020203" pitchFamily="34" charset="0"/>
              <a:cs typeface="Helvetica" panose="020B0604020202020204" pitchFamily="34" charset="0"/>
            </a:endParaRPr>
          </a:p>
          <a:p>
            <a:pPr marL="285750" indent="-285750" algn="just">
              <a:buClr>
                <a:schemeClr val="accent3"/>
              </a:buClr>
              <a:buFont typeface="Arial" panose="020B0604020202020204" pitchFamily="34" charset="0"/>
              <a:buChar char="•"/>
            </a:pPr>
            <a:r>
              <a:rPr lang="en-US" sz="1300" b="0" dirty="0">
                <a:solidFill>
                  <a:schemeClr val="bg1"/>
                </a:solidFill>
                <a:latin typeface="Grandview" panose="020B0502040204020203" pitchFamily="34" charset="0"/>
                <a:cs typeface="Helvetica" panose="020B0604020202020204" pitchFamily="34" charset="0"/>
              </a:rPr>
              <a:t>Before we show the results, lets understand what multiple linear regression is!</a:t>
            </a:r>
          </a:p>
          <a:p>
            <a:pPr marL="0" indent="0" algn="just"/>
            <a:endParaRPr lang="en-US" sz="1300" b="0" dirty="0">
              <a:solidFill>
                <a:srgbClr val="374151"/>
              </a:solidFill>
              <a:latin typeface="Grandview" panose="020B0502040204020203" pitchFamily="34" charset="0"/>
              <a:cs typeface="Helvetica" panose="020B0604020202020204" pitchFamily="34" charset="0"/>
            </a:endParaRPr>
          </a:p>
        </p:txBody>
      </p:sp>
      <p:pic>
        <p:nvPicPr>
          <p:cNvPr id="3" name="Picture 2">
            <a:extLst>
              <a:ext uri="{FF2B5EF4-FFF2-40B4-BE49-F238E27FC236}">
                <a16:creationId xmlns:a16="http://schemas.microsoft.com/office/drawing/2014/main" id="{9E57B534-C446-8A1A-B6FD-7739DE1CEA64}"/>
              </a:ext>
            </a:extLst>
          </p:cNvPr>
          <p:cNvPicPr>
            <a:picLocks noChangeAspect="1"/>
          </p:cNvPicPr>
          <p:nvPr/>
        </p:nvPicPr>
        <p:blipFill>
          <a:blip r:embed="rId3"/>
          <a:stretch>
            <a:fillRect/>
          </a:stretch>
        </p:blipFill>
        <p:spPr>
          <a:xfrm>
            <a:off x="4865597" y="0"/>
            <a:ext cx="4278403" cy="5143500"/>
          </a:xfrm>
          <a:prstGeom prst="rect">
            <a:avLst/>
          </a:prstGeom>
        </p:spPr>
      </p:pic>
      <p:cxnSp>
        <p:nvCxnSpPr>
          <p:cNvPr id="5" name="Straight Connector 4">
            <a:extLst>
              <a:ext uri="{FF2B5EF4-FFF2-40B4-BE49-F238E27FC236}">
                <a16:creationId xmlns:a16="http://schemas.microsoft.com/office/drawing/2014/main" id="{3EE10F68-3DD6-869F-F04F-6C141659883C}"/>
              </a:ext>
            </a:extLst>
          </p:cNvPr>
          <p:cNvCxnSpPr/>
          <p:nvPr/>
        </p:nvCxnSpPr>
        <p:spPr>
          <a:xfrm>
            <a:off x="4789714" y="290286"/>
            <a:ext cx="0" cy="4368800"/>
          </a:xfrm>
          <a:prstGeom prst="line">
            <a:avLst/>
          </a:prstGeom>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6464D1F-083C-E859-E053-E9DC8F68C2AF}"/>
              </a:ext>
            </a:extLst>
          </p:cNvPr>
          <p:cNvSpPr txBox="1"/>
          <p:nvPr/>
        </p:nvSpPr>
        <p:spPr>
          <a:xfrm>
            <a:off x="8625840" y="100736"/>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16</a:t>
            </a:r>
            <a:endParaRPr lang="en-IN" dirty="0">
              <a:solidFill>
                <a:sysClr val="windowText" lastClr="000000"/>
              </a:solidFill>
            </a:endParaRPr>
          </a:p>
        </p:txBody>
      </p:sp>
    </p:spTree>
    <p:extLst>
      <p:ext uri="{BB962C8B-B14F-4D97-AF65-F5344CB8AC3E}">
        <p14:creationId xmlns:p14="http://schemas.microsoft.com/office/powerpoint/2010/main" val="2783042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990C69ED-4047-6105-7405-A164CBF16635}"/>
              </a:ext>
            </a:extLst>
          </p:cNvPr>
          <p:cNvSpPr/>
          <p:nvPr/>
        </p:nvSpPr>
        <p:spPr>
          <a:xfrm>
            <a:off x="1792514" y="186066"/>
            <a:ext cx="5558970" cy="5452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13" name="Google Shape;1713;p43"/>
          <p:cNvSpPr txBox="1">
            <a:spLocks noGrp="1"/>
          </p:cNvSpPr>
          <p:nvPr>
            <p:ph type="body" idx="1"/>
          </p:nvPr>
        </p:nvSpPr>
        <p:spPr>
          <a:xfrm>
            <a:off x="1390474" y="186066"/>
            <a:ext cx="6363051" cy="422013"/>
          </a:xfrm>
          <a:prstGeom prst="rect">
            <a:avLst/>
          </a:prstGeom>
        </p:spPr>
        <p:txBody>
          <a:bodyPr spcFirstLastPara="1" wrap="square" lIns="91425" tIns="91425" rIns="91425" bIns="91425" anchor="t" anchorCtr="0">
            <a:noAutofit/>
          </a:bodyPr>
          <a:lstStyle/>
          <a:p>
            <a:pPr marL="0" indent="0" algn="ctr">
              <a:buNone/>
            </a:pPr>
            <a:r>
              <a:rPr lang="en-US" sz="2000" b="1" u="sng" dirty="0">
                <a:solidFill>
                  <a:schemeClr val="accent3">
                    <a:lumMod val="60000"/>
                    <a:lumOff val="40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STRESS FACTORS UTILIZED IN THIS STUDY</a:t>
            </a:r>
          </a:p>
        </p:txBody>
      </p:sp>
      <p:sp>
        <p:nvSpPr>
          <p:cNvPr id="5" name="Google Shape;2206;p54">
            <a:extLst>
              <a:ext uri="{FF2B5EF4-FFF2-40B4-BE49-F238E27FC236}">
                <a16:creationId xmlns:a16="http://schemas.microsoft.com/office/drawing/2014/main" id="{69A5FD60-D835-9D43-CC3B-E565BB7F258E}"/>
              </a:ext>
            </a:extLst>
          </p:cNvPr>
          <p:cNvSpPr/>
          <p:nvPr/>
        </p:nvSpPr>
        <p:spPr>
          <a:xfrm>
            <a:off x="3696249" y="1858312"/>
            <a:ext cx="1772564" cy="1764157"/>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6" name="Google Shape;2207;p54">
            <a:extLst>
              <a:ext uri="{FF2B5EF4-FFF2-40B4-BE49-F238E27FC236}">
                <a16:creationId xmlns:a16="http://schemas.microsoft.com/office/drawing/2014/main" id="{98156BF0-0027-CB1E-E509-F9677C67F88D}"/>
              </a:ext>
            </a:extLst>
          </p:cNvPr>
          <p:cNvGrpSpPr/>
          <p:nvPr/>
        </p:nvGrpSpPr>
        <p:grpSpPr>
          <a:xfrm>
            <a:off x="5174177" y="3388132"/>
            <a:ext cx="444914" cy="343294"/>
            <a:chOff x="5055851" y="4604108"/>
            <a:chExt cx="602024" cy="466733"/>
          </a:xfrm>
          <a:solidFill>
            <a:schemeClr val="accent3">
              <a:lumMod val="75000"/>
            </a:schemeClr>
          </a:solidFill>
        </p:grpSpPr>
        <p:sp>
          <p:nvSpPr>
            <p:cNvPr id="7" name="Google Shape;2208;p54">
              <a:extLst>
                <a:ext uri="{FF2B5EF4-FFF2-40B4-BE49-F238E27FC236}">
                  <a16:creationId xmlns:a16="http://schemas.microsoft.com/office/drawing/2014/main" id="{377F0BDE-B995-E39D-9F5E-E798BBFA3184}"/>
                </a:ext>
              </a:extLst>
            </p:cNvPr>
            <p:cNvSpPr/>
            <p:nvPr/>
          </p:nvSpPr>
          <p:spPr>
            <a:xfrm rot="5400000">
              <a:off x="5584449" y="4603989"/>
              <a:ext cx="73307" cy="73544"/>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209;p54">
              <a:extLst>
                <a:ext uri="{FF2B5EF4-FFF2-40B4-BE49-F238E27FC236}">
                  <a16:creationId xmlns:a16="http://schemas.microsoft.com/office/drawing/2014/main" id="{40EE1521-F957-FAC2-0963-B8E1DB00C9F2}"/>
                </a:ext>
              </a:extLst>
            </p:cNvPr>
            <p:cNvSpPr/>
            <p:nvPr/>
          </p:nvSpPr>
          <p:spPr>
            <a:xfrm rot="5400000">
              <a:off x="5584340" y="4800702"/>
              <a:ext cx="73524" cy="73544"/>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210;p54">
              <a:extLst>
                <a:ext uri="{FF2B5EF4-FFF2-40B4-BE49-F238E27FC236}">
                  <a16:creationId xmlns:a16="http://schemas.microsoft.com/office/drawing/2014/main" id="{0861647C-7A0F-5E40-F290-6DD78BAECC94}"/>
                </a:ext>
              </a:extLst>
            </p:cNvPr>
            <p:cNvSpPr/>
            <p:nvPr/>
          </p:nvSpPr>
          <p:spPr>
            <a:xfrm rot="5400000">
              <a:off x="5584449" y="4997415"/>
              <a:ext cx="73307" cy="73544"/>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211;p54">
              <a:extLst>
                <a:ext uri="{FF2B5EF4-FFF2-40B4-BE49-F238E27FC236}">
                  <a16:creationId xmlns:a16="http://schemas.microsoft.com/office/drawing/2014/main" id="{69E3ADF8-4F1C-8133-1B50-61E878037F14}"/>
                </a:ext>
              </a:extLst>
            </p:cNvPr>
            <p:cNvSpPr/>
            <p:nvPr/>
          </p:nvSpPr>
          <p:spPr>
            <a:xfrm rot="5400000">
              <a:off x="5408292" y="4603999"/>
              <a:ext cx="73307" cy="73524"/>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212;p54">
              <a:extLst>
                <a:ext uri="{FF2B5EF4-FFF2-40B4-BE49-F238E27FC236}">
                  <a16:creationId xmlns:a16="http://schemas.microsoft.com/office/drawing/2014/main" id="{06DD5153-3A74-D14B-62C0-404025586F3B}"/>
                </a:ext>
              </a:extLst>
            </p:cNvPr>
            <p:cNvSpPr/>
            <p:nvPr/>
          </p:nvSpPr>
          <p:spPr>
            <a:xfrm rot="5400000">
              <a:off x="5408184" y="4800712"/>
              <a:ext cx="73524" cy="73524"/>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213;p54">
              <a:extLst>
                <a:ext uri="{FF2B5EF4-FFF2-40B4-BE49-F238E27FC236}">
                  <a16:creationId xmlns:a16="http://schemas.microsoft.com/office/drawing/2014/main" id="{DDF1D5FA-3B1D-7B74-61B0-F692A44C5E94}"/>
                </a:ext>
              </a:extLst>
            </p:cNvPr>
            <p:cNvSpPr/>
            <p:nvPr/>
          </p:nvSpPr>
          <p:spPr>
            <a:xfrm rot="5400000">
              <a:off x="5408292" y="4997425"/>
              <a:ext cx="73307" cy="73524"/>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214;p54">
              <a:extLst>
                <a:ext uri="{FF2B5EF4-FFF2-40B4-BE49-F238E27FC236}">
                  <a16:creationId xmlns:a16="http://schemas.microsoft.com/office/drawing/2014/main" id="{4C92D0B8-D807-254C-80FF-B3F05ABCF0EA}"/>
                </a:ext>
              </a:extLst>
            </p:cNvPr>
            <p:cNvSpPr/>
            <p:nvPr/>
          </p:nvSpPr>
          <p:spPr>
            <a:xfrm rot="5400000">
              <a:off x="5232136" y="4603989"/>
              <a:ext cx="73307" cy="73544"/>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215;p54">
              <a:extLst>
                <a:ext uri="{FF2B5EF4-FFF2-40B4-BE49-F238E27FC236}">
                  <a16:creationId xmlns:a16="http://schemas.microsoft.com/office/drawing/2014/main" id="{A38AF451-3DC6-F19D-3A39-165EDB74523D}"/>
                </a:ext>
              </a:extLst>
            </p:cNvPr>
            <p:cNvSpPr/>
            <p:nvPr/>
          </p:nvSpPr>
          <p:spPr>
            <a:xfrm rot="5400000">
              <a:off x="5232027" y="4800702"/>
              <a:ext cx="73524" cy="73544"/>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16;p54">
              <a:extLst>
                <a:ext uri="{FF2B5EF4-FFF2-40B4-BE49-F238E27FC236}">
                  <a16:creationId xmlns:a16="http://schemas.microsoft.com/office/drawing/2014/main" id="{11819D8D-4356-1F2C-550C-2FDABFE48C34}"/>
                </a:ext>
              </a:extLst>
            </p:cNvPr>
            <p:cNvSpPr/>
            <p:nvPr/>
          </p:nvSpPr>
          <p:spPr>
            <a:xfrm rot="5400000">
              <a:off x="5232136" y="4997415"/>
              <a:ext cx="73307" cy="73544"/>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217;p54">
              <a:extLst>
                <a:ext uri="{FF2B5EF4-FFF2-40B4-BE49-F238E27FC236}">
                  <a16:creationId xmlns:a16="http://schemas.microsoft.com/office/drawing/2014/main" id="{304970B9-C8F8-C1AD-2EBB-45164C68CAB9}"/>
                </a:ext>
              </a:extLst>
            </p:cNvPr>
            <p:cNvSpPr/>
            <p:nvPr/>
          </p:nvSpPr>
          <p:spPr>
            <a:xfrm rot="5400000">
              <a:off x="5055969" y="4603989"/>
              <a:ext cx="73307" cy="73544"/>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218;p54">
              <a:extLst>
                <a:ext uri="{FF2B5EF4-FFF2-40B4-BE49-F238E27FC236}">
                  <a16:creationId xmlns:a16="http://schemas.microsoft.com/office/drawing/2014/main" id="{6C8C7E48-0025-EAA2-A08C-B944CF0089F2}"/>
                </a:ext>
              </a:extLst>
            </p:cNvPr>
            <p:cNvSpPr/>
            <p:nvPr/>
          </p:nvSpPr>
          <p:spPr>
            <a:xfrm rot="5400000">
              <a:off x="5055861" y="4800702"/>
              <a:ext cx="73524" cy="73544"/>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219;p54">
              <a:extLst>
                <a:ext uri="{FF2B5EF4-FFF2-40B4-BE49-F238E27FC236}">
                  <a16:creationId xmlns:a16="http://schemas.microsoft.com/office/drawing/2014/main" id="{1ED0D216-55E4-83FF-A9D4-D1B14892B289}"/>
                </a:ext>
              </a:extLst>
            </p:cNvPr>
            <p:cNvSpPr/>
            <p:nvPr/>
          </p:nvSpPr>
          <p:spPr>
            <a:xfrm rot="5400000">
              <a:off x="5055969" y="4997415"/>
              <a:ext cx="73307" cy="73544"/>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2228;p54">
            <a:extLst>
              <a:ext uri="{FF2B5EF4-FFF2-40B4-BE49-F238E27FC236}">
                <a16:creationId xmlns:a16="http://schemas.microsoft.com/office/drawing/2014/main" id="{845B3173-C82C-4D22-B7BE-CF340233DA66}"/>
              </a:ext>
            </a:extLst>
          </p:cNvPr>
          <p:cNvGrpSpPr/>
          <p:nvPr/>
        </p:nvGrpSpPr>
        <p:grpSpPr>
          <a:xfrm>
            <a:off x="4138630" y="2238569"/>
            <a:ext cx="949850" cy="1105235"/>
            <a:chOff x="3392075" y="2235550"/>
            <a:chExt cx="925450" cy="1081975"/>
          </a:xfrm>
        </p:grpSpPr>
        <p:sp>
          <p:nvSpPr>
            <p:cNvPr id="20" name="Google Shape;2229;p54">
              <a:extLst>
                <a:ext uri="{FF2B5EF4-FFF2-40B4-BE49-F238E27FC236}">
                  <a16:creationId xmlns:a16="http://schemas.microsoft.com/office/drawing/2014/main" id="{393A0A95-6E9B-EE15-8815-B82A0227B00B}"/>
                </a:ext>
              </a:extLst>
            </p:cNvPr>
            <p:cNvSpPr/>
            <p:nvPr/>
          </p:nvSpPr>
          <p:spPr>
            <a:xfrm>
              <a:off x="3392075" y="2235550"/>
              <a:ext cx="925450" cy="1081975"/>
            </a:xfrm>
            <a:custGeom>
              <a:avLst/>
              <a:gdLst/>
              <a:ahLst/>
              <a:cxnLst/>
              <a:rect l="l" t="t" r="r" b="b"/>
              <a:pathLst>
                <a:path w="37018" h="43279" extrusionOk="0">
                  <a:moveTo>
                    <a:pt x="19417" y="0"/>
                  </a:moveTo>
                  <a:cubicBezTo>
                    <a:pt x="18773" y="0"/>
                    <a:pt x="18127" y="24"/>
                    <a:pt x="17479" y="71"/>
                  </a:cubicBezTo>
                  <a:cubicBezTo>
                    <a:pt x="14407" y="297"/>
                    <a:pt x="11514" y="1071"/>
                    <a:pt x="8811" y="2559"/>
                  </a:cubicBezTo>
                  <a:cubicBezTo>
                    <a:pt x="3632" y="5417"/>
                    <a:pt x="1882" y="11310"/>
                    <a:pt x="3453" y="15751"/>
                  </a:cubicBezTo>
                  <a:cubicBezTo>
                    <a:pt x="3846" y="16847"/>
                    <a:pt x="3870" y="17978"/>
                    <a:pt x="3239" y="19038"/>
                  </a:cubicBezTo>
                  <a:cubicBezTo>
                    <a:pt x="2430" y="20347"/>
                    <a:pt x="1632" y="21645"/>
                    <a:pt x="810" y="22931"/>
                  </a:cubicBezTo>
                  <a:cubicBezTo>
                    <a:pt x="620" y="23228"/>
                    <a:pt x="405" y="23514"/>
                    <a:pt x="286" y="23860"/>
                  </a:cubicBezTo>
                  <a:cubicBezTo>
                    <a:pt x="1" y="24633"/>
                    <a:pt x="239" y="25157"/>
                    <a:pt x="1036" y="25395"/>
                  </a:cubicBezTo>
                  <a:cubicBezTo>
                    <a:pt x="1572" y="25550"/>
                    <a:pt x="2120" y="25693"/>
                    <a:pt x="2680" y="25705"/>
                  </a:cubicBezTo>
                  <a:cubicBezTo>
                    <a:pt x="3072" y="25717"/>
                    <a:pt x="3132" y="25884"/>
                    <a:pt x="3037" y="26205"/>
                  </a:cubicBezTo>
                  <a:cubicBezTo>
                    <a:pt x="2918" y="26622"/>
                    <a:pt x="2822" y="27062"/>
                    <a:pt x="2703" y="27491"/>
                  </a:cubicBezTo>
                  <a:cubicBezTo>
                    <a:pt x="2549" y="28051"/>
                    <a:pt x="2703" y="28396"/>
                    <a:pt x="3239" y="28622"/>
                  </a:cubicBezTo>
                  <a:cubicBezTo>
                    <a:pt x="3477" y="28729"/>
                    <a:pt x="3692" y="28813"/>
                    <a:pt x="3870" y="28991"/>
                  </a:cubicBezTo>
                  <a:cubicBezTo>
                    <a:pt x="4073" y="29170"/>
                    <a:pt x="4073" y="29301"/>
                    <a:pt x="3834" y="29479"/>
                  </a:cubicBezTo>
                  <a:cubicBezTo>
                    <a:pt x="2953" y="30134"/>
                    <a:pt x="3025" y="30848"/>
                    <a:pt x="3989" y="31372"/>
                  </a:cubicBezTo>
                  <a:cubicBezTo>
                    <a:pt x="4644" y="31765"/>
                    <a:pt x="4966" y="32420"/>
                    <a:pt x="4811" y="33194"/>
                  </a:cubicBezTo>
                  <a:cubicBezTo>
                    <a:pt x="4751" y="33504"/>
                    <a:pt x="4644" y="33813"/>
                    <a:pt x="4561" y="34123"/>
                  </a:cubicBezTo>
                  <a:cubicBezTo>
                    <a:pt x="4108" y="35730"/>
                    <a:pt x="4894" y="36980"/>
                    <a:pt x="6549" y="37183"/>
                  </a:cubicBezTo>
                  <a:cubicBezTo>
                    <a:pt x="6882" y="37223"/>
                    <a:pt x="7213" y="37243"/>
                    <a:pt x="7541" y="37243"/>
                  </a:cubicBezTo>
                  <a:cubicBezTo>
                    <a:pt x="8682" y="37243"/>
                    <a:pt x="9793" y="36998"/>
                    <a:pt x="10847" y="36480"/>
                  </a:cubicBezTo>
                  <a:cubicBezTo>
                    <a:pt x="11140" y="36340"/>
                    <a:pt x="11378" y="36265"/>
                    <a:pt x="11571" y="36265"/>
                  </a:cubicBezTo>
                  <a:cubicBezTo>
                    <a:pt x="11949" y="36265"/>
                    <a:pt x="12154" y="36551"/>
                    <a:pt x="12264" y="37183"/>
                  </a:cubicBezTo>
                  <a:cubicBezTo>
                    <a:pt x="12431" y="38135"/>
                    <a:pt x="12681" y="40993"/>
                    <a:pt x="12883" y="43279"/>
                  </a:cubicBezTo>
                  <a:cubicBezTo>
                    <a:pt x="16181" y="42302"/>
                    <a:pt x="19813" y="41004"/>
                    <a:pt x="22611" y="39457"/>
                  </a:cubicBezTo>
                  <a:cubicBezTo>
                    <a:pt x="25540" y="37837"/>
                    <a:pt x="27706" y="35968"/>
                    <a:pt x="29207" y="34397"/>
                  </a:cubicBezTo>
                  <a:cubicBezTo>
                    <a:pt x="29123" y="33670"/>
                    <a:pt x="29064" y="33051"/>
                    <a:pt x="29028" y="32670"/>
                  </a:cubicBezTo>
                  <a:cubicBezTo>
                    <a:pt x="28921" y="31789"/>
                    <a:pt x="28707" y="30932"/>
                    <a:pt x="28861" y="30039"/>
                  </a:cubicBezTo>
                  <a:cubicBezTo>
                    <a:pt x="29147" y="28324"/>
                    <a:pt x="30052" y="26943"/>
                    <a:pt x="31278" y="25765"/>
                  </a:cubicBezTo>
                  <a:cubicBezTo>
                    <a:pt x="32076" y="24991"/>
                    <a:pt x="32790" y="24157"/>
                    <a:pt x="33421" y="23252"/>
                  </a:cubicBezTo>
                  <a:cubicBezTo>
                    <a:pt x="35779" y="19811"/>
                    <a:pt x="37017" y="16073"/>
                    <a:pt x="36303" y="11882"/>
                  </a:cubicBezTo>
                  <a:cubicBezTo>
                    <a:pt x="35898" y="9501"/>
                    <a:pt x="35041" y="7298"/>
                    <a:pt x="33481" y="5429"/>
                  </a:cubicBezTo>
                  <a:cubicBezTo>
                    <a:pt x="31457" y="3012"/>
                    <a:pt x="28754" y="1619"/>
                    <a:pt x="25754" y="821"/>
                  </a:cubicBezTo>
                  <a:cubicBezTo>
                    <a:pt x="23668" y="263"/>
                    <a:pt x="21554" y="0"/>
                    <a:pt x="194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230;p54">
              <a:extLst>
                <a:ext uri="{FF2B5EF4-FFF2-40B4-BE49-F238E27FC236}">
                  <a16:creationId xmlns:a16="http://schemas.microsoft.com/office/drawing/2014/main" id="{83F30AAF-969A-893E-83EC-898228B67896}"/>
                </a:ext>
              </a:extLst>
            </p:cNvPr>
            <p:cNvSpPr/>
            <p:nvPr/>
          </p:nvSpPr>
          <p:spPr>
            <a:xfrm>
              <a:off x="3518275" y="2236425"/>
              <a:ext cx="592075" cy="795700"/>
            </a:xfrm>
            <a:custGeom>
              <a:avLst/>
              <a:gdLst/>
              <a:ahLst/>
              <a:cxnLst/>
              <a:rect l="l" t="t" r="r" b="b"/>
              <a:pathLst>
                <a:path w="23683" h="31828" extrusionOk="0">
                  <a:moveTo>
                    <a:pt x="10478" y="7620"/>
                  </a:moveTo>
                  <a:cubicBezTo>
                    <a:pt x="10705" y="7620"/>
                    <a:pt x="10943" y="7632"/>
                    <a:pt x="11181" y="7668"/>
                  </a:cubicBezTo>
                  <a:cubicBezTo>
                    <a:pt x="12205" y="7799"/>
                    <a:pt x="13026" y="8275"/>
                    <a:pt x="13562" y="9061"/>
                  </a:cubicBezTo>
                  <a:cubicBezTo>
                    <a:pt x="14229" y="10025"/>
                    <a:pt x="14407" y="11383"/>
                    <a:pt x="14050" y="12787"/>
                  </a:cubicBezTo>
                  <a:cubicBezTo>
                    <a:pt x="13919" y="13299"/>
                    <a:pt x="13729" y="13823"/>
                    <a:pt x="13503" y="14311"/>
                  </a:cubicBezTo>
                  <a:cubicBezTo>
                    <a:pt x="13324" y="14361"/>
                    <a:pt x="13143" y="14386"/>
                    <a:pt x="12966" y="14386"/>
                  </a:cubicBezTo>
                  <a:cubicBezTo>
                    <a:pt x="12552" y="14386"/>
                    <a:pt x="12162" y="14252"/>
                    <a:pt x="11895" y="14002"/>
                  </a:cubicBezTo>
                  <a:cubicBezTo>
                    <a:pt x="11657" y="13764"/>
                    <a:pt x="11490" y="13454"/>
                    <a:pt x="11348" y="13109"/>
                  </a:cubicBezTo>
                  <a:cubicBezTo>
                    <a:pt x="11252" y="12930"/>
                    <a:pt x="11157" y="12740"/>
                    <a:pt x="11062" y="12561"/>
                  </a:cubicBezTo>
                  <a:cubicBezTo>
                    <a:pt x="10466" y="11573"/>
                    <a:pt x="9693" y="11025"/>
                    <a:pt x="8764" y="10954"/>
                  </a:cubicBezTo>
                  <a:cubicBezTo>
                    <a:pt x="8681" y="10947"/>
                    <a:pt x="8599" y="10943"/>
                    <a:pt x="8516" y="10943"/>
                  </a:cubicBezTo>
                  <a:cubicBezTo>
                    <a:pt x="7366" y="10943"/>
                    <a:pt x="6184" y="11616"/>
                    <a:pt x="5240" y="12371"/>
                  </a:cubicBezTo>
                  <a:cubicBezTo>
                    <a:pt x="5371" y="11383"/>
                    <a:pt x="5752" y="10406"/>
                    <a:pt x="6502" y="9608"/>
                  </a:cubicBezTo>
                  <a:cubicBezTo>
                    <a:pt x="7811" y="8239"/>
                    <a:pt x="9038" y="7620"/>
                    <a:pt x="10478" y="7620"/>
                  </a:cubicBezTo>
                  <a:close/>
                  <a:moveTo>
                    <a:pt x="8526" y="11383"/>
                  </a:moveTo>
                  <a:cubicBezTo>
                    <a:pt x="8585" y="11383"/>
                    <a:pt x="8669" y="11383"/>
                    <a:pt x="8728" y="11394"/>
                  </a:cubicBezTo>
                  <a:cubicBezTo>
                    <a:pt x="9514" y="11454"/>
                    <a:pt x="10169" y="11930"/>
                    <a:pt x="10669" y="12787"/>
                  </a:cubicBezTo>
                  <a:cubicBezTo>
                    <a:pt x="10764" y="12942"/>
                    <a:pt x="10847" y="13109"/>
                    <a:pt x="10943" y="13288"/>
                  </a:cubicBezTo>
                  <a:cubicBezTo>
                    <a:pt x="11109" y="13645"/>
                    <a:pt x="11288" y="14014"/>
                    <a:pt x="11598" y="14311"/>
                  </a:cubicBezTo>
                  <a:cubicBezTo>
                    <a:pt x="11941" y="14645"/>
                    <a:pt x="12421" y="14825"/>
                    <a:pt x="12939" y="14825"/>
                  </a:cubicBezTo>
                  <a:cubicBezTo>
                    <a:pt x="13050" y="14825"/>
                    <a:pt x="13163" y="14816"/>
                    <a:pt x="13276" y="14800"/>
                  </a:cubicBezTo>
                  <a:lnTo>
                    <a:pt x="13276" y="14800"/>
                  </a:lnTo>
                  <a:cubicBezTo>
                    <a:pt x="13098" y="15193"/>
                    <a:pt x="12895" y="15574"/>
                    <a:pt x="12693" y="15955"/>
                  </a:cubicBezTo>
                  <a:cubicBezTo>
                    <a:pt x="12514" y="16312"/>
                    <a:pt x="12324" y="16681"/>
                    <a:pt x="12145" y="17038"/>
                  </a:cubicBezTo>
                  <a:cubicBezTo>
                    <a:pt x="12026" y="17288"/>
                    <a:pt x="11907" y="17538"/>
                    <a:pt x="11800" y="17800"/>
                  </a:cubicBezTo>
                  <a:cubicBezTo>
                    <a:pt x="11681" y="17777"/>
                    <a:pt x="11556" y="17765"/>
                    <a:pt x="11424" y="17765"/>
                  </a:cubicBezTo>
                  <a:cubicBezTo>
                    <a:pt x="11146" y="17765"/>
                    <a:pt x="10837" y="17818"/>
                    <a:pt x="10490" y="17931"/>
                  </a:cubicBezTo>
                  <a:cubicBezTo>
                    <a:pt x="9478" y="18276"/>
                    <a:pt x="8740" y="18860"/>
                    <a:pt x="8133" y="19550"/>
                  </a:cubicBezTo>
                  <a:cubicBezTo>
                    <a:pt x="6656" y="18574"/>
                    <a:pt x="5597" y="16871"/>
                    <a:pt x="5287" y="14966"/>
                  </a:cubicBezTo>
                  <a:cubicBezTo>
                    <a:pt x="5192" y="14371"/>
                    <a:pt x="5132" y="13692"/>
                    <a:pt x="5168" y="12990"/>
                  </a:cubicBezTo>
                  <a:cubicBezTo>
                    <a:pt x="6240" y="12085"/>
                    <a:pt x="7454" y="11383"/>
                    <a:pt x="8526" y="11383"/>
                  </a:cubicBezTo>
                  <a:close/>
                  <a:moveTo>
                    <a:pt x="11448" y="18220"/>
                  </a:moveTo>
                  <a:cubicBezTo>
                    <a:pt x="11503" y="18220"/>
                    <a:pt x="11557" y="18223"/>
                    <a:pt x="11609" y="18229"/>
                  </a:cubicBezTo>
                  <a:cubicBezTo>
                    <a:pt x="11300" y="19014"/>
                    <a:pt x="11014" y="19812"/>
                    <a:pt x="10788" y="20610"/>
                  </a:cubicBezTo>
                  <a:cubicBezTo>
                    <a:pt x="10014" y="20479"/>
                    <a:pt x="9240" y="20205"/>
                    <a:pt x="8514" y="19788"/>
                  </a:cubicBezTo>
                  <a:cubicBezTo>
                    <a:pt x="9062" y="19169"/>
                    <a:pt x="9740" y="18657"/>
                    <a:pt x="10633" y="18360"/>
                  </a:cubicBezTo>
                  <a:cubicBezTo>
                    <a:pt x="10862" y="18290"/>
                    <a:pt x="11166" y="18220"/>
                    <a:pt x="11448" y="18220"/>
                  </a:cubicBezTo>
                  <a:close/>
                  <a:moveTo>
                    <a:pt x="17242" y="12115"/>
                  </a:moveTo>
                  <a:cubicBezTo>
                    <a:pt x="17403" y="12115"/>
                    <a:pt x="17580" y="12139"/>
                    <a:pt x="17777" y="12192"/>
                  </a:cubicBezTo>
                  <a:cubicBezTo>
                    <a:pt x="19396" y="12633"/>
                    <a:pt x="20658" y="13526"/>
                    <a:pt x="21504" y="14752"/>
                  </a:cubicBezTo>
                  <a:cubicBezTo>
                    <a:pt x="21349" y="15062"/>
                    <a:pt x="21146" y="15359"/>
                    <a:pt x="20944" y="15657"/>
                  </a:cubicBezTo>
                  <a:cubicBezTo>
                    <a:pt x="19194" y="18157"/>
                    <a:pt x="16360" y="20122"/>
                    <a:pt x="13443" y="20610"/>
                  </a:cubicBezTo>
                  <a:cubicBezTo>
                    <a:pt x="13348" y="20431"/>
                    <a:pt x="13312" y="20265"/>
                    <a:pt x="13276" y="20110"/>
                  </a:cubicBezTo>
                  <a:cubicBezTo>
                    <a:pt x="13241" y="19991"/>
                    <a:pt x="13217" y="19848"/>
                    <a:pt x="13205" y="19729"/>
                  </a:cubicBezTo>
                  <a:cubicBezTo>
                    <a:pt x="13086" y="19133"/>
                    <a:pt x="12943" y="18455"/>
                    <a:pt x="12419" y="18062"/>
                  </a:cubicBezTo>
                  <a:cubicBezTo>
                    <a:pt x="12360" y="18026"/>
                    <a:pt x="12300" y="17990"/>
                    <a:pt x="12241" y="17967"/>
                  </a:cubicBezTo>
                  <a:cubicBezTo>
                    <a:pt x="12336" y="17729"/>
                    <a:pt x="12443" y="17490"/>
                    <a:pt x="12562" y="17264"/>
                  </a:cubicBezTo>
                  <a:cubicBezTo>
                    <a:pt x="12741" y="16907"/>
                    <a:pt x="12919" y="16538"/>
                    <a:pt x="13110" y="16193"/>
                  </a:cubicBezTo>
                  <a:cubicBezTo>
                    <a:pt x="13372" y="15704"/>
                    <a:pt x="13622" y="15204"/>
                    <a:pt x="13860" y="14704"/>
                  </a:cubicBezTo>
                  <a:cubicBezTo>
                    <a:pt x="14634" y="14407"/>
                    <a:pt x="15134" y="13799"/>
                    <a:pt x="15574" y="13264"/>
                  </a:cubicBezTo>
                  <a:cubicBezTo>
                    <a:pt x="16074" y="12637"/>
                    <a:pt x="16493" y="12115"/>
                    <a:pt x="17242" y="12115"/>
                  </a:cubicBezTo>
                  <a:close/>
                  <a:moveTo>
                    <a:pt x="12062" y="18360"/>
                  </a:moveTo>
                  <a:cubicBezTo>
                    <a:pt x="12086" y="18383"/>
                    <a:pt x="12121" y="18395"/>
                    <a:pt x="12145" y="18419"/>
                  </a:cubicBezTo>
                  <a:cubicBezTo>
                    <a:pt x="12550" y="18705"/>
                    <a:pt x="12657" y="19241"/>
                    <a:pt x="12752" y="19824"/>
                  </a:cubicBezTo>
                  <a:cubicBezTo>
                    <a:pt x="12788" y="19955"/>
                    <a:pt x="12800" y="20086"/>
                    <a:pt x="12836" y="20205"/>
                  </a:cubicBezTo>
                  <a:cubicBezTo>
                    <a:pt x="12860" y="20360"/>
                    <a:pt x="12919" y="20526"/>
                    <a:pt x="12967" y="20669"/>
                  </a:cubicBezTo>
                  <a:cubicBezTo>
                    <a:pt x="12675" y="20699"/>
                    <a:pt x="12383" y="20714"/>
                    <a:pt x="12095" y="20714"/>
                  </a:cubicBezTo>
                  <a:cubicBezTo>
                    <a:pt x="11806" y="20714"/>
                    <a:pt x="11520" y="20699"/>
                    <a:pt x="11240" y="20669"/>
                  </a:cubicBezTo>
                  <a:cubicBezTo>
                    <a:pt x="11467" y="19884"/>
                    <a:pt x="11740" y="19110"/>
                    <a:pt x="12062" y="18360"/>
                  </a:cubicBezTo>
                  <a:close/>
                  <a:moveTo>
                    <a:pt x="21742" y="15169"/>
                  </a:moveTo>
                  <a:cubicBezTo>
                    <a:pt x="22039" y="15669"/>
                    <a:pt x="22266" y="16240"/>
                    <a:pt x="22420" y="16836"/>
                  </a:cubicBezTo>
                  <a:cubicBezTo>
                    <a:pt x="23170" y="19836"/>
                    <a:pt x="22337" y="21360"/>
                    <a:pt x="19265" y="22586"/>
                  </a:cubicBezTo>
                  <a:cubicBezTo>
                    <a:pt x="18300" y="22972"/>
                    <a:pt x="17367" y="23177"/>
                    <a:pt x="16647" y="23177"/>
                  </a:cubicBezTo>
                  <a:cubicBezTo>
                    <a:pt x="16391" y="23177"/>
                    <a:pt x="16161" y="23151"/>
                    <a:pt x="15967" y="23098"/>
                  </a:cubicBezTo>
                  <a:cubicBezTo>
                    <a:pt x="14943" y="22789"/>
                    <a:pt x="14086" y="22015"/>
                    <a:pt x="13586" y="21027"/>
                  </a:cubicBezTo>
                  <a:cubicBezTo>
                    <a:pt x="16598" y="20491"/>
                    <a:pt x="19480" y="18467"/>
                    <a:pt x="21265" y="15907"/>
                  </a:cubicBezTo>
                  <a:cubicBezTo>
                    <a:pt x="21432" y="15669"/>
                    <a:pt x="21599" y="15419"/>
                    <a:pt x="21742" y="15169"/>
                  </a:cubicBezTo>
                  <a:close/>
                  <a:moveTo>
                    <a:pt x="4716" y="13395"/>
                  </a:moveTo>
                  <a:cubicBezTo>
                    <a:pt x="4716" y="13978"/>
                    <a:pt x="4775" y="14538"/>
                    <a:pt x="4859" y="15026"/>
                  </a:cubicBezTo>
                  <a:cubicBezTo>
                    <a:pt x="5180" y="17038"/>
                    <a:pt x="6299" y="18836"/>
                    <a:pt x="7847" y="19895"/>
                  </a:cubicBezTo>
                  <a:cubicBezTo>
                    <a:pt x="7442" y="20431"/>
                    <a:pt x="7085" y="21015"/>
                    <a:pt x="6740" y="21574"/>
                  </a:cubicBezTo>
                  <a:cubicBezTo>
                    <a:pt x="6526" y="21955"/>
                    <a:pt x="6287" y="22348"/>
                    <a:pt x="6025" y="22729"/>
                  </a:cubicBezTo>
                  <a:cubicBezTo>
                    <a:pt x="5525" y="23479"/>
                    <a:pt x="4859" y="23896"/>
                    <a:pt x="4144" y="23896"/>
                  </a:cubicBezTo>
                  <a:cubicBezTo>
                    <a:pt x="3382" y="23896"/>
                    <a:pt x="2632" y="23420"/>
                    <a:pt x="2061" y="22551"/>
                  </a:cubicBezTo>
                  <a:cubicBezTo>
                    <a:pt x="549" y="20288"/>
                    <a:pt x="2037" y="16395"/>
                    <a:pt x="3692" y="14466"/>
                  </a:cubicBezTo>
                  <a:cubicBezTo>
                    <a:pt x="4001" y="14109"/>
                    <a:pt x="4347" y="13740"/>
                    <a:pt x="4716" y="13395"/>
                  </a:cubicBezTo>
                  <a:close/>
                  <a:moveTo>
                    <a:pt x="13669" y="0"/>
                  </a:moveTo>
                  <a:cubicBezTo>
                    <a:pt x="13264" y="12"/>
                    <a:pt x="12848" y="24"/>
                    <a:pt x="12443" y="60"/>
                  </a:cubicBezTo>
                  <a:cubicBezTo>
                    <a:pt x="12086" y="84"/>
                    <a:pt x="11717" y="119"/>
                    <a:pt x="11359" y="167"/>
                  </a:cubicBezTo>
                  <a:cubicBezTo>
                    <a:pt x="12967" y="250"/>
                    <a:pt x="14503" y="548"/>
                    <a:pt x="15896" y="1084"/>
                  </a:cubicBezTo>
                  <a:cubicBezTo>
                    <a:pt x="18217" y="1977"/>
                    <a:pt x="20099" y="3524"/>
                    <a:pt x="21146" y="5453"/>
                  </a:cubicBezTo>
                  <a:cubicBezTo>
                    <a:pt x="22849" y="8525"/>
                    <a:pt x="23039" y="11549"/>
                    <a:pt x="21718" y="14264"/>
                  </a:cubicBezTo>
                  <a:cubicBezTo>
                    <a:pt x="20813" y="13049"/>
                    <a:pt x="19480" y="12168"/>
                    <a:pt x="17872" y="11728"/>
                  </a:cubicBezTo>
                  <a:cubicBezTo>
                    <a:pt x="17626" y="11658"/>
                    <a:pt x="17404" y="11626"/>
                    <a:pt x="17200" y="11626"/>
                  </a:cubicBezTo>
                  <a:cubicBezTo>
                    <a:pt x="16262" y="11626"/>
                    <a:pt x="15736" y="12296"/>
                    <a:pt x="15217" y="12942"/>
                  </a:cubicBezTo>
                  <a:cubicBezTo>
                    <a:pt x="14884" y="13347"/>
                    <a:pt x="14562" y="13764"/>
                    <a:pt x="14122" y="14050"/>
                  </a:cubicBezTo>
                  <a:cubicBezTo>
                    <a:pt x="14276" y="13669"/>
                    <a:pt x="14407" y="13288"/>
                    <a:pt x="14515" y="12883"/>
                  </a:cubicBezTo>
                  <a:cubicBezTo>
                    <a:pt x="14896" y="11371"/>
                    <a:pt x="14693" y="9894"/>
                    <a:pt x="13943" y="8811"/>
                  </a:cubicBezTo>
                  <a:cubicBezTo>
                    <a:pt x="13336" y="7918"/>
                    <a:pt x="12419" y="7358"/>
                    <a:pt x="11252" y="7227"/>
                  </a:cubicBezTo>
                  <a:cubicBezTo>
                    <a:pt x="10988" y="7194"/>
                    <a:pt x="10731" y="7178"/>
                    <a:pt x="10480" y="7178"/>
                  </a:cubicBezTo>
                  <a:cubicBezTo>
                    <a:pt x="8913" y="7178"/>
                    <a:pt x="7588" y="7833"/>
                    <a:pt x="6192" y="9311"/>
                  </a:cubicBezTo>
                  <a:cubicBezTo>
                    <a:pt x="5240" y="10311"/>
                    <a:pt x="4859" y="11573"/>
                    <a:pt x="4763" y="12799"/>
                  </a:cubicBezTo>
                  <a:cubicBezTo>
                    <a:pt x="4120" y="13359"/>
                    <a:pt x="3632" y="13895"/>
                    <a:pt x="3382" y="14192"/>
                  </a:cubicBezTo>
                  <a:cubicBezTo>
                    <a:pt x="1703" y="16157"/>
                    <a:pt x="1" y="20253"/>
                    <a:pt x="1703" y="22812"/>
                  </a:cubicBezTo>
                  <a:cubicBezTo>
                    <a:pt x="2370" y="23813"/>
                    <a:pt x="3251" y="24360"/>
                    <a:pt x="4156" y="24360"/>
                  </a:cubicBezTo>
                  <a:cubicBezTo>
                    <a:pt x="5013" y="24360"/>
                    <a:pt x="5823" y="23872"/>
                    <a:pt x="6418" y="22979"/>
                  </a:cubicBezTo>
                  <a:cubicBezTo>
                    <a:pt x="6668" y="22586"/>
                    <a:pt x="6907" y="22205"/>
                    <a:pt x="7145" y="21812"/>
                  </a:cubicBezTo>
                  <a:cubicBezTo>
                    <a:pt x="7502" y="21229"/>
                    <a:pt x="7847" y="20657"/>
                    <a:pt x="8252" y="20145"/>
                  </a:cubicBezTo>
                  <a:cubicBezTo>
                    <a:pt x="9026" y="20610"/>
                    <a:pt x="9859" y="20896"/>
                    <a:pt x="10693" y="21038"/>
                  </a:cubicBezTo>
                  <a:cubicBezTo>
                    <a:pt x="10550" y="21527"/>
                    <a:pt x="10431" y="22039"/>
                    <a:pt x="10347" y="22539"/>
                  </a:cubicBezTo>
                  <a:cubicBezTo>
                    <a:pt x="9931" y="24717"/>
                    <a:pt x="10014" y="26372"/>
                    <a:pt x="10645" y="27718"/>
                  </a:cubicBezTo>
                  <a:cubicBezTo>
                    <a:pt x="11490" y="29599"/>
                    <a:pt x="13348" y="30813"/>
                    <a:pt x="14836" y="31790"/>
                  </a:cubicBezTo>
                  <a:cubicBezTo>
                    <a:pt x="14875" y="31816"/>
                    <a:pt x="14917" y="31827"/>
                    <a:pt x="14959" y="31827"/>
                  </a:cubicBezTo>
                  <a:cubicBezTo>
                    <a:pt x="15032" y="31827"/>
                    <a:pt x="15104" y="31791"/>
                    <a:pt x="15158" y="31730"/>
                  </a:cubicBezTo>
                  <a:cubicBezTo>
                    <a:pt x="15229" y="31623"/>
                    <a:pt x="15193" y="31492"/>
                    <a:pt x="15098" y="31409"/>
                  </a:cubicBezTo>
                  <a:cubicBezTo>
                    <a:pt x="13645" y="30456"/>
                    <a:pt x="11848" y="29289"/>
                    <a:pt x="11062" y="27527"/>
                  </a:cubicBezTo>
                  <a:cubicBezTo>
                    <a:pt x="10478" y="26265"/>
                    <a:pt x="10407" y="24706"/>
                    <a:pt x="10788" y="22622"/>
                  </a:cubicBezTo>
                  <a:cubicBezTo>
                    <a:pt x="10895" y="22110"/>
                    <a:pt x="11002" y="21586"/>
                    <a:pt x="11145" y="21086"/>
                  </a:cubicBezTo>
                  <a:cubicBezTo>
                    <a:pt x="11467" y="21110"/>
                    <a:pt x="11764" y="21146"/>
                    <a:pt x="12074" y="21146"/>
                  </a:cubicBezTo>
                  <a:cubicBezTo>
                    <a:pt x="12443" y="21146"/>
                    <a:pt x="12800" y="21110"/>
                    <a:pt x="13169" y="21074"/>
                  </a:cubicBezTo>
                  <a:cubicBezTo>
                    <a:pt x="13705" y="22229"/>
                    <a:pt x="14705" y="23134"/>
                    <a:pt x="15884" y="23491"/>
                  </a:cubicBezTo>
                  <a:cubicBezTo>
                    <a:pt x="16126" y="23567"/>
                    <a:pt x="16411" y="23604"/>
                    <a:pt x="16727" y="23604"/>
                  </a:cubicBezTo>
                  <a:cubicBezTo>
                    <a:pt x="17500" y="23604"/>
                    <a:pt x="18463" y="23385"/>
                    <a:pt x="19468" y="22979"/>
                  </a:cubicBezTo>
                  <a:cubicBezTo>
                    <a:pt x="22754" y="21669"/>
                    <a:pt x="23682" y="19967"/>
                    <a:pt x="22861" y="16717"/>
                  </a:cubicBezTo>
                  <a:cubicBezTo>
                    <a:pt x="22682" y="15978"/>
                    <a:pt x="22385" y="15312"/>
                    <a:pt x="22004" y="14704"/>
                  </a:cubicBezTo>
                  <a:cubicBezTo>
                    <a:pt x="23504" y="11787"/>
                    <a:pt x="23349" y="8537"/>
                    <a:pt x="21539" y="5251"/>
                  </a:cubicBezTo>
                  <a:cubicBezTo>
                    <a:pt x="20420" y="3227"/>
                    <a:pt x="18467" y="1608"/>
                    <a:pt x="16051" y="679"/>
                  </a:cubicBezTo>
                  <a:cubicBezTo>
                    <a:pt x="15289" y="381"/>
                    <a:pt x="14479" y="167"/>
                    <a:pt x="136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63;p54">
            <a:extLst>
              <a:ext uri="{FF2B5EF4-FFF2-40B4-BE49-F238E27FC236}">
                <a16:creationId xmlns:a16="http://schemas.microsoft.com/office/drawing/2014/main" id="{4EF0F77D-A8D2-3B18-6882-51B87C9B841B}"/>
              </a:ext>
            </a:extLst>
          </p:cNvPr>
          <p:cNvGrpSpPr/>
          <p:nvPr/>
        </p:nvGrpSpPr>
        <p:grpSpPr>
          <a:xfrm>
            <a:off x="3724726" y="1780756"/>
            <a:ext cx="414318" cy="429915"/>
            <a:chOff x="6072409" y="4521978"/>
            <a:chExt cx="436705" cy="478622"/>
          </a:xfrm>
          <a:solidFill>
            <a:schemeClr val="accent3">
              <a:lumMod val="75000"/>
            </a:schemeClr>
          </a:solidFill>
        </p:grpSpPr>
        <p:sp>
          <p:nvSpPr>
            <p:cNvPr id="23" name="Google Shape;2264;p54">
              <a:extLst>
                <a:ext uri="{FF2B5EF4-FFF2-40B4-BE49-F238E27FC236}">
                  <a16:creationId xmlns:a16="http://schemas.microsoft.com/office/drawing/2014/main" id="{4184B7BC-825C-2AD4-B72C-D0D09B6CD027}"/>
                </a:ext>
              </a:extLst>
            </p:cNvPr>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265;p54">
              <a:extLst>
                <a:ext uri="{FF2B5EF4-FFF2-40B4-BE49-F238E27FC236}">
                  <a16:creationId xmlns:a16="http://schemas.microsoft.com/office/drawing/2014/main" id="{A2CEC4EA-BB87-D2D4-EC61-B12858712BB4}"/>
                </a:ext>
              </a:extLst>
            </p:cNvPr>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266;p54">
              <a:extLst>
                <a:ext uri="{FF2B5EF4-FFF2-40B4-BE49-F238E27FC236}">
                  <a16:creationId xmlns:a16="http://schemas.microsoft.com/office/drawing/2014/main" id="{3AE9D2AF-1BC0-B5DA-2C71-93AA26DB47DD}"/>
                </a:ext>
              </a:extLst>
            </p:cNvPr>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267;p54">
              <a:extLst>
                <a:ext uri="{FF2B5EF4-FFF2-40B4-BE49-F238E27FC236}">
                  <a16:creationId xmlns:a16="http://schemas.microsoft.com/office/drawing/2014/main" id="{F0E9A95F-A5E4-7552-C14C-63FFB467E7D5}"/>
                </a:ext>
              </a:extLst>
            </p:cNvPr>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268;p54">
              <a:extLst>
                <a:ext uri="{FF2B5EF4-FFF2-40B4-BE49-F238E27FC236}">
                  <a16:creationId xmlns:a16="http://schemas.microsoft.com/office/drawing/2014/main" id="{F46F9EDC-D78C-8604-7A29-ABD9296666A2}"/>
                </a:ext>
              </a:extLst>
            </p:cNvPr>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2269;p54">
              <a:extLst>
                <a:ext uri="{FF2B5EF4-FFF2-40B4-BE49-F238E27FC236}">
                  <a16:creationId xmlns:a16="http://schemas.microsoft.com/office/drawing/2014/main" id="{383927AE-2CDD-C9E0-3E93-103EA3EAB7A8}"/>
                </a:ext>
              </a:extLst>
            </p:cNvPr>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270;p54">
              <a:extLst>
                <a:ext uri="{FF2B5EF4-FFF2-40B4-BE49-F238E27FC236}">
                  <a16:creationId xmlns:a16="http://schemas.microsoft.com/office/drawing/2014/main" id="{6CF68FA0-ED95-2BD5-6988-BFC64A39DD4C}"/>
                </a:ext>
              </a:extLst>
            </p:cNvPr>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271;p54">
              <a:extLst>
                <a:ext uri="{FF2B5EF4-FFF2-40B4-BE49-F238E27FC236}">
                  <a16:creationId xmlns:a16="http://schemas.microsoft.com/office/drawing/2014/main" id="{735F61BD-D0A9-5854-6BD4-C409B0BC2BA0}"/>
                </a:ext>
              </a:extLst>
            </p:cNvPr>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272;p54">
              <a:extLst>
                <a:ext uri="{FF2B5EF4-FFF2-40B4-BE49-F238E27FC236}">
                  <a16:creationId xmlns:a16="http://schemas.microsoft.com/office/drawing/2014/main" id="{58AAF32F-012C-1C00-4144-511058C08778}"/>
                </a:ext>
              </a:extLst>
            </p:cNvPr>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Oval 35">
            <a:extLst>
              <a:ext uri="{FF2B5EF4-FFF2-40B4-BE49-F238E27FC236}">
                <a16:creationId xmlns:a16="http://schemas.microsoft.com/office/drawing/2014/main" id="{7FB20025-7AE0-F054-99A7-57698B9E14B3}"/>
              </a:ext>
            </a:extLst>
          </p:cNvPr>
          <p:cNvSpPr/>
          <p:nvPr/>
        </p:nvSpPr>
        <p:spPr>
          <a:xfrm>
            <a:off x="1792514" y="1129299"/>
            <a:ext cx="5558970" cy="332377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1">
            <a:extLst>
              <a:ext uri="{FF2B5EF4-FFF2-40B4-BE49-F238E27FC236}">
                <a16:creationId xmlns:a16="http://schemas.microsoft.com/office/drawing/2014/main" id="{74EB7828-92D3-C0EA-DB7F-C81504414B65}"/>
              </a:ext>
            </a:extLst>
          </p:cNvPr>
          <p:cNvSpPr txBox="1"/>
          <p:nvPr/>
        </p:nvSpPr>
        <p:spPr>
          <a:xfrm>
            <a:off x="3679648" y="1054345"/>
            <a:ext cx="1800493"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dirty="0">
                <a:solidFill>
                  <a:schemeClr val="tx1"/>
                </a:solidFill>
                <a:latin typeface="Grandview" panose="020B0502040204020203" pitchFamily="34" charset="0"/>
              </a:rPr>
              <a:t>Academic Workload</a:t>
            </a:r>
          </a:p>
        </p:txBody>
      </p:sp>
      <p:sp>
        <p:nvSpPr>
          <p:cNvPr id="3" name="TextBox 2">
            <a:extLst>
              <a:ext uri="{FF2B5EF4-FFF2-40B4-BE49-F238E27FC236}">
                <a16:creationId xmlns:a16="http://schemas.microsoft.com/office/drawing/2014/main" id="{6900093E-A601-E8AC-1576-506FA0D953B6}"/>
              </a:ext>
            </a:extLst>
          </p:cNvPr>
          <p:cNvSpPr txBox="1"/>
          <p:nvPr/>
        </p:nvSpPr>
        <p:spPr>
          <a:xfrm>
            <a:off x="3720874" y="4290797"/>
            <a:ext cx="1816523"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dirty="0">
                <a:solidFill>
                  <a:schemeClr val="tx1"/>
                </a:solidFill>
                <a:latin typeface="Grandview" panose="020B0502040204020203" pitchFamily="34" charset="0"/>
              </a:rPr>
              <a:t>Family Expectations</a:t>
            </a:r>
          </a:p>
        </p:txBody>
      </p:sp>
      <p:sp>
        <p:nvSpPr>
          <p:cNvPr id="4" name="TextBox 3">
            <a:extLst>
              <a:ext uri="{FF2B5EF4-FFF2-40B4-BE49-F238E27FC236}">
                <a16:creationId xmlns:a16="http://schemas.microsoft.com/office/drawing/2014/main" id="{448AE918-7075-F329-BDB1-6CD7092C4850}"/>
              </a:ext>
            </a:extLst>
          </p:cNvPr>
          <p:cNvSpPr txBox="1"/>
          <p:nvPr/>
        </p:nvSpPr>
        <p:spPr>
          <a:xfrm>
            <a:off x="6457022" y="1995713"/>
            <a:ext cx="1388522"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dirty="0">
                <a:solidFill>
                  <a:schemeClr val="tx1"/>
                </a:solidFill>
                <a:latin typeface="Grandview" panose="020B0502040204020203" pitchFamily="34" charset="0"/>
              </a:rPr>
              <a:t>Finance Issues</a:t>
            </a:r>
          </a:p>
        </p:txBody>
      </p:sp>
      <p:sp>
        <p:nvSpPr>
          <p:cNvPr id="32" name="TextBox 31">
            <a:extLst>
              <a:ext uri="{FF2B5EF4-FFF2-40B4-BE49-F238E27FC236}">
                <a16:creationId xmlns:a16="http://schemas.microsoft.com/office/drawing/2014/main" id="{81FBF42B-2DCD-A5B6-1D41-B70CDE72E534}"/>
              </a:ext>
            </a:extLst>
          </p:cNvPr>
          <p:cNvSpPr txBox="1"/>
          <p:nvPr/>
        </p:nvSpPr>
        <p:spPr>
          <a:xfrm>
            <a:off x="6513290" y="3107313"/>
            <a:ext cx="1269899"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dirty="0">
                <a:solidFill>
                  <a:schemeClr val="tx1"/>
                </a:solidFill>
                <a:latin typeface="Grandview" panose="020B0502040204020203" pitchFamily="34" charset="0"/>
              </a:rPr>
              <a:t>Health Issues</a:t>
            </a:r>
          </a:p>
        </p:txBody>
      </p:sp>
      <p:sp>
        <p:nvSpPr>
          <p:cNvPr id="34" name="TextBox 33">
            <a:extLst>
              <a:ext uri="{FF2B5EF4-FFF2-40B4-BE49-F238E27FC236}">
                <a16:creationId xmlns:a16="http://schemas.microsoft.com/office/drawing/2014/main" id="{75F2A6A6-F0D4-11ED-9343-86EACA9BE7C5}"/>
              </a:ext>
            </a:extLst>
          </p:cNvPr>
          <p:cNvSpPr txBox="1"/>
          <p:nvPr/>
        </p:nvSpPr>
        <p:spPr>
          <a:xfrm>
            <a:off x="1253532" y="1995713"/>
            <a:ext cx="1431802"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dirty="0">
                <a:solidFill>
                  <a:schemeClr val="tx1"/>
                </a:solidFill>
                <a:latin typeface="Grandview" panose="020B0502040204020203" pitchFamily="34" charset="0"/>
              </a:rPr>
              <a:t>Social Isolation</a:t>
            </a:r>
          </a:p>
        </p:txBody>
      </p:sp>
      <p:sp>
        <p:nvSpPr>
          <p:cNvPr id="35" name="TextBox 34">
            <a:extLst>
              <a:ext uri="{FF2B5EF4-FFF2-40B4-BE49-F238E27FC236}">
                <a16:creationId xmlns:a16="http://schemas.microsoft.com/office/drawing/2014/main" id="{3D086D51-F95F-E8CE-205A-2A61C22A4545}"/>
              </a:ext>
            </a:extLst>
          </p:cNvPr>
          <p:cNvSpPr txBox="1"/>
          <p:nvPr/>
        </p:nvSpPr>
        <p:spPr>
          <a:xfrm>
            <a:off x="1253532" y="3107314"/>
            <a:ext cx="1348446"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dirty="0">
                <a:solidFill>
                  <a:schemeClr val="tx1"/>
                </a:solidFill>
                <a:latin typeface="Grandview" panose="020B0502040204020203" pitchFamily="34" charset="0"/>
              </a:rPr>
              <a:t>Peer Pressure</a:t>
            </a:r>
          </a:p>
        </p:txBody>
      </p:sp>
      <p:sp>
        <p:nvSpPr>
          <p:cNvPr id="33" name="TextBox 32">
            <a:extLst>
              <a:ext uri="{FF2B5EF4-FFF2-40B4-BE49-F238E27FC236}">
                <a16:creationId xmlns:a16="http://schemas.microsoft.com/office/drawing/2014/main" id="{49EA15E3-72AC-81F6-87FC-25DFE3AAE4AF}"/>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17</a:t>
            </a:r>
            <a:endParaRPr lang="en-IN" dirty="0">
              <a:solidFill>
                <a:sysClr val="windowText" lastClr="000000"/>
              </a:solidFill>
            </a:endParaRPr>
          </a:p>
        </p:txBody>
      </p:sp>
    </p:spTree>
    <p:extLst>
      <p:ext uri="{BB962C8B-B14F-4D97-AF65-F5344CB8AC3E}">
        <p14:creationId xmlns:p14="http://schemas.microsoft.com/office/powerpoint/2010/main" val="2943805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1713" name="Google Shape;1713;p43"/>
          <p:cNvSpPr txBox="1">
            <a:spLocks noGrp="1"/>
          </p:cNvSpPr>
          <p:nvPr>
            <p:ph type="body" idx="1"/>
          </p:nvPr>
        </p:nvSpPr>
        <p:spPr>
          <a:xfrm>
            <a:off x="603807" y="595670"/>
            <a:ext cx="7936386" cy="3952159"/>
          </a:xfrm>
          <a:prstGeom prst="rect">
            <a:avLst/>
          </a:prstGeom>
        </p:spPr>
        <p:txBody>
          <a:bodyPr spcFirstLastPara="1" wrap="square" lIns="91425" tIns="91425" rIns="91425" bIns="91425" anchor="t" anchorCtr="0">
            <a:noAutofit/>
          </a:bodyPr>
          <a:lstStyle/>
          <a:p>
            <a:pPr marL="285750" indent="-285750"/>
            <a:endParaRPr lang="en-US" sz="1400" b="1" i="0" dirty="0">
              <a:solidFill>
                <a:srgbClr val="212121"/>
              </a:solidFill>
              <a:effectLst/>
              <a:latin typeface="Grandview" panose="020B0502040204020203" pitchFamily="34" charset="0"/>
            </a:endParaRPr>
          </a:p>
          <a:p>
            <a:pPr marL="285750" indent="-285750"/>
            <a:r>
              <a:rPr lang="en-US" sz="1400" b="1" i="0" dirty="0">
                <a:solidFill>
                  <a:srgbClr val="212121"/>
                </a:solidFill>
                <a:effectLst/>
                <a:latin typeface="Grandview" panose="020B0502040204020203" pitchFamily="34" charset="0"/>
              </a:rPr>
              <a:t>H</a:t>
            </a:r>
            <a:r>
              <a:rPr lang="en-US" sz="1400" b="1" i="0" baseline="-25000" dirty="0">
                <a:solidFill>
                  <a:srgbClr val="212121"/>
                </a:solidFill>
                <a:effectLst/>
                <a:latin typeface="Grandview" panose="020B0502040204020203" pitchFamily="34" charset="0"/>
              </a:rPr>
              <a:t>1a</a:t>
            </a:r>
            <a:r>
              <a:rPr lang="en-US" sz="1400" b="1" i="0" dirty="0">
                <a:solidFill>
                  <a:srgbClr val="212121"/>
                </a:solidFill>
                <a:effectLst/>
                <a:latin typeface="Grandview" panose="020B0502040204020203" pitchFamily="34" charset="0"/>
              </a:rPr>
              <a:t> : </a:t>
            </a:r>
            <a:r>
              <a:rPr lang="en-US" sz="1400" i="0" dirty="0">
                <a:solidFill>
                  <a:schemeClr val="accent2"/>
                </a:solidFill>
                <a:effectLst/>
                <a:latin typeface="Grandview" panose="020B0502040204020203" pitchFamily="34" charset="0"/>
              </a:rPr>
              <a:t>There is a significant impact </a:t>
            </a:r>
            <a:r>
              <a:rPr lang="en-US" sz="1400" dirty="0">
                <a:solidFill>
                  <a:schemeClr val="accent2"/>
                </a:solidFill>
                <a:latin typeface="Grandview" panose="020B0502040204020203" pitchFamily="34" charset="0"/>
              </a:rPr>
              <a:t>of stress caused due to </a:t>
            </a:r>
            <a:r>
              <a:rPr lang="en-US" sz="1400" dirty="0">
                <a:solidFill>
                  <a:schemeClr val="accent2"/>
                </a:solidFill>
                <a:highlight>
                  <a:srgbClr val="FFFF00"/>
                </a:highlight>
                <a:latin typeface="Grandview" panose="020B0502040204020203" pitchFamily="34" charset="0"/>
              </a:rPr>
              <a:t>academic workload </a:t>
            </a:r>
            <a:r>
              <a:rPr lang="en-US" sz="1400" dirty="0">
                <a:solidFill>
                  <a:schemeClr val="accent2"/>
                </a:solidFill>
                <a:latin typeface="Grandview" panose="020B0502040204020203" pitchFamily="34" charset="0"/>
              </a:rPr>
              <a:t>on overall stress.</a:t>
            </a:r>
          </a:p>
          <a:p>
            <a:pPr marL="285750" indent="-285750"/>
            <a:endParaRPr lang="en-US" sz="1400" b="1" i="0" dirty="0">
              <a:solidFill>
                <a:srgbClr val="212121"/>
              </a:solidFill>
              <a:effectLst/>
              <a:latin typeface="Grandview" panose="020B0502040204020203" pitchFamily="34" charset="0"/>
            </a:endParaRPr>
          </a:p>
          <a:p>
            <a:pPr marL="285750" indent="-285750"/>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1b</a:t>
            </a:r>
            <a:r>
              <a:rPr lang="en-US" sz="1400" b="1" dirty="0">
                <a:solidFill>
                  <a:srgbClr val="212121"/>
                </a:solidFill>
                <a:latin typeface="Grandview" panose="020B0502040204020203" pitchFamily="34" charset="0"/>
              </a:rPr>
              <a:t> : </a:t>
            </a:r>
            <a:r>
              <a:rPr lang="en-US" sz="1400" dirty="0">
                <a:solidFill>
                  <a:schemeClr val="accent2"/>
                </a:solidFill>
                <a:latin typeface="Grandview" panose="020B0502040204020203" pitchFamily="34" charset="0"/>
              </a:rPr>
              <a:t>There is a significant impact of stress caused due to </a:t>
            </a:r>
            <a:r>
              <a:rPr lang="en-US" sz="1400" dirty="0">
                <a:solidFill>
                  <a:schemeClr val="accent2"/>
                </a:solidFill>
                <a:highlight>
                  <a:srgbClr val="FFFF00"/>
                </a:highlight>
                <a:latin typeface="Grandview" panose="020B0502040204020203" pitchFamily="34" charset="0"/>
              </a:rPr>
              <a:t>peer pressure </a:t>
            </a:r>
            <a:r>
              <a:rPr lang="en-US" sz="1400" dirty="0">
                <a:solidFill>
                  <a:schemeClr val="accent2"/>
                </a:solidFill>
                <a:latin typeface="Grandview" panose="020B0502040204020203" pitchFamily="34" charset="0"/>
              </a:rPr>
              <a:t>on overall stress.</a:t>
            </a:r>
          </a:p>
          <a:p>
            <a:pPr marL="285750" indent="-285750"/>
            <a:endParaRPr lang="en-US" sz="1400" b="1" i="0" dirty="0">
              <a:solidFill>
                <a:srgbClr val="212121"/>
              </a:solidFill>
              <a:effectLst/>
              <a:latin typeface="Grandview" panose="020B0502040204020203" pitchFamily="34" charset="0"/>
            </a:endParaRPr>
          </a:p>
          <a:p>
            <a:pPr marL="285750" indent="-285750"/>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1c</a:t>
            </a:r>
            <a:r>
              <a:rPr lang="en-US" sz="1400" b="1" dirty="0">
                <a:solidFill>
                  <a:srgbClr val="212121"/>
                </a:solidFill>
                <a:latin typeface="Grandview" panose="020B0502040204020203" pitchFamily="34" charset="0"/>
              </a:rPr>
              <a:t> : </a:t>
            </a:r>
            <a:r>
              <a:rPr lang="en-US" sz="1400" dirty="0">
                <a:solidFill>
                  <a:schemeClr val="accent2"/>
                </a:solidFill>
                <a:latin typeface="Grandview" panose="020B0502040204020203" pitchFamily="34" charset="0"/>
              </a:rPr>
              <a:t>There is a significant impact of stress caused due to </a:t>
            </a:r>
            <a:r>
              <a:rPr lang="en-US" sz="1400" dirty="0">
                <a:solidFill>
                  <a:schemeClr val="accent2"/>
                </a:solidFill>
                <a:highlight>
                  <a:srgbClr val="FFFF00"/>
                </a:highlight>
                <a:latin typeface="Grandview" panose="020B0502040204020203" pitchFamily="34" charset="0"/>
              </a:rPr>
              <a:t>Social isolation </a:t>
            </a:r>
            <a:r>
              <a:rPr lang="en-US" sz="1400" dirty="0">
                <a:solidFill>
                  <a:schemeClr val="accent2"/>
                </a:solidFill>
                <a:latin typeface="Grandview" panose="020B0502040204020203" pitchFamily="34" charset="0"/>
              </a:rPr>
              <a:t>on overall stress.</a:t>
            </a:r>
          </a:p>
          <a:p>
            <a:pPr marL="285750" indent="-285750"/>
            <a:endParaRPr lang="en-US" sz="1400" b="1" i="0" dirty="0">
              <a:solidFill>
                <a:srgbClr val="212121"/>
              </a:solidFill>
              <a:effectLst/>
              <a:latin typeface="Grandview" panose="020B0502040204020203" pitchFamily="34" charset="0"/>
            </a:endParaRPr>
          </a:p>
          <a:p>
            <a:pPr marL="285750" indent="-285750"/>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1d</a:t>
            </a:r>
            <a:r>
              <a:rPr lang="en-US" sz="1400" b="1" dirty="0">
                <a:solidFill>
                  <a:srgbClr val="212121"/>
                </a:solidFill>
                <a:latin typeface="Grandview" panose="020B0502040204020203" pitchFamily="34" charset="0"/>
              </a:rPr>
              <a:t> : </a:t>
            </a:r>
            <a:r>
              <a:rPr lang="en-US" sz="1400" dirty="0">
                <a:solidFill>
                  <a:schemeClr val="accent2"/>
                </a:solidFill>
                <a:latin typeface="Grandview" panose="020B0502040204020203" pitchFamily="34" charset="0"/>
              </a:rPr>
              <a:t>There is a significant impact of stress caused due to </a:t>
            </a:r>
            <a:r>
              <a:rPr lang="en-US" sz="1400" dirty="0">
                <a:solidFill>
                  <a:schemeClr val="accent2"/>
                </a:solidFill>
                <a:highlight>
                  <a:srgbClr val="FFFF00"/>
                </a:highlight>
                <a:latin typeface="Grandview" panose="020B0502040204020203" pitchFamily="34" charset="0"/>
              </a:rPr>
              <a:t>Financial Issues </a:t>
            </a:r>
            <a:r>
              <a:rPr lang="en-US" sz="1400" dirty="0">
                <a:solidFill>
                  <a:schemeClr val="accent2"/>
                </a:solidFill>
                <a:latin typeface="Grandview" panose="020B0502040204020203" pitchFamily="34" charset="0"/>
              </a:rPr>
              <a:t>on overall stress.</a:t>
            </a:r>
          </a:p>
          <a:p>
            <a:pPr marL="285750" indent="-285750"/>
            <a:endParaRPr lang="en-US" sz="1400" b="1" dirty="0">
              <a:solidFill>
                <a:srgbClr val="212121"/>
              </a:solidFill>
              <a:latin typeface="Grandview" panose="020B0502040204020203" pitchFamily="34" charset="0"/>
            </a:endParaRPr>
          </a:p>
          <a:p>
            <a:pPr marL="285750" indent="-285750"/>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1e</a:t>
            </a:r>
            <a:r>
              <a:rPr lang="en-US" sz="1400" b="1" dirty="0">
                <a:solidFill>
                  <a:srgbClr val="212121"/>
                </a:solidFill>
                <a:latin typeface="Grandview" panose="020B0502040204020203" pitchFamily="34" charset="0"/>
              </a:rPr>
              <a:t> : </a:t>
            </a:r>
            <a:r>
              <a:rPr lang="en-US" sz="1400" dirty="0">
                <a:solidFill>
                  <a:schemeClr val="accent2"/>
                </a:solidFill>
                <a:latin typeface="Grandview" panose="020B0502040204020203" pitchFamily="34" charset="0"/>
              </a:rPr>
              <a:t>There is a significant impact of stress caused due to </a:t>
            </a:r>
            <a:r>
              <a:rPr lang="en-US" sz="1400" dirty="0">
                <a:solidFill>
                  <a:schemeClr val="accent2"/>
                </a:solidFill>
                <a:highlight>
                  <a:srgbClr val="FFFF00"/>
                </a:highlight>
                <a:latin typeface="Grandview" panose="020B0502040204020203" pitchFamily="34" charset="0"/>
              </a:rPr>
              <a:t>Health Issues </a:t>
            </a:r>
            <a:r>
              <a:rPr lang="en-US" sz="1400" dirty="0">
                <a:solidFill>
                  <a:schemeClr val="accent2"/>
                </a:solidFill>
                <a:latin typeface="Grandview" panose="020B0502040204020203" pitchFamily="34" charset="0"/>
              </a:rPr>
              <a:t>on overall stress.</a:t>
            </a:r>
          </a:p>
          <a:p>
            <a:pPr marL="285750" indent="-285750"/>
            <a:endParaRPr lang="en-US" sz="1400" b="1" i="0" dirty="0">
              <a:solidFill>
                <a:srgbClr val="212121"/>
              </a:solidFill>
              <a:effectLst/>
              <a:latin typeface="Grandview" panose="020B0502040204020203" pitchFamily="34" charset="0"/>
            </a:endParaRPr>
          </a:p>
          <a:p>
            <a:pPr marL="285750" indent="-285750"/>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1f </a:t>
            </a:r>
            <a:r>
              <a:rPr lang="en-US" sz="1400" b="1" dirty="0">
                <a:solidFill>
                  <a:srgbClr val="212121"/>
                </a:solidFill>
                <a:latin typeface="Grandview" panose="020B0502040204020203" pitchFamily="34" charset="0"/>
              </a:rPr>
              <a:t>: </a:t>
            </a:r>
            <a:r>
              <a:rPr lang="en-US" sz="1400" dirty="0">
                <a:solidFill>
                  <a:schemeClr val="accent2"/>
                </a:solidFill>
                <a:latin typeface="Grandview" panose="020B0502040204020203" pitchFamily="34" charset="0"/>
              </a:rPr>
              <a:t>There is a significant impact of stress caused due to </a:t>
            </a:r>
            <a:r>
              <a:rPr lang="en-US" sz="1400" dirty="0">
                <a:solidFill>
                  <a:schemeClr val="accent2"/>
                </a:solidFill>
                <a:highlight>
                  <a:srgbClr val="FFFF00"/>
                </a:highlight>
                <a:latin typeface="Grandview" panose="020B0502040204020203" pitchFamily="34" charset="0"/>
              </a:rPr>
              <a:t>Family Expectations </a:t>
            </a:r>
            <a:r>
              <a:rPr lang="en-US" sz="1400" dirty="0">
                <a:solidFill>
                  <a:schemeClr val="accent2"/>
                </a:solidFill>
                <a:latin typeface="Grandview" panose="020B0502040204020203" pitchFamily="34" charset="0"/>
              </a:rPr>
              <a:t>on overall stress.</a:t>
            </a:r>
          </a:p>
          <a:p>
            <a:pPr marL="285750" indent="-285750"/>
            <a:endParaRPr lang="en-US" sz="1400" b="1" dirty="0">
              <a:solidFill>
                <a:srgbClr val="212121"/>
              </a:solidFill>
              <a:latin typeface="Grandview" panose="020B0502040204020203" pitchFamily="34" charset="0"/>
            </a:endParaRPr>
          </a:p>
          <a:p>
            <a:pPr marL="285750" indent="-285750"/>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1g</a:t>
            </a:r>
            <a:r>
              <a:rPr lang="en-US" sz="1400" b="1" dirty="0">
                <a:solidFill>
                  <a:srgbClr val="212121"/>
                </a:solidFill>
                <a:latin typeface="Grandview" panose="020B0502040204020203" pitchFamily="34" charset="0"/>
              </a:rPr>
              <a:t> : </a:t>
            </a:r>
            <a:r>
              <a:rPr lang="en-US" sz="1400" dirty="0">
                <a:solidFill>
                  <a:schemeClr val="accent2"/>
                </a:solidFill>
                <a:latin typeface="Grandview" panose="020B0502040204020203" pitchFamily="34" charset="0"/>
              </a:rPr>
              <a:t>There is a significant impact of stress caused due to </a:t>
            </a:r>
            <a:r>
              <a:rPr lang="en-US" sz="1400" dirty="0">
                <a:solidFill>
                  <a:schemeClr val="accent2"/>
                </a:solidFill>
                <a:highlight>
                  <a:srgbClr val="FFFF00"/>
                </a:highlight>
                <a:latin typeface="Grandview" panose="020B0502040204020203" pitchFamily="34" charset="0"/>
              </a:rPr>
              <a:t>Lack of support </a:t>
            </a:r>
            <a:r>
              <a:rPr lang="en-US" sz="1400" dirty="0">
                <a:solidFill>
                  <a:schemeClr val="accent2"/>
                </a:solidFill>
                <a:latin typeface="Grandview" panose="020B0502040204020203" pitchFamily="34" charset="0"/>
              </a:rPr>
              <a:t>on overall stress.</a:t>
            </a:r>
          </a:p>
          <a:p>
            <a:pPr marL="285750" indent="-285750"/>
            <a:endParaRPr lang="en-US" sz="1400" b="1" i="0" dirty="0">
              <a:solidFill>
                <a:srgbClr val="212121"/>
              </a:solidFill>
              <a:effectLst/>
              <a:latin typeface="Grandview" panose="020B0502040204020203" pitchFamily="34" charset="0"/>
            </a:endParaRPr>
          </a:p>
          <a:p>
            <a:pPr marL="285750" indent="-285750"/>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2</a:t>
            </a:r>
            <a:r>
              <a:rPr lang="en-US" sz="1400" b="1" dirty="0">
                <a:solidFill>
                  <a:srgbClr val="212121"/>
                </a:solidFill>
                <a:latin typeface="Grandview" panose="020B0502040204020203" pitchFamily="34" charset="0"/>
              </a:rPr>
              <a:t> : </a:t>
            </a:r>
            <a:r>
              <a:rPr lang="en-US" sz="1400" dirty="0">
                <a:solidFill>
                  <a:schemeClr val="accent2"/>
                </a:solidFill>
                <a:latin typeface="Grandview" panose="020B0502040204020203" pitchFamily="34" charset="0"/>
              </a:rPr>
              <a:t>The regression model constructed is significant.</a:t>
            </a: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p:txBody>
      </p:sp>
      <p:sp>
        <p:nvSpPr>
          <p:cNvPr id="2" name="Google Shape;1480;p38">
            <a:extLst>
              <a:ext uri="{FF2B5EF4-FFF2-40B4-BE49-F238E27FC236}">
                <a16:creationId xmlns:a16="http://schemas.microsoft.com/office/drawing/2014/main" id="{0F6FB33E-AAA4-7A71-BEE9-8C7A087D0A82}"/>
              </a:ext>
            </a:extLst>
          </p:cNvPr>
          <p:cNvSpPr txBox="1">
            <a:spLocks noGrp="1"/>
          </p:cNvSpPr>
          <p:nvPr>
            <p:ph type="title"/>
          </p:nvPr>
        </p:nvSpPr>
        <p:spPr>
          <a:xfrm>
            <a:off x="822393" y="286626"/>
            <a:ext cx="77178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2000" u="sng" dirty="0"/>
              <a:t>HYPOTHESIS </a:t>
            </a:r>
            <a:r>
              <a:rPr lang="en" sz="2000" dirty="0"/>
              <a:t>:</a:t>
            </a:r>
            <a:endParaRPr sz="2000" dirty="0"/>
          </a:p>
        </p:txBody>
      </p:sp>
      <p:sp>
        <p:nvSpPr>
          <p:cNvPr id="3" name="TextBox 2">
            <a:extLst>
              <a:ext uri="{FF2B5EF4-FFF2-40B4-BE49-F238E27FC236}">
                <a16:creationId xmlns:a16="http://schemas.microsoft.com/office/drawing/2014/main" id="{6FE4307C-9477-767D-BCFD-A4586798E5D7}"/>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18</a:t>
            </a:r>
            <a:endParaRPr lang="en-IN" dirty="0">
              <a:solidFill>
                <a:sysClr val="windowText" lastClr="000000"/>
              </a:solidFill>
            </a:endParaRPr>
          </a:p>
        </p:txBody>
      </p:sp>
    </p:spTree>
    <p:extLst>
      <p:ext uri="{BB962C8B-B14F-4D97-AF65-F5344CB8AC3E}">
        <p14:creationId xmlns:p14="http://schemas.microsoft.com/office/powerpoint/2010/main" val="1224012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1713" name="Google Shape;1713;p43"/>
          <p:cNvSpPr txBox="1">
            <a:spLocks noGrp="1"/>
          </p:cNvSpPr>
          <p:nvPr>
            <p:ph type="body" idx="1"/>
          </p:nvPr>
        </p:nvSpPr>
        <p:spPr>
          <a:xfrm>
            <a:off x="603807" y="784355"/>
            <a:ext cx="7936386" cy="3952159"/>
          </a:xfrm>
          <a:prstGeom prst="rect">
            <a:avLst/>
          </a:prstGeom>
        </p:spPr>
        <p:txBody>
          <a:bodyPr spcFirstLastPara="1" wrap="square" lIns="91425" tIns="91425" rIns="91425" bIns="91425" anchor="t" anchorCtr="0">
            <a:noAutofit/>
          </a:bodyPr>
          <a:lstStyle/>
          <a:p>
            <a:pPr marL="285750" indent="-285750"/>
            <a:endParaRPr lang="en-US" sz="1400" b="1" i="0" dirty="0">
              <a:solidFill>
                <a:srgbClr val="212121"/>
              </a:solidFill>
              <a:effectLst/>
              <a:latin typeface="Grandview" panose="020B0502040204020203" pitchFamily="34" charset="0"/>
            </a:endParaRPr>
          </a:p>
          <a:p>
            <a:pPr marL="285750" indent="-285750"/>
            <a:r>
              <a:rPr lang="en-US" sz="1400" dirty="0">
                <a:solidFill>
                  <a:srgbClr val="212121"/>
                </a:solidFill>
                <a:latin typeface="Grandview" panose="020B0502040204020203" pitchFamily="34" charset="0"/>
              </a:rPr>
              <a:t>Using the data we obtained with our questionnaire, we can simply input the data into SPSS software and get the following outputs:</a:t>
            </a:r>
            <a:endParaRPr lang="en-US" sz="1400"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r>
              <a:rPr lang="en-US" sz="1400" dirty="0">
                <a:solidFill>
                  <a:srgbClr val="212121"/>
                </a:solidFill>
                <a:latin typeface="Grandview" panose="020B0502040204020203" pitchFamily="34" charset="0"/>
              </a:rPr>
              <a:t>Here, since the value of R-Square is 0.639, we can say that the multiple linear regression model constructed is able to explain about 63.9% of the variance.</a:t>
            </a:r>
          </a:p>
          <a:p>
            <a:pPr marL="285750" indent="-285750"/>
            <a:endParaRPr lang="en-US" sz="1400" dirty="0">
              <a:solidFill>
                <a:srgbClr val="212121"/>
              </a:solidFill>
              <a:latin typeface="Grandview" panose="020B0502040204020203" pitchFamily="34" charset="0"/>
            </a:endParaRPr>
          </a:p>
          <a:p>
            <a:pPr marL="0" indent="0">
              <a:buNone/>
            </a:pPr>
            <a:endParaRPr lang="en-US" sz="1400" dirty="0">
              <a:solidFill>
                <a:srgbClr val="212121"/>
              </a:solidFill>
              <a:latin typeface="Grandview" panose="020B0502040204020203" pitchFamily="34" charset="0"/>
            </a:endParaRPr>
          </a:p>
          <a:p>
            <a:pPr marL="0" indent="0">
              <a:buNone/>
            </a:pPr>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p:txBody>
      </p:sp>
      <p:sp>
        <p:nvSpPr>
          <p:cNvPr id="2" name="Google Shape;1480;p38">
            <a:extLst>
              <a:ext uri="{FF2B5EF4-FFF2-40B4-BE49-F238E27FC236}">
                <a16:creationId xmlns:a16="http://schemas.microsoft.com/office/drawing/2014/main" id="{0F6FB33E-AAA4-7A71-BEE9-8C7A087D0A82}"/>
              </a:ext>
            </a:extLst>
          </p:cNvPr>
          <p:cNvSpPr txBox="1">
            <a:spLocks noGrp="1"/>
          </p:cNvSpPr>
          <p:nvPr>
            <p:ph type="title"/>
          </p:nvPr>
        </p:nvSpPr>
        <p:spPr>
          <a:xfrm>
            <a:off x="822393" y="286626"/>
            <a:ext cx="77178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2400" u="sng" dirty="0"/>
              <a:t>RESULTS </a:t>
            </a:r>
            <a:r>
              <a:rPr lang="en" sz="2400" dirty="0"/>
              <a:t>:</a:t>
            </a:r>
            <a:endParaRPr sz="2400" dirty="0"/>
          </a:p>
        </p:txBody>
      </p:sp>
      <p:graphicFrame>
        <p:nvGraphicFramePr>
          <p:cNvPr id="3" name="Table 2">
            <a:extLst>
              <a:ext uri="{FF2B5EF4-FFF2-40B4-BE49-F238E27FC236}">
                <a16:creationId xmlns:a16="http://schemas.microsoft.com/office/drawing/2014/main" id="{746BF6F5-D402-39A5-F577-D8D6485B2B94}"/>
              </a:ext>
            </a:extLst>
          </p:cNvPr>
          <p:cNvGraphicFramePr>
            <a:graphicFrameLocks noGrp="1"/>
          </p:cNvGraphicFramePr>
          <p:nvPr>
            <p:extLst>
              <p:ext uri="{D42A27DB-BD31-4B8C-83A1-F6EECF244321}">
                <p14:modId xmlns:p14="http://schemas.microsoft.com/office/powerpoint/2010/main" val="871446557"/>
              </p:ext>
            </p:extLst>
          </p:nvPr>
        </p:nvGraphicFramePr>
        <p:xfrm>
          <a:off x="2053318" y="1946412"/>
          <a:ext cx="5037364" cy="1046797"/>
        </p:xfrm>
        <a:graphic>
          <a:graphicData uri="http://schemas.openxmlformats.org/drawingml/2006/table">
            <a:tbl>
              <a:tblPr>
                <a:tableStyleId>{3C2FFA5D-87B4-456A-9821-1D502468CF0F}</a:tableStyleId>
              </a:tblPr>
              <a:tblGrid>
                <a:gridCol w="705452">
                  <a:extLst>
                    <a:ext uri="{9D8B030D-6E8A-4147-A177-3AD203B41FA5}">
                      <a16:colId xmlns:a16="http://schemas.microsoft.com/office/drawing/2014/main" val="2781086154"/>
                    </a:ext>
                  </a:extLst>
                </a:gridCol>
                <a:gridCol w="705452">
                  <a:extLst>
                    <a:ext uri="{9D8B030D-6E8A-4147-A177-3AD203B41FA5}">
                      <a16:colId xmlns:a16="http://schemas.microsoft.com/office/drawing/2014/main" val="1556757835"/>
                    </a:ext>
                  </a:extLst>
                </a:gridCol>
                <a:gridCol w="639315">
                  <a:extLst>
                    <a:ext uri="{9D8B030D-6E8A-4147-A177-3AD203B41FA5}">
                      <a16:colId xmlns:a16="http://schemas.microsoft.com/office/drawing/2014/main" val="1712040938"/>
                    </a:ext>
                  </a:extLst>
                </a:gridCol>
                <a:gridCol w="1245562">
                  <a:extLst>
                    <a:ext uri="{9D8B030D-6E8A-4147-A177-3AD203B41FA5}">
                      <a16:colId xmlns:a16="http://schemas.microsoft.com/office/drawing/2014/main" val="583742002"/>
                    </a:ext>
                  </a:extLst>
                </a:gridCol>
                <a:gridCol w="1741583">
                  <a:extLst>
                    <a:ext uri="{9D8B030D-6E8A-4147-A177-3AD203B41FA5}">
                      <a16:colId xmlns:a16="http://schemas.microsoft.com/office/drawing/2014/main" val="526250109"/>
                    </a:ext>
                  </a:extLst>
                </a:gridCol>
              </a:tblGrid>
              <a:tr h="270141">
                <a:tc gridSpan="5">
                  <a:txBody>
                    <a:bodyPr/>
                    <a:lstStyle/>
                    <a:p>
                      <a:pPr algn="ctr" fontAlgn="b"/>
                      <a:r>
                        <a:rPr lang="en-IN" sz="1200" b="1" u="none" strike="noStrike" dirty="0">
                          <a:solidFill>
                            <a:schemeClr val="bg1"/>
                          </a:solidFill>
                          <a:effectLst/>
                          <a:latin typeface="Grandview" panose="020B0502040204020203" pitchFamily="34" charset="0"/>
                        </a:rPr>
                        <a:t>Model Summary</a:t>
                      </a:r>
                      <a:endParaRPr lang="en-IN" sz="1200" b="1" i="0" u="none" strike="noStrike" dirty="0">
                        <a:solidFill>
                          <a:schemeClr val="bg1"/>
                        </a:solidFill>
                        <a:effectLst/>
                        <a:latin typeface="Grandview" panose="020B0502040204020203" pitchFamily="34" charset="0"/>
                      </a:endParaRPr>
                    </a:p>
                  </a:txBody>
                  <a:tcPr marL="7620" marR="7620" marT="7620" marB="0" anchor="ctr">
                    <a:solidFill>
                      <a:schemeClr val="accent1"/>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005065257"/>
                  </a:ext>
                </a:extLst>
              </a:tr>
              <a:tr h="506515">
                <a:tc>
                  <a:txBody>
                    <a:bodyPr/>
                    <a:lstStyle/>
                    <a:p>
                      <a:pPr algn="ctr" fontAlgn="b"/>
                      <a:r>
                        <a:rPr lang="en-IN" sz="1200" b="1" u="none" strike="noStrike" dirty="0">
                          <a:effectLst/>
                          <a:latin typeface="Grandview" panose="020B0502040204020203" pitchFamily="34" charset="0"/>
                        </a:rPr>
                        <a:t>Model</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a:effectLst/>
                          <a:latin typeface="Grandview" panose="020B0502040204020203" pitchFamily="34" charset="0"/>
                        </a:rPr>
                        <a:t>R</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a:effectLst/>
                          <a:latin typeface="Grandview" panose="020B0502040204020203" pitchFamily="34" charset="0"/>
                        </a:rPr>
                        <a:t>R Square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a:effectLst/>
                          <a:latin typeface="Grandview" panose="020B0502040204020203" pitchFamily="34" charset="0"/>
                        </a:rPr>
                        <a:t>Adjusted R Square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US" sz="1200" b="1" u="none" strike="noStrike" dirty="0">
                          <a:effectLst/>
                          <a:latin typeface="Grandview" panose="020B0502040204020203" pitchFamily="34" charset="0"/>
                        </a:rPr>
                        <a:t>Std. Error of the Estimate</a:t>
                      </a:r>
                      <a:endParaRPr lang="en-US"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extLst>
                  <a:ext uri="{0D108BD9-81ED-4DB2-BD59-A6C34878D82A}">
                    <a16:rowId xmlns:a16="http://schemas.microsoft.com/office/drawing/2014/main" val="3622101823"/>
                  </a:ext>
                </a:extLst>
              </a:tr>
              <a:tr h="270141">
                <a:tc>
                  <a:txBody>
                    <a:bodyPr/>
                    <a:lstStyle/>
                    <a:p>
                      <a:pPr algn="ctr" fontAlgn="b"/>
                      <a:r>
                        <a:rPr lang="en-IN" sz="1200" u="none" strike="noStrike">
                          <a:effectLst/>
                          <a:latin typeface="Grandview" panose="020B0502040204020203" pitchFamily="34" charset="0"/>
                        </a:rPr>
                        <a:t>1</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b"/>
                      <a:r>
                        <a:rPr lang="en-IN" sz="1200" u="none" strike="noStrike">
                          <a:effectLst/>
                          <a:latin typeface="Grandview" panose="020B0502040204020203" pitchFamily="34" charset="0"/>
                        </a:rPr>
                        <a:t>0.799</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b"/>
                      <a:r>
                        <a:rPr lang="en-IN" sz="1200" u="none" strike="noStrike">
                          <a:effectLst/>
                          <a:latin typeface="Grandview" panose="020B0502040204020203" pitchFamily="34" charset="0"/>
                        </a:rPr>
                        <a:t>0.639</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b"/>
                      <a:r>
                        <a:rPr lang="en-IN" sz="1200" u="none" strike="noStrike">
                          <a:effectLst/>
                          <a:latin typeface="Grandview" panose="020B0502040204020203" pitchFamily="34" charset="0"/>
                        </a:rPr>
                        <a:t>0.614</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b"/>
                      <a:r>
                        <a:rPr lang="en-IN" sz="1200" u="none" strike="noStrike" dirty="0">
                          <a:effectLst/>
                          <a:latin typeface="Grandview" panose="020B0502040204020203" pitchFamily="34" charset="0"/>
                        </a:rPr>
                        <a:t>0.8073</a:t>
                      </a:r>
                      <a:endParaRPr lang="en-IN" sz="1200" b="0"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568337304"/>
                  </a:ext>
                </a:extLst>
              </a:tr>
            </a:tbl>
          </a:graphicData>
        </a:graphic>
      </p:graphicFrame>
      <p:sp>
        <p:nvSpPr>
          <p:cNvPr id="4" name="TextBox 3">
            <a:extLst>
              <a:ext uri="{FF2B5EF4-FFF2-40B4-BE49-F238E27FC236}">
                <a16:creationId xmlns:a16="http://schemas.microsoft.com/office/drawing/2014/main" id="{6CE802AD-8100-9333-C813-02242D4978DA}"/>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19</a:t>
            </a:r>
            <a:endParaRPr lang="en-IN" dirty="0">
              <a:solidFill>
                <a:sysClr val="windowText" lastClr="000000"/>
              </a:solidFill>
            </a:endParaRPr>
          </a:p>
        </p:txBody>
      </p:sp>
    </p:spTree>
    <p:extLst>
      <p:ext uri="{BB962C8B-B14F-4D97-AF65-F5344CB8AC3E}">
        <p14:creationId xmlns:p14="http://schemas.microsoft.com/office/powerpoint/2010/main" val="2938089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1713" name="Google Shape;1713;p43"/>
          <p:cNvSpPr txBox="1">
            <a:spLocks noGrp="1"/>
          </p:cNvSpPr>
          <p:nvPr>
            <p:ph type="body" idx="1"/>
          </p:nvPr>
        </p:nvSpPr>
        <p:spPr>
          <a:xfrm>
            <a:off x="603807" y="414240"/>
            <a:ext cx="7936386" cy="4331931"/>
          </a:xfrm>
          <a:prstGeom prst="rect">
            <a:avLst/>
          </a:prstGeom>
        </p:spPr>
        <p:txBody>
          <a:bodyPr spcFirstLastPara="1" wrap="square" lIns="91425" tIns="91425" rIns="91425" bIns="91425" anchor="t" anchorCtr="0">
            <a:noAutofit/>
          </a:bodyPr>
          <a:lstStyle/>
          <a:p>
            <a:pPr marL="285750" indent="-285750"/>
            <a:endParaRPr lang="en-US" sz="1400" b="1" i="0" dirty="0">
              <a:solidFill>
                <a:srgbClr val="212121"/>
              </a:solidFill>
              <a:effectLst/>
              <a:latin typeface="Grandview" panose="020B0502040204020203" pitchFamily="34" charset="0"/>
            </a:endParaRPr>
          </a:p>
          <a:p>
            <a:pPr marL="285750" indent="-285750"/>
            <a:r>
              <a:rPr lang="en-US" sz="1400" dirty="0">
                <a:solidFill>
                  <a:srgbClr val="212121"/>
                </a:solidFill>
                <a:latin typeface="Grandview" panose="020B0502040204020203" pitchFamily="34" charset="0"/>
              </a:rPr>
              <a:t>The ANOVA table obtained is as follows:</a:t>
            </a:r>
            <a:endParaRPr lang="en-US" sz="1400"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r>
              <a:rPr lang="en-US" sz="1400" dirty="0">
                <a:solidFill>
                  <a:srgbClr val="212121"/>
                </a:solidFill>
                <a:latin typeface="Grandview" panose="020B0502040204020203" pitchFamily="34" charset="0"/>
              </a:rPr>
              <a:t>Here, since the significance level is less than </a:t>
            </a:r>
            <a:r>
              <a:rPr lang="en-US" sz="1400" b="1" dirty="0">
                <a:solidFill>
                  <a:srgbClr val="212121"/>
                </a:solidFill>
                <a:latin typeface="Grandview" panose="020B0502040204020203" pitchFamily="34" charset="0"/>
              </a:rPr>
              <a:t>0.05</a:t>
            </a:r>
            <a:r>
              <a:rPr lang="en-US" sz="1400" dirty="0">
                <a:solidFill>
                  <a:srgbClr val="212121"/>
                </a:solidFill>
                <a:latin typeface="Grandview" panose="020B0502040204020203" pitchFamily="34" charset="0"/>
              </a:rPr>
              <a:t>, we can conclude that this model is </a:t>
            </a:r>
            <a:r>
              <a:rPr lang="en-US" sz="1400" b="1" dirty="0">
                <a:solidFill>
                  <a:srgbClr val="212121"/>
                </a:solidFill>
                <a:latin typeface="Grandview" panose="020B0502040204020203" pitchFamily="34" charset="0"/>
              </a:rPr>
              <a:t>significant</a:t>
            </a:r>
            <a:r>
              <a:rPr lang="en-US" sz="1400" dirty="0">
                <a:solidFill>
                  <a:srgbClr val="212121"/>
                </a:solidFill>
                <a:latin typeface="Grandview" panose="020B0502040204020203" pitchFamily="34" charset="0"/>
              </a:rPr>
              <a:t>.</a:t>
            </a:r>
          </a:p>
          <a:p>
            <a:pPr marL="0" indent="0">
              <a:buNone/>
            </a:pPr>
            <a:endParaRPr lang="en-US" sz="1400" dirty="0">
              <a:solidFill>
                <a:srgbClr val="212121"/>
              </a:solidFill>
              <a:latin typeface="Grandview" panose="020B0502040204020203" pitchFamily="34" charset="0"/>
            </a:endParaRPr>
          </a:p>
          <a:p>
            <a:pPr marL="0" indent="0">
              <a:buNone/>
            </a:pPr>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p:txBody>
      </p:sp>
      <p:graphicFrame>
        <p:nvGraphicFramePr>
          <p:cNvPr id="4" name="Table 3">
            <a:extLst>
              <a:ext uri="{FF2B5EF4-FFF2-40B4-BE49-F238E27FC236}">
                <a16:creationId xmlns:a16="http://schemas.microsoft.com/office/drawing/2014/main" id="{E891B3E4-C349-2385-6D2A-EC0FFD6096F3}"/>
              </a:ext>
            </a:extLst>
          </p:cNvPr>
          <p:cNvGraphicFramePr>
            <a:graphicFrameLocks noGrp="1"/>
          </p:cNvGraphicFramePr>
          <p:nvPr>
            <p:extLst>
              <p:ext uri="{D42A27DB-BD31-4B8C-83A1-F6EECF244321}">
                <p14:modId xmlns:p14="http://schemas.microsoft.com/office/powerpoint/2010/main" val="3081240026"/>
              </p:ext>
            </p:extLst>
          </p:nvPr>
        </p:nvGraphicFramePr>
        <p:xfrm>
          <a:off x="1475014" y="1185635"/>
          <a:ext cx="6193972" cy="2254250"/>
        </p:xfrm>
        <a:graphic>
          <a:graphicData uri="http://schemas.openxmlformats.org/drawingml/2006/table">
            <a:tbl>
              <a:tblPr>
                <a:tableStyleId>{3C2FFA5D-87B4-456A-9821-1D502468CF0F}</a:tableStyleId>
              </a:tblPr>
              <a:tblGrid>
                <a:gridCol w="884853">
                  <a:extLst>
                    <a:ext uri="{9D8B030D-6E8A-4147-A177-3AD203B41FA5}">
                      <a16:colId xmlns:a16="http://schemas.microsoft.com/office/drawing/2014/main" val="1659228179"/>
                    </a:ext>
                  </a:extLst>
                </a:gridCol>
                <a:gridCol w="1071351">
                  <a:extLst>
                    <a:ext uri="{9D8B030D-6E8A-4147-A177-3AD203B41FA5}">
                      <a16:colId xmlns:a16="http://schemas.microsoft.com/office/drawing/2014/main" val="2653141988"/>
                    </a:ext>
                  </a:extLst>
                </a:gridCol>
                <a:gridCol w="859604">
                  <a:extLst>
                    <a:ext uri="{9D8B030D-6E8A-4147-A177-3AD203B41FA5}">
                      <a16:colId xmlns:a16="http://schemas.microsoft.com/office/drawing/2014/main" val="1502712054"/>
                    </a:ext>
                  </a:extLst>
                </a:gridCol>
                <a:gridCol w="723605">
                  <a:extLst>
                    <a:ext uri="{9D8B030D-6E8A-4147-A177-3AD203B41FA5}">
                      <a16:colId xmlns:a16="http://schemas.microsoft.com/office/drawing/2014/main" val="3516319186"/>
                    </a:ext>
                  </a:extLst>
                </a:gridCol>
                <a:gridCol w="884853">
                  <a:extLst>
                    <a:ext uri="{9D8B030D-6E8A-4147-A177-3AD203B41FA5}">
                      <a16:colId xmlns:a16="http://schemas.microsoft.com/office/drawing/2014/main" val="3441685907"/>
                    </a:ext>
                  </a:extLst>
                </a:gridCol>
                <a:gridCol w="884853">
                  <a:extLst>
                    <a:ext uri="{9D8B030D-6E8A-4147-A177-3AD203B41FA5}">
                      <a16:colId xmlns:a16="http://schemas.microsoft.com/office/drawing/2014/main" val="3426319171"/>
                    </a:ext>
                  </a:extLst>
                </a:gridCol>
                <a:gridCol w="884853">
                  <a:extLst>
                    <a:ext uri="{9D8B030D-6E8A-4147-A177-3AD203B41FA5}">
                      <a16:colId xmlns:a16="http://schemas.microsoft.com/office/drawing/2014/main" val="2139866637"/>
                    </a:ext>
                  </a:extLst>
                </a:gridCol>
              </a:tblGrid>
              <a:tr h="360216">
                <a:tc gridSpan="7">
                  <a:txBody>
                    <a:bodyPr/>
                    <a:lstStyle/>
                    <a:p>
                      <a:pPr algn="ctr" fontAlgn="ctr"/>
                      <a:r>
                        <a:rPr lang="en-IN" sz="1200" b="1" u="sng" strike="noStrike" dirty="0">
                          <a:solidFill>
                            <a:schemeClr val="bg1"/>
                          </a:solidFill>
                          <a:effectLst/>
                        </a:rPr>
                        <a:t>ANOVA</a:t>
                      </a:r>
                      <a:endParaRPr lang="en-IN" sz="1200" b="1" i="0" u="sng" strike="noStrike" dirty="0">
                        <a:solidFill>
                          <a:schemeClr val="bg1"/>
                        </a:solidFill>
                        <a:effectLst/>
                        <a:latin typeface="Grandview" panose="020B0502040204020203" pitchFamily="34" charset="0"/>
                      </a:endParaRPr>
                    </a:p>
                  </a:txBody>
                  <a:tcPr marL="7620" marR="7620" marT="7620" marB="0" anchor="ctr">
                    <a:solidFill>
                      <a:schemeClr val="accent1"/>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659903444"/>
                  </a:ext>
                </a:extLst>
              </a:tr>
              <a:tr h="601980">
                <a:tc gridSpan="2">
                  <a:txBody>
                    <a:bodyPr/>
                    <a:lstStyle/>
                    <a:p>
                      <a:pPr algn="ctr" fontAlgn="b"/>
                      <a:r>
                        <a:rPr lang="en-IN" sz="1200" b="1" u="none" strike="noStrike" dirty="0">
                          <a:effectLst/>
                        </a:rPr>
                        <a:t>Model</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hMerge="1">
                  <a:txBody>
                    <a:bodyPr/>
                    <a:lstStyle/>
                    <a:p>
                      <a:endParaRPr lang="en-IN"/>
                    </a:p>
                  </a:txBody>
                  <a:tcPr/>
                </a:tc>
                <a:tc>
                  <a:txBody>
                    <a:bodyPr/>
                    <a:lstStyle/>
                    <a:p>
                      <a:pPr algn="ctr" fontAlgn="b"/>
                      <a:r>
                        <a:rPr lang="en-IN" sz="1200" b="1" u="none" strike="noStrike" dirty="0">
                          <a:effectLst/>
                        </a:rPr>
                        <a:t>Sum of Squares</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err="1">
                          <a:effectLst/>
                        </a:rPr>
                        <a:t>df</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a:effectLst/>
                        </a:rPr>
                        <a:t>Mean Square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a:effectLst/>
                        </a:rPr>
                        <a:t>F</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a:effectLst/>
                        </a:rPr>
                        <a:t>Sig.</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extLst>
                  <a:ext uri="{0D108BD9-81ED-4DB2-BD59-A6C34878D82A}">
                    <a16:rowId xmlns:a16="http://schemas.microsoft.com/office/drawing/2014/main" val="832562329"/>
                  </a:ext>
                </a:extLst>
              </a:tr>
              <a:tr h="572615">
                <a:tc rowSpan="3">
                  <a:txBody>
                    <a:bodyPr/>
                    <a:lstStyle/>
                    <a:p>
                      <a:pPr algn="ctr" fontAlgn="t"/>
                      <a:r>
                        <a:rPr lang="en-IN" sz="1200" u="none" strike="noStrike">
                          <a:effectLst/>
                        </a:rPr>
                        <a:t>1</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t"/>
                      <a:r>
                        <a:rPr lang="en-IN" sz="1200" b="1" u="none" strike="noStrike" dirty="0">
                          <a:effectLst/>
                        </a:rPr>
                        <a:t>Regression</a:t>
                      </a:r>
                      <a:endParaRPr lang="en-IN" sz="12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rPr>
                        <a:t>116.492</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rPr>
                        <a:t>7</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rPr>
                        <a:t>16.642</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rPr>
                        <a:t>25.537</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1" u="none" strike="noStrike" dirty="0">
                          <a:effectLst/>
                        </a:rPr>
                        <a:t>.000</a:t>
                      </a:r>
                      <a:endParaRPr lang="en-IN" sz="1200" b="1"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2531005767"/>
                  </a:ext>
                </a:extLst>
              </a:tr>
              <a:tr h="352378">
                <a:tc vMerge="1">
                  <a:txBody>
                    <a:bodyPr/>
                    <a:lstStyle/>
                    <a:p>
                      <a:endParaRPr lang="en-IN"/>
                    </a:p>
                  </a:txBody>
                  <a:tcPr/>
                </a:tc>
                <a:tc>
                  <a:txBody>
                    <a:bodyPr/>
                    <a:lstStyle/>
                    <a:p>
                      <a:pPr algn="ctr" fontAlgn="t"/>
                      <a:r>
                        <a:rPr lang="en-IN" sz="1200" b="1" u="none" strike="noStrike" dirty="0">
                          <a:effectLst/>
                        </a:rPr>
                        <a:t>Residual</a:t>
                      </a:r>
                      <a:endParaRPr lang="en-IN" sz="12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rPr>
                        <a:t>65.819</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rPr>
                        <a:t>101</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rPr>
                        <a:t>.652</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rPr>
                        <a:t> </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rPr>
                        <a:t> </a:t>
                      </a:r>
                      <a:endParaRPr lang="en-IN" sz="1200" b="0" i="0" u="none" strike="noStrike">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2655886545"/>
                  </a:ext>
                </a:extLst>
              </a:tr>
              <a:tr h="367061">
                <a:tc vMerge="1">
                  <a:txBody>
                    <a:bodyPr/>
                    <a:lstStyle/>
                    <a:p>
                      <a:endParaRPr lang="en-IN"/>
                    </a:p>
                  </a:txBody>
                  <a:tcPr/>
                </a:tc>
                <a:tc>
                  <a:txBody>
                    <a:bodyPr/>
                    <a:lstStyle/>
                    <a:p>
                      <a:pPr algn="ctr" fontAlgn="t"/>
                      <a:r>
                        <a:rPr lang="en-IN" sz="1200" b="1" u="none" strike="noStrike" dirty="0">
                          <a:effectLst/>
                        </a:rPr>
                        <a:t>Total</a:t>
                      </a:r>
                      <a:endParaRPr lang="en-IN" sz="12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rPr>
                        <a:t>182.312</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rPr>
                        <a:t>108</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rPr>
                        <a:t> </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rPr>
                        <a:t> </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rPr>
                        <a:t> </a:t>
                      </a:r>
                      <a:endParaRPr lang="en-IN" sz="1200" b="0"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57355701"/>
                  </a:ext>
                </a:extLst>
              </a:tr>
            </a:tbl>
          </a:graphicData>
        </a:graphic>
      </p:graphicFrame>
      <p:sp>
        <p:nvSpPr>
          <p:cNvPr id="2" name="TextBox 1">
            <a:extLst>
              <a:ext uri="{FF2B5EF4-FFF2-40B4-BE49-F238E27FC236}">
                <a16:creationId xmlns:a16="http://schemas.microsoft.com/office/drawing/2014/main" id="{258CBDC1-A598-DB52-22E5-1F9986F8DDE6}"/>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20</a:t>
            </a:r>
            <a:endParaRPr lang="en-IN" dirty="0">
              <a:solidFill>
                <a:sysClr val="windowText" lastClr="000000"/>
              </a:solidFill>
            </a:endParaRPr>
          </a:p>
        </p:txBody>
      </p:sp>
    </p:spTree>
    <p:extLst>
      <p:ext uri="{BB962C8B-B14F-4D97-AF65-F5344CB8AC3E}">
        <p14:creationId xmlns:p14="http://schemas.microsoft.com/office/powerpoint/2010/main" val="17595356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grpSp>
        <p:nvGrpSpPr>
          <p:cNvPr id="1728" name="Google Shape;1728;p44"/>
          <p:cNvGrpSpPr/>
          <p:nvPr/>
        </p:nvGrpSpPr>
        <p:grpSpPr>
          <a:xfrm>
            <a:off x="486229" y="310388"/>
            <a:ext cx="425875" cy="466752"/>
            <a:chOff x="6072409" y="4521978"/>
            <a:chExt cx="436705" cy="478622"/>
          </a:xfrm>
        </p:grpSpPr>
        <p:sp>
          <p:nvSpPr>
            <p:cNvPr id="1729" name="Google Shape;1729;p44"/>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4"/>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4"/>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4"/>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3" name="Google Shape;1733;p44"/>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4"/>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4"/>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4"/>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4"/>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Table 1">
            <a:extLst>
              <a:ext uri="{FF2B5EF4-FFF2-40B4-BE49-F238E27FC236}">
                <a16:creationId xmlns:a16="http://schemas.microsoft.com/office/drawing/2014/main" id="{5A4DAF69-4BA4-8E79-73E3-8EEA7EB91D18}"/>
              </a:ext>
            </a:extLst>
          </p:cNvPr>
          <p:cNvGraphicFramePr>
            <a:graphicFrameLocks noGrp="1"/>
          </p:cNvGraphicFramePr>
          <p:nvPr>
            <p:extLst>
              <p:ext uri="{D42A27DB-BD31-4B8C-83A1-F6EECF244321}">
                <p14:modId xmlns:p14="http://schemas.microsoft.com/office/powerpoint/2010/main" val="2823585415"/>
              </p:ext>
            </p:extLst>
          </p:nvPr>
        </p:nvGraphicFramePr>
        <p:xfrm>
          <a:off x="1718538" y="703829"/>
          <a:ext cx="5706924" cy="3744682"/>
        </p:xfrm>
        <a:graphic>
          <a:graphicData uri="http://schemas.openxmlformats.org/drawingml/2006/table">
            <a:tbl>
              <a:tblPr>
                <a:tableStyleId>{3C2FFA5D-87B4-456A-9821-1D502468CF0F}</a:tableStyleId>
              </a:tblPr>
              <a:tblGrid>
                <a:gridCol w="791029">
                  <a:extLst>
                    <a:ext uri="{9D8B030D-6E8A-4147-A177-3AD203B41FA5}">
                      <a16:colId xmlns:a16="http://schemas.microsoft.com/office/drawing/2014/main" val="747112287"/>
                    </a:ext>
                  </a:extLst>
                </a:gridCol>
                <a:gridCol w="1451897">
                  <a:extLst>
                    <a:ext uri="{9D8B030D-6E8A-4147-A177-3AD203B41FA5}">
                      <a16:colId xmlns:a16="http://schemas.microsoft.com/office/drawing/2014/main" val="2207133577"/>
                    </a:ext>
                  </a:extLst>
                </a:gridCol>
                <a:gridCol w="815609">
                  <a:extLst>
                    <a:ext uri="{9D8B030D-6E8A-4147-A177-3AD203B41FA5}">
                      <a16:colId xmlns:a16="http://schemas.microsoft.com/office/drawing/2014/main" val="848204428"/>
                    </a:ext>
                  </a:extLst>
                </a:gridCol>
                <a:gridCol w="815609">
                  <a:extLst>
                    <a:ext uri="{9D8B030D-6E8A-4147-A177-3AD203B41FA5}">
                      <a16:colId xmlns:a16="http://schemas.microsoft.com/office/drawing/2014/main" val="1583164410"/>
                    </a:ext>
                  </a:extLst>
                </a:gridCol>
                <a:gridCol w="1017171">
                  <a:extLst>
                    <a:ext uri="{9D8B030D-6E8A-4147-A177-3AD203B41FA5}">
                      <a16:colId xmlns:a16="http://schemas.microsoft.com/office/drawing/2014/main" val="1254443490"/>
                    </a:ext>
                  </a:extLst>
                </a:gridCol>
                <a:gridCol w="815609">
                  <a:extLst>
                    <a:ext uri="{9D8B030D-6E8A-4147-A177-3AD203B41FA5}">
                      <a16:colId xmlns:a16="http://schemas.microsoft.com/office/drawing/2014/main" val="3465662305"/>
                    </a:ext>
                  </a:extLst>
                </a:gridCol>
              </a:tblGrid>
              <a:tr h="750400">
                <a:tc rowSpan="2" gridSpan="2">
                  <a:txBody>
                    <a:bodyPr/>
                    <a:lstStyle/>
                    <a:p>
                      <a:pPr algn="ctr" fontAlgn="b"/>
                      <a:r>
                        <a:rPr lang="en-IN" sz="1200" b="1" u="none" strike="noStrike" dirty="0">
                          <a:solidFill>
                            <a:schemeClr val="bg1"/>
                          </a:solidFill>
                          <a:effectLst/>
                          <a:latin typeface="Grandview" panose="020B0502040204020203" pitchFamily="34" charset="0"/>
                        </a:rPr>
                        <a:t>Model</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hMerge="1">
                  <a:txBody>
                    <a:bodyPr/>
                    <a:lstStyle/>
                    <a:p>
                      <a:endParaRPr lang="en-IN"/>
                    </a:p>
                  </a:txBody>
                  <a:tcPr/>
                </a:tc>
                <a:tc gridSpan="2">
                  <a:txBody>
                    <a:bodyPr/>
                    <a:lstStyle/>
                    <a:p>
                      <a:pPr algn="ctr" fontAlgn="b"/>
                      <a:r>
                        <a:rPr lang="en-IN" sz="1200" b="1" u="none" strike="noStrike" dirty="0">
                          <a:solidFill>
                            <a:schemeClr val="bg1"/>
                          </a:solidFill>
                          <a:effectLst/>
                          <a:latin typeface="Grandview" panose="020B0502040204020203" pitchFamily="34" charset="0"/>
                        </a:rPr>
                        <a:t>Unstandardized Coefficients</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IN"/>
                    </a:p>
                  </a:txBody>
                  <a:tcPr/>
                </a:tc>
                <a:tc>
                  <a:txBody>
                    <a:bodyPr/>
                    <a:lstStyle/>
                    <a:p>
                      <a:pPr algn="ctr" fontAlgn="b"/>
                      <a:r>
                        <a:rPr lang="en-IN" sz="1200" b="1" u="none" strike="noStrike" dirty="0">
                          <a:solidFill>
                            <a:schemeClr val="bg1"/>
                          </a:solidFill>
                          <a:effectLst/>
                          <a:latin typeface="Grandview" panose="020B0502040204020203" pitchFamily="34" charset="0"/>
                        </a:rPr>
                        <a:t>Standardized Coefficients</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p>
                      <a:pPr algn="ctr" fontAlgn="b"/>
                      <a:r>
                        <a:rPr lang="en-IN" sz="1200" b="1" u="none" strike="noStrike" dirty="0">
                          <a:solidFill>
                            <a:schemeClr val="bg1"/>
                          </a:solidFill>
                          <a:effectLst/>
                          <a:latin typeface="Grandview" panose="020B0502040204020203" pitchFamily="34" charset="0"/>
                        </a:rPr>
                        <a:t>Sig.</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921785595"/>
                  </a:ext>
                </a:extLst>
              </a:tr>
              <a:tr h="249523">
                <a:tc gridSpan="2" vMerge="1">
                  <a:txBody>
                    <a:bodyPr/>
                    <a:lstStyle/>
                    <a:p>
                      <a:endParaRPr lang="en-IN"/>
                    </a:p>
                  </a:txBody>
                  <a:tcPr/>
                </a:tc>
                <a:tc hMerge="1" vMerge="1">
                  <a:txBody>
                    <a:bodyPr/>
                    <a:lstStyle/>
                    <a:p>
                      <a:endParaRPr lang="en-IN"/>
                    </a:p>
                  </a:txBody>
                  <a:tcPr/>
                </a:tc>
                <a:tc>
                  <a:txBody>
                    <a:bodyPr/>
                    <a:lstStyle/>
                    <a:p>
                      <a:pPr algn="ctr" fontAlgn="b"/>
                      <a:r>
                        <a:rPr lang="en-IN" sz="1200" b="1" u="none" strike="noStrike" dirty="0">
                          <a:solidFill>
                            <a:schemeClr val="bg1"/>
                          </a:solidFill>
                          <a:effectLst/>
                          <a:latin typeface="Grandview" panose="020B0502040204020203" pitchFamily="34" charset="0"/>
                        </a:rPr>
                        <a:t>B</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b"/>
                      <a:r>
                        <a:rPr lang="en-IN" sz="1200" b="1" u="none" strike="noStrike" dirty="0">
                          <a:solidFill>
                            <a:schemeClr val="bg1"/>
                          </a:solidFill>
                          <a:effectLst/>
                          <a:latin typeface="Grandview" panose="020B0502040204020203" pitchFamily="34" charset="0"/>
                        </a:rPr>
                        <a:t>Std. Error</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b"/>
                      <a:r>
                        <a:rPr lang="en-IN" sz="1200" b="1" u="none" strike="noStrike" dirty="0">
                          <a:solidFill>
                            <a:schemeClr val="bg1"/>
                          </a:solidFill>
                          <a:effectLst/>
                          <a:latin typeface="Grandview" panose="020B0502040204020203" pitchFamily="34" charset="0"/>
                        </a:rPr>
                        <a:t>Beta</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vMerge="1">
                  <a:txBody>
                    <a:bodyPr/>
                    <a:lstStyle/>
                    <a:p>
                      <a:endParaRPr lang="en-IN"/>
                    </a:p>
                  </a:txBody>
                  <a:tcPr/>
                </a:tc>
                <a:extLst>
                  <a:ext uri="{0D108BD9-81ED-4DB2-BD59-A6C34878D82A}">
                    <a16:rowId xmlns:a16="http://schemas.microsoft.com/office/drawing/2014/main" val="1187962769"/>
                  </a:ext>
                </a:extLst>
              </a:tr>
              <a:tr h="419200">
                <a:tc rowSpan="8">
                  <a:txBody>
                    <a:bodyPr/>
                    <a:lstStyle/>
                    <a:p>
                      <a:pPr algn="ctr" fontAlgn="t"/>
                      <a:r>
                        <a:rPr lang="en-IN" sz="1200" u="none" strike="noStrike">
                          <a:effectLst/>
                          <a:latin typeface="Grandview" panose="020B0502040204020203" pitchFamily="34" charset="0"/>
                        </a:rPr>
                        <a:t>1</a:t>
                      </a:r>
                      <a:endParaRPr lang="en-IN" sz="1200" b="0" i="0" u="none" strike="noStrike">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t"/>
                      <a:r>
                        <a:rPr lang="en-IN" sz="1200" b="1" u="none" strike="noStrike" dirty="0">
                          <a:effectLst/>
                          <a:latin typeface="Grandview" panose="020B0502040204020203" pitchFamily="34" charset="0"/>
                        </a:rPr>
                        <a:t>(Constant)</a:t>
                      </a:r>
                      <a:endParaRPr lang="en-IN" sz="1200" b="1" i="0" u="none" strike="noStrike" dirty="0">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solidFill>
                      <a:schemeClr val="tx1">
                        <a:lumMod val="10000"/>
                        <a:lumOff val="90000"/>
                      </a:schemeClr>
                    </a:solidFill>
                  </a:tcPr>
                </a:tc>
                <a:tc>
                  <a:txBody>
                    <a:bodyPr/>
                    <a:lstStyle/>
                    <a:p>
                      <a:pPr algn="ctr" fontAlgn="ctr"/>
                      <a:r>
                        <a:rPr lang="en-IN" sz="1200" u="none" strike="noStrike" dirty="0">
                          <a:effectLst/>
                          <a:latin typeface="Grandview" panose="020B0502040204020203" pitchFamily="34" charset="0"/>
                        </a:rPr>
                        <a:t>-.236</a:t>
                      </a:r>
                      <a:endParaRPr lang="en-IN" sz="1200" b="0" i="0" u="none" strike="noStrike" dirty="0">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ctr"/>
                      <a:r>
                        <a:rPr lang="en-IN" sz="1200" u="none" strike="noStrike" dirty="0">
                          <a:effectLst/>
                          <a:latin typeface="Grandview" panose="020B0502040204020203" pitchFamily="34" charset="0"/>
                        </a:rPr>
                        <a:t>.279</a:t>
                      </a:r>
                      <a:endParaRPr lang="en-IN" sz="1200" b="0" i="0" u="none" strike="noStrike" dirty="0">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ctr"/>
                      <a:r>
                        <a:rPr lang="en-IN" sz="1200" u="none" strike="noStrike" dirty="0">
                          <a:effectLst/>
                          <a:latin typeface="Grandview" panose="020B0502040204020203" pitchFamily="34" charset="0"/>
                        </a:rPr>
                        <a:t> </a:t>
                      </a:r>
                      <a:endParaRPr lang="en-IN" sz="1200" b="0" i="0" u="none" strike="noStrike" dirty="0">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ctr"/>
                      <a:r>
                        <a:rPr lang="en-IN" sz="1200" u="none" strike="noStrike">
                          <a:effectLst/>
                          <a:latin typeface="Grandview" panose="020B0502040204020203" pitchFamily="34" charset="0"/>
                        </a:rPr>
                        <a:t>.400</a:t>
                      </a:r>
                      <a:endParaRPr lang="en-IN" sz="1200" b="0" i="0" u="none" strike="noStrike">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43281774"/>
                  </a:ext>
                </a:extLst>
              </a:tr>
              <a:tr h="259505">
                <a:tc vMerge="1">
                  <a:txBody>
                    <a:bodyPr/>
                    <a:lstStyle/>
                    <a:p>
                      <a:endParaRPr lang="en-IN"/>
                    </a:p>
                  </a:txBody>
                  <a:tcPr/>
                </a:tc>
                <a:tc>
                  <a:txBody>
                    <a:bodyPr/>
                    <a:lstStyle/>
                    <a:p>
                      <a:pPr algn="ctr" fontAlgn="t"/>
                      <a:r>
                        <a:rPr lang="en-IN" sz="1200" b="1" u="none" strike="noStrike" dirty="0" err="1">
                          <a:effectLst/>
                          <a:latin typeface="Grandview" panose="020B0502040204020203" pitchFamily="34" charset="0"/>
                        </a:rPr>
                        <a:t>acad_wl</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dirty="0">
                          <a:effectLst/>
                          <a:latin typeface="Grandview" panose="020B0502040204020203" pitchFamily="34" charset="0"/>
                        </a:rPr>
                        <a:t>.352</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.081</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.323</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1" u="none" strike="noStrike" dirty="0">
                          <a:effectLst/>
                          <a:latin typeface="Grandview" panose="020B0502040204020203" pitchFamily="34" charset="0"/>
                        </a:rPr>
                        <a:t>.000</a:t>
                      </a:r>
                      <a:endParaRPr lang="en-IN" sz="1200" b="1"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766889074"/>
                  </a:ext>
                </a:extLst>
              </a:tr>
              <a:tr h="409219">
                <a:tc vMerge="1">
                  <a:txBody>
                    <a:bodyPr/>
                    <a:lstStyle/>
                    <a:p>
                      <a:endParaRPr lang="en-IN"/>
                    </a:p>
                  </a:txBody>
                  <a:tcPr/>
                </a:tc>
                <a:tc>
                  <a:txBody>
                    <a:bodyPr/>
                    <a:lstStyle/>
                    <a:p>
                      <a:pPr algn="ctr" fontAlgn="t"/>
                      <a:r>
                        <a:rPr lang="en-IN" sz="1200" b="1" u="none" strike="noStrike" dirty="0" err="1">
                          <a:effectLst/>
                          <a:latin typeface="Grandview" panose="020B0502040204020203" pitchFamily="34" charset="0"/>
                        </a:rPr>
                        <a:t>peer_pressure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dirty="0">
                          <a:effectLst/>
                          <a:latin typeface="Grandview" panose="020B0502040204020203" pitchFamily="34" charset="0"/>
                        </a:rPr>
                        <a:t>.172</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.082</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.160</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1" u="none" strike="noStrike" dirty="0">
                          <a:effectLst/>
                          <a:latin typeface="Grandview" panose="020B0502040204020203" pitchFamily="34" charset="0"/>
                        </a:rPr>
                        <a:t>.039</a:t>
                      </a:r>
                      <a:endParaRPr lang="en-IN" sz="1200" b="1"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2820917587"/>
                  </a:ext>
                </a:extLst>
              </a:tr>
              <a:tr h="399238">
                <a:tc vMerge="1">
                  <a:txBody>
                    <a:bodyPr/>
                    <a:lstStyle/>
                    <a:p>
                      <a:endParaRPr lang="en-IN"/>
                    </a:p>
                  </a:txBody>
                  <a:tcPr/>
                </a:tc>
                <a:tc>
                  <a:txBody>
                    <a:bodyPr/>
                    <a:lstStyle/>
                    <a:p>
                      <a:pPr algn="ctr" fontAlgn="t"/>
                      <a:r>
                        <a:rPr lang="en-IN" sz="1200" b="1" u="none" strike="noStrike" dirty="0" err="1">
                          <a:effectLst/>
                          <a:latin typeface="Grandview" panose="020B0502040204020203" pitchFamily="34" charset="0"/>
                        </a:rPr>
                        <a:t>Social_isol</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a:effectLst/>
                          <a:latin typeface="Grandview" panose="020B0502040204020203" pitchFamily="34" charset="0"/>
                        </a:rPr>
                        <a:t>.032</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.079</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.033</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.683</a:t>
                      </a:r>
                      <a:endParaRPr lang="en-IN" sz="1200" b="0"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2920266840"/>
                  </a:ext>
                </a:extLst>
              </a:tr>
              <a:tr h="249523">
                <a:tc vMerge="1">
                  <a:txBody>
                    <a:bodyPr/>
                    <a:lstStyle/>
                    <a:p>
                      <a:endParaRPr lang="en-IN"/>
                    </a:p>
                  </a:txBody>
                  <a:tcPr/>
                </a:tc>
                <a:tc>
                  <a:txBody>
                    <a:bodyPr/>
                    <a:lstStyle/>
                    <a:p>
                      <a:pPr algn="ctr" fontAlgn="t"/>
                      <a:r>
                        <a:rPr lang="en-IN" sz="1200" b="1" u="none" strike="noStrike" dirty="0">
                          <a:effectLst/>
                          <a:latin typeface="Grandview" panose="020B0502040204020203" pitchFamily="34" charset="0"/>
                        </a:rPr>
                        <a:t>finance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a:effectLst/>
                          <a:latin typeface="Grandview" panose="020B0502040204020203" pitchFamily="34" charset="0"/>
                        </a:rPr>
                        <a:t>.328</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.080</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.345</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1" u="none" strike="noStrike" dirty="0">
                          <a:effectLst/>
                          <a:latin typeface="Grandview" panose="020B0502040204020203" pitchFamily="34" charset="0"/>
                        </a:rPr>
                        <a:t>.000</a:t>
                      </a:r>
                      <a:endParaRPr lang="en-IN" sz="1200" b="1"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2539594633"/>
                  </a:ext>
                </a:extLst>
              </a:tr>
              <a:tr h="249523">
                <a:tc vMerge="1">
                  <a:txBody>
                    <a:bodyPr/>
                    <a:lstStyle/>
                    <a:p>
                      <a:endParaRPr lang="en-IN"/>
                    </a:p>
                  </a:txBody>
                  <a:tcPr/>
                </a:tc>
                <a:tc>
                  <a:txBody>
                    <a:bodyPr/>
                    <a:lstStyle/>
                    <a:p>
                      <a:pPr algn="ctr" fontAlgn="t"/>
                      <a:r>
                        <a:rPr lang="en-IN" sz="1200" b="1" u="none" strike="noStrike" dirty="0">
                          <a:effectLst/>
                          <a:latin typeface="Grandview" panose="020B0502040204020203" pitchFamily="34" charset="0"/>
                        </a:rPr>
                        <a:t>health</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a:effectLst/>
                          <a:latin typeface="Grandview" panose="020B0502040204020203" pitchFamily="34" charset="0"/>
                        </a:rPr>
                        <a:t>.081</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.066</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.087</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.223</a:t>
                      </a:r>
                      <a:endParaRPr lang="en-IN" sz="1200" b="0"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1868074249"/>
                  </a:ext>
                </a:extLst>
              </a:tr>
              <a:tr h="249523">
                <a:tc vMerge="1">
                  <a:txBody>
                    <a:bodyPr/>
                    <a:lstStyle/>
                    <a:p>
                      <a:endParaRPr lang="en-IN"/>
                    </a:p>
                  </a:txBody>
                  <a:tcPr/>
                </a:tc>
                <a:tc>
                  <a:txBody>
                    <a:bodyPr/>
                    <a:lstStyle/>
                    <a:p>
                      <a:pPr algn="ctr" fontAlgn="t"/>
                      <a:r>
                        <a:rPr lang="en-IN" sz="1200" b="1" u="none" strike="noStrike" dirty="0" err="1">
                          <a:effectLst/>
                          <a:latin typeface="Grandview" panose="020B0502040204020203" pitchFamily="34" charset="0"/>
                        </a:rPr>
                        <a:t>fam_expect</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a:effectLst/>
                          <a:latin typeface="Grandview" panose="020B0502040204020203" pitchFamily="34" charset="0"/>
                        </a:rPr>
                        <a:t>.171</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.076</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.167</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1" u="none" strike="noStrike" dirty="0">
                          <a:effectLst/>
                          <a:latin typeface="Grandview" panose="020B0502040204020203" pitchFamily="34" charset="0"/>
                        </a:rPr>
                        <a:t>.027</a:t>
                      </a:r>
                      <a:endParaRPr lang="en-IN" sz="1200" b="1"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612758822"/>
                  </a:ext>
                </a:extLst>
              </a:tr>
              <a:tr h="259505">
                <a:tc vMerge="1">
                  <a:txBody>
                    <a:bodyPr/>
                    <a:lstStyle/>
                    <a:p>
                      <a:endParaRPr lang="en-IN"/>
                    </a:p>
                  </a:txBody>
                  <a:tcPr/>
                </a:tc>
                <a:tc>
                  <a:txBody>
                    <a:bodyPr/>
                    <a:lstStyle/>
                    <a:p>
                      <a:pPr algn="ctr" fontAlgn="t"/>
                      <a:r>
                        <a:rPr lang="en-IN" sz="1200" b="1" u="none" strike="noStrike" dirty="0" err="1">
                          <a:effectLst/>
                          <a:latin typeface="Grandview" panose="020B0502040204020203" pitchFamily="34" charset="0"/>
                        </a:rPr>
                        <a:t>lack_sup</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a:effectLst/>
                          <a:latin typeface="Grandview" panose="020B0502040204020203" pitchFamily="34" charset="0"/>
                        </a:rPr>
                        <a:t>.006</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.067</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.006</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.931</a:t>
                      </a:r>
                      <a:endParaRPr lang="en-IN" sz="1200" b="0"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2154278375"/>
                  </a:ext>
                </a:extLst>
              </a:tr>
              <a:tr h="249523">
                <a:tc gridSpan="6">
                  <a:txBody>
                    <a:bodyPr/>
                    <a:lstStyle/>
                    <a:p>
                      <a:pPr algn="l" fontAlgn="t"/>
                      <a:r>
                        <a:rPr lang="en-IN" sz="1200" u="none" strike="noStrike" dirty="0">
                          <a:effectLst/>
                          <a:latin typeface="Grandview" panose="020B0502040204020203" pitchFamily="34" charset="0"/>
                        </a:rPr>
                        <a:t>a. Dependent Variable: </a:t>
                      </a:r>
                      <a:r>
                        <a:rPr lang="en-IN" sz="1200" u="none" strike="noStrike" dirty="0" err="1">
                          <a:effectLst/>
                          <a:latin typeface="Grandview" panose="020B0502040204020203" pitchFamily="34" charset="0"/>
                        </a:rPr>
                        <a:t>ovr_stress</a:t>
                      </a:r>
                      <a:endParaRPr lang="en-IN" sz="1200" b="0" i="0" u="none" strike="noStrike" dirty="0">
                        <a:solidFill>
                          <a:srgbClr val="000000"/>
                        </a:solidFill>
                        <a:effectLst/>
                        <a:latin typeface="Grandview" panose="020B0502040204020203" pitchFamily="34" charset="0"/>
                      </a:endParaRPr>
                    </a:p>
                  </a:txBody>
                  <a:tcPr marL="7620" marR="7620" marT="762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090291686"/>
                  </a:ext>
                </a:extLst>
              </a:tr>
            </a:tbl>
          </a:graphicData>
        </a:graphic>
      </p:graphicFrame>
      <p:grpSp>
        <p:nvGrpSpPr>
          <p:cNvPr id="3" name="Google Shape;1728;p44">
            <a:extLst>
              <a:ext uri="{FF2B5EF4-FFF2-40B4-BE49-F238E27FC236}">
                <a16:creationId xmlns:a16="http://schemas.microsoft.com/office/drawing/2014/main" id="{69B36E5F-CE7C-B552-1077-C17BE8DD3F77}"/>
              </a:ext>
            </a:extLst>
          </p:cNvPr>
          <p:cNvGrpSpPr/>
          <p:nvPr/>
        </p:nvGrpSpPr>
        <p:grpSpPr>
          <a:xfrm>
            <a:off x="8566725" y="3489017"/>
            <a:ext cx="425875" cy="466752"/>
            <a:chOff x="6072409" y="4521978"/>
            <a:chExt cx="436705" cy="478622"/>
          </a:xfrm>
        </p:grpSpPr>
        <p:sp>
          <p:nvSpPr>
            <p:cNvPr id="4" name="Google Shape;1729;p44">
              <a:extLst>
                <a:ext uri="{FF2B5EF4-FFF2-40B4-BE49-F238E27FC236}">
                  <a16:creationId xmlns:a16="http://schemas.microsoft.com/office/drawing/2014/main" id="{2080F555-12C4-EB84-0C49-FCCEF8CBBB2E}"/>
                </a:ext>
              </a:extLst>
            </p:cNvPr>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730;p44">
              <a:extLst>
                <a:ext uri="{FF2B5EF4-FFF2-40B4-BE49-F238E27FC236}">
                  <a16:creationId xmlns:a16="http://schemas.microsoft.com/office/drawing/2014/main" id="{3D552EC5-D428-AEA9-8AA1-CDB6084EE52B}"/>
                </a:ext>
              </a:extLst>
            </p:cNvPr>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731;p44">
              <a:extLst>
                <a:ext uri="{FF2B5EF4-FFF2-40B4-BE49-F238E27FC236}">
                  <a16:creationId xmlns:a16="http://schemas.microsoft.com/office/drawing/2014/main" id="{E6626611-17D5-8D50-D033-CBACE32E62CC}"/>
                </a:ext>
              </a:extLst>
            </p:cNvPr>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32;p44">
              <a:extLst>
                <a:ext uri="{FF2B5EF4-FFF2-40B4-BE49-F238E27FC236}">
                  <a16:creationId xmlns:a16="http://schemas.microsoft.com/office/drawing/2014/main" id="{3AE4F649-39CA-AE61-F1B5-3E2EE9C691FB}"/>
                </a:ext>
              </a:extLst>
            </p:cNvPr>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733;p44">
              <a:extLst>
                <a:ext uri="{FF2B5EF4-FFF2-40B4-BE49-F238E27FC236}">
                  <a16:creationId xmlns:a16="http://schemas.microsoft.com/office/drawing/2014/main" id="{6E46C721-083A-7AC3-8750-E93696945589}"/>
                </a:ext>
              </a:extLst>
            </p:cNvPr>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34;p44">
              <a:extLst>
                <a:ext uri="{FF2B5EF4-FFF2-40B4-BE49-F238E27FC236}">
                  <a16:creationId xmlns:a16="http://schemas.microsoft.com/office/drawing/2014/main" id="{FE8E3614-6518-FC05-25A2-BC4A2FF1A6C0}"/>
                </a:ext>
              </a:extLst>
            </p:cNvPr>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35;p44">
              <a:extLst>
                <a:ext uri="{FF2B5EF4-FFF2-40B4-BE49-F238E27FC236}">
                  <a16:creationId xmlns:a16="http://schemas.microsoft.com/office/drawing/2014/main" id="{07E548A6-8391-2A8A-F9BC-907AAF6EFF45}"/>
                </a:ext>
              </a:extLst>
            </p:cNvPr>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36;p44">
              <a:extLst>
                <a:ext uri="{FF2B5EF4-FFF2-40B4-BE49-F238E27FC236}">
                  <a16:creationId xmlns:a16="http://schemas.microsoft.com/office/drawing/2014/main" id="{FC82C9CF-2A71-597C-4FD7-16668E581259}"/>
                </a:ext>
              </a:extLst>
            </p:cNvPr>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37;p44">
              <a:extLst>
                <a:ext uri="{FF2B5EF4-FFF2-40B4-BE49-F238E27FC236}">
                  <a16:creationId xmlns:a16="http://schemas.microsoft.com/office/drawing/2014/main" id="{5E0BCADE-973D-D6FA-3B36-7D1AEBE16DD2}"/>
                </a:ext>
              </a:extLst>
            </p:cNvPr>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07283D54-917C-491D-A4C7-53DA05A71843}"/>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21</a:t>
            </a:r>
            <a:endParaRPr lang="en-IN" dirty="0">
              <a:solidFill>
                <a:sysClr val="windowText" lastClr="000000"/>
              </a:solidFill>
            </a:endParaRPr>
          </a:p>
        </p:txBody>
      </p:sp>
    </p:spTree>
    <p:extLst>
      <p:ext uri="{BB962C8B-B14F-4D97-AF65-F5344CB8AC3E}">
        <p14:creationId xmlns:p14="http://schemas.microsoft.com/office/powerpoint/2010/main" val="2537325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1713" name="Google Shape;1713;p43"/>
          <p:cNvSpPr txBox="1">
            <a:spLocks noGrp="1"/>
          </p:cNvSpPr>
          <p:nvPr>
            <p:ph type="body" idx="1"/>
          </p:nvPr>
        </p:nvSpPr>
        <p:spPr>
          <a:xfrm>
            <a:off x="603807" y="414240"/>
            <a:ext cx="7936386" cy="4331931"/>
          </a:xfrm>
          <a:prstGeom prst="rect">
            <a:avLst/>
          </a:prstGeom>
        </p:spPr>
        <p:txBody>
          <a:bodyPr spcFirstLastPara="1" wrap="square" lIns="91425" tIns="91425" rIns="91425" bIns="91425" anchor="t" anchorCtr="0">
            <a:noAutofit/>
          </a:bodyPr>
          <a:lstStyle/>
          <a:p>
            <a:pPr marL="285750" indent="-285750"/>
            <a:endParaRPr lang="en-US" sz="1400" b="1" dirty="0">
              <a:solidFill>
                <a:srgbClr val="212121"/>
              </a:solidFill>
              <a:latin typeface="Grandview" panose="020B0502040204020203" pitchFamily="34" charset="0"/>
            </a:endParaRPr>
          </a:p>
          <a:p>
            <a:pPr marL="0" indent="0">
              <a:buNone/>
            </a:pPr>
            <a:endParaRPr lang="en-US" sz="1400" b="1" i="0" dirty="0">
              <a:solidFill>
                <a:srgbClr val="212121"/>
              </a:solidFill>
              <a:effectLst/>
              <a:latin typeface="Grandview" panose="020B0502040204020203" pitchFamily="34" charset="0"/>
            </a:endParaRPr>
          </a:p>
        </p:txBody>
      </p:sp>
      <p:graphicFrame>
        <p:nvGraphicFramePr>
          <p:cNvPr id="2" name="Table 1">
            <a:extLst>
              <a:ext uri="{FF2B5EF4-FFF2-40B4-BE49-F238E27FC236}">
                <a16:creationId xmlns:a16="http://schemas.microsoft.com/office/drawing/2014/main" id="{794961FA-7A17-57DD-B242-CBB31F2C2FCC}"/>
              </a:ext>
            </a:extLst>
          </p:cNvPr>
          <p:cNvGraphicFramePr>
            <a:graphicFrameLocks noGrp="1"/>
          </p:cNvGraphicFramePr>
          <p:nvPr>
            <p:extLst>
              <p:ext uri="{D42A27DB-BD31-4B8C-83A1-F6EECF244321}">
                <p14:modId xmlns:p14="http://schemas.microsoft.com/office/powerpoint/2010/main" val="4276117771"/>
              </p:ext>
            </p:extLst>
          </p:nvPr>
        </p:nvGraphicFramePr>
        <p:xfrm>
          <a:off x="1175657" y="1011973"/>
          <a:ext cx="6974114" cy="3444240"/>
        </p:xfrm>
        <a:graphic>
          <a:graphicData uri="http://schemas.openxmlformats.org/drawingml/2006/table">
            <a:tbl>
              <a:tblPr firstRow="1" bandRow="1">
                <a:tableStyleId>{3C2FFA5D-87B4-456A-9821-1D502468CF0F}</a:tableStyleId>
              </a:tblPr>
              <a:tblGrid>
                <a:gridCol w="3541486">
                  <a:extLst>
                    <a:ext uri="{9D8B030D-6E8A-4147-A177-3AD203B41FA5}">
                      <a16:colId xmlns:a16="http://schemas.microsoft.com/office/drawing/2014/main" val="864823649"/>
                    </a:ext>
                  </a:extLst>
                </a:gridCol>
                <a:gridCol w="1813637">
                  <a:extLst>
                    <a:ext uri="{9D8B030D-6E8A-4147-A177-3AD203B41FA5}">
                      <a16:colId xmlns:a16="http://schemas.microsoft.com/office/drawing/2014/main" val="1204574791"/>
                    </a:ext>
                  </a:extLst>
                </a:gridCol>
                <a:gridCol w="1618991">
                  <a:extLst>
                    <a:ext uri="{9D8B030D-6E8A-4147-A177-3AD203B41FA5}">
                      <a16:colId xmlns:a16="http://schemas.microsoft.com/office/drawing/2014/main" val="2257187461"/>
                    </a:ext>
                  </a:extLst>
                </a:gridCol>
              </a:tblGrid>
              <a:tr h="416076">
                <a:tc>
                  <a:txBody>
                    <a:bodyPr/>
                    <a:lstStyle/>
                    <a:p>
                      <a:r>
                        <a:rPr lang="en-IN" sz="1400" dirty="0">
                          <a:latin typeface="Grandview" panose="020B0502040204020203" pitchFamily="34" charset="0"/>
                        </a:rPr>
                        <a:t>Hypothesis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Grandview" panose="020B0502040204020203" pitchFamily="34" charset="0"/>
                        </a:rPr>
                        <a:t>Significance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Grandview" panose="020B0502040204020203" pitchFamily="34" charset="0"/>
                        </a:rPr>
                        <a:t>Significant or not?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6591543"/>
                  </a:ext>
                </a:extLst>
              </a:tr>
              <a:tr h="416076">
                <a:tc>
                  <a:txBody>
                    <a:bodyPr/>
                    <a:lstStyle/>
                    <a:p>
                      <a:pPr marL="285750" indent="-285750"/>
                      <a:r>
                        <a:rPr lang="en-US" sz="1400" b="1" i="0" dirty="0">
                          <a:solidFill>
                            <a:srgbClr val="212121"/>
                          </a:solidFill>
                          <a:effectLst/>
                          <a:latin typeface="Grandview" panose="020B0502040204020203" pitchFamily="34" charset="0"/>
                        </a:rPr>
                        <a:t>H</a:t>
                      </a:r>
                      <a:r>
                        <a:rPr lang="en-US" sz="1400" b="1" i="0" baseline="-25000" dirty="0">
                          <a:solidFill>
                            <a:srgbClr val="212121"/>
                          </a:solidFill>
                          <a:effectLst/>
                          <a:latin typeface="Grandview" panose="020B0502040204020203" pitchFamily="34" charset="0"/>
                        </a:rPr>
                        <a:t>1a</a:t>
                      </a:r>
                      <a:r>
                        <a:rPr lang="en-US" sz="1400" b="1" i="0" dirty="0">
                          <a:solidFill>
                            <a:srgbClr val="212121"/>
                          </a:solidFill>
                          <a:effectLst/>
                          <a:latin typeface="Grandview" panose="020B0502040204020203" pitchFamily="34" charset="0"/>
                        </a:rPr>
                        <a:t> : </a:t>
                      </a:r>
                      <a:r>
                        <a:rPr lang="en-US" sz="1400" i="0" dirty="0">
                          <a:solidFill>
                            <a:schemeClr val="accent2"/>
                          </a:solidFill>
                          <a:effectLst/>
                          <a:latin typeface="Grandview" panose="020B0502040204020203" pitchFamily="34" charset="0"/>
                        </a:rPr>
                        <a:t>There is a significant impact </a:t>
                      </a:r>
                      <a:r>
                        <a:rPr lang="en-US" sz="1400" dirty="0">
                          <a:solidFill>
                            <a:schemeClr val="accent2"/>
                          </a:solidFill>
                          <a:latin typeface="Grandview" panose="020B0502040204020203" pitchFamily="34" charset="0"/>
                        </a:rPr>
                        <a:t>of stress caused due to </a:t>
                      </a:r>
                      <a:r>
                        <a:rPr lang="en-US" sz="1400" b="1" u="sng" dirty="0">
                          <a:solidFill>
                            <a:schemeClr val="accent2"/>
                          </a:solidFill>
                          <a:latin typeface="Grandview" panose="020B0502040204020203" pitchFamily="34" charset="0"/>
                        </a:rPr>
                        <a:t>academic workload </a:t>
                      </a:r>
                      <a:r>
                        <a:rPr lang="en-US" sz="1400" dirty="0">
                          <a:solidFill>
                            <a:schemeClr val="accent2"/>
                          </a:solidFill>
                          <a:latin typeface="Grandview" panose="020B0502040204020203" pitchFamily="34" charset="0"/>
                        </a:rPr>
                        <a:t>on overall stress.</a:t>
                      </a:r>
                    </a:p>
                  </a:txBody>
                  <a:tcPr>
                    <a:lnT w="12700" cap="flat" cmpd="sng" algn="ctr">
                      <a:solidFill>
                        <a:schemeClr val="tx1"/>
                      </a:solidFill>
                      <a:prstDash val="solid"/>
                      <a:round/>
                      <a:headEnd type="none" w="med" len="med"/>
                      <a:tailEnd type="none" w="med" len="med"/>
                    </a:lnT>
                  </a:tcPr>
                </a:tc>
                <a:tc>
                  <a:txBody>
                    <a:bodyPr/>
                    <a:lstStyle/>
                    <a:p>
                      <a:pPr algn="ctr"/>
                      <a:r>
                        <a:rPr lang="en-IN" sz="1400" b="1" dirty="0">
                          <a:latin typeface="Grandview" panose="020B0502040204020203" pitchFamily="34" charset="0"/>
                        </a:rPr>
                        <a:t>0.000</a:t>
                      </a:r>
                    </a:p>
                  </a:txBody>
                  <a:tcPr anchor="ctr">
                    <a:lnT w="12700" cap="flat" cmpd="sng" algn="ctr">
                      <a:solidFill>
                        <a:schemeClr val="tx1"/>
                      </a:solidFill>
                      <a:prstDash val="solid"/>
                      <a:round/>
                      <a:headEnd type="none" w="med" len="med"/>
                      <a:tailEnd type="none" w="med" len="med"/>
                    </a:lnT>
                  </a:tcPr>
                </a:tc>
                <a:tc>
                  <a:txBody>
                    <a:bodyPr/>
                    <a:lstStyle/>
                    <a:p>
                      <a:pPr algn="ctr"/>
                      <a:r>
                        <a:rPr lang="en-IN" sz="1400" dirty="0">
                          <a:latin typeface="Grandview" panose="020B0502040204020203" pitchFamily="34" charset="0"/>
                        </a:rPr>
                        <a:t>Significant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14633730"/>
                  </a:ext>
                </a:extLst>
              </a:tr>
              <a:tr h="416076">
                <a:tc>
                  <a:txBody>
                    <a:bodyPr/>
                    <a:lstStyle/>
                    <a:p>
                      <a:pPr marL="285750" lvl="1" indent="-285750"/>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1b</a:t>
                      </a:r>
                      <a:r>
                        <a:rPr lang="en-US" sz="1400" b="1" dirty="0">
                          <a:solidFill>
                            <a:srgbClr val="212121"/>
                          </a:solidFill>
                          <a:latin typeface="Grandview" panose="020B0502040204020203" pitchFamily="34" charset="0"/>
                        </a:rPr>
                        <a:t> : </a:t>
                      </a:r>
                      <a:r>
                        <a:rPr lang="en-US" sz="1400" dirty="0">
                          <a:solidFill>
                            <a:schemeClr val="accent2"/>
                          </a:solidFill>
                          <a:latin typeface="Grandview" panose="020B0502040204020203" pitchFamily="34" charset="0"/>
                        </a:rPr>
                        <a:t>There is a significant impact of stress caused due to </a:t>
                      </a:r>
                      <a:r>
                        <a:rPr lang="en-US" sz="1400" b="1" u="sng" dirty="0">
                          <a:solidFill>
                            <a:schemeClr val="accent2"/>
                          </a:solidFill>
                          <a:latin typeface="Grandview" panose="020B0502040204020203" pitchFamily="34" charset="0"/>
                        </a:rPr>
                        <a:t>peer pressure </a:t>
                      </a:r>
                      <a:r>
                        <a:rPr lang="en-US" sz="1400" dirty="0">
                          <a:solidFill>
                            <a:schemeClr val="accent2"/>
                          </a:solidFill>
                          <a:latin typeface="Grandview" panose="020B0502040204020203" pitchFamily="34" charset="0"/>
                        </a:rPr>
                        <a:t>on overall stress</a:t>
                      </a:r>
                    </a:p>
                  </a:txBody>
                  <a:tcPr/>
                </a:tc>
                <a:tc>
                  <a:txBody>
                    <a:bodyPr/>
                    <a:lstStyle/>
                    <a:p>
                      <a:pPr algn="ctr" fontAlgn="ctr"/>
                      <a:r>
                        <a:rPr lang="en-IN" sz="1400" b="1" u="none" strike="noStrike" dirty="0">
                          <a:effectLst/>
                          <a:latin typeface="Grandview" panose="020B0502040204020203" pitchFamily="34" charset="0"/>
                        </a:rPr>
                        <a:t>.039</a:t>
                      </a:r>
                      <a:endParaRPr lang="en-IN" sz="14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a:r>
                        <a:rPr lang="en-IN" sz="1400" dirty="0">
                          <a:latin typeface="Grandview" panose="020B0502040204020203" pitchFamily="34" charset="0"/>
                        </a:rPr>
                        <a:t>Significant</a:t>
                      </a:r>
                    </a:p>
                  </a:txBody>
                  <a:tcPr anchor="ctr"/>
                </a:tc>
                <a:extLst>
                  <a:ext uri="{0D108BD9-81ED-4DB2-BD59-A6C34878D82A}">
                    <a16:rowId xmlns:a16="http://schemas.microsoft.com/office/drawing/2014/main" val="2164090550"/>
                  </a:ext>
                </a:extLst>
              </a:tr>
              <a:tr h="416076">
                <a:tc>
                  <a:txBody>
                    <a:bodyPr/>
                    <a:lstStyle/>
                    <a:p>
                      <a:pPr marL="268288" marR="0" lvl="0" indent="-268288"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1c</a:t>
                      </a:r>
                      <a:r>
                        <a:rPr lang="en-US" sz="1400" b="1" dirty="0">
                          <a:solidFill>
                            <a:srgbClr val="212121"/>
                          </a:solidFill>
                          <a:latin typeface="Grandview" panose="020B0502040204020203" pitchFamily="34" charset="0"/>
                        </a:rPr>
                        <a:t> : </a:t>
                      </a:r>
                      <a:r>
                        <a:rPr lang="en-US" sz="1400" dirty="0">
                          <a:solidFill>
                            <a:schemeClr val="accent2"/>
                          </a:solidFill>
                          <a:latin typeface="Grandview" panose="020B0502040204020203" pitchFamily="34" charset="0"/>
                        </a:rPr>
                        <a:t>There is a significant impact of     stress caused due to </a:t>
                      </a:r>
                      <a:r>
                        <a:rPr lang="en-US" sz="1400" b="1" u="sng" dirty="0">
                          <a:solidFill>
                            <a:schemeClr val="accent2"/>
                          </a:solidFill>
                          <a:latin typeface="Grandview" panose="020B0502040204020203" pitchFamily="34" charset="0"/>
                        </a:rPr>
                        <a:t>Social isolation </a:t>
                      </a:r>
                      <a:r>
                        <a:rPr lang="en-US" sz="1400" dirty="0">
                          <a:solidFill>
                            <a:schemeClr val="accent2"/>
                          </a:solidFill>
                          <a:latin typeface="Grandview" panose="020B0502040204020203" pitchFamily="34" charset="0"/>
                        </a:rPr>
                        <a:t>on overall stress.</a:t>
                      </a:r>
                    </a:p>
                  </a:txBody>
                  <a:tcPr/>
                </a:tc>
                <a:tc>
                  <a:txBody>
                    <a:bodyPr/>
                    <a:lstStyle/>
                    <a:p>
                      <a:pPr algn="ctr" fontAlgn="ctr"/>
                      <a:r>
                        <a:rPr lang="en-IN" sz="1400" u="none" strike="noStrike" dirty="0">
                          <a:effectLst/>
                          <a:latin typeface="Grandview" panose="020B0502040204020203" pitchFamily="34" charset="0"/>
                        </a:rPr>
                        <a:t>.683</a:t>
                      </a:r>
                      <a:endParaRPr lang="en-IN" sz="14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a:r>
                        <a:rPr lang="en-IN" sz="1400" dirty="0">
                          <a:latin typeface="Grandview" panose="020B0502040204020203" pitchFamily="34" charset="0"/>
                        </a:rPr>
                        <a:t>Not Significant</a:t>
                      </a:r>
                    </a:p>
                  </a:txBody>
                  <a:tcPr anchor="ctr"/>
                </a:tc>
                <a:extLst>
                  <a:ext uri="{0D108BD9-81ED-4DB2-BD59-A6C34878D82A}">
                    <a16:rowId xmlns:a16="http://schemas.microsoft.com/office/drawing/2014/main" val="2758102250"/>
                  </a:ext>
                </a:extLst>
              </a:tr>
              <a:tr h="416076">
                <a:tc>
                  <a:txBody>
                    <a:bodyPr/>
                    <a:lstStyle/>
                    <a:p>
                      <a:pPr marL="268288" marR="0" lvl="0" indent="-268288"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1d</a:t>
                      </a:r>
                      <a:r>
                        <a:rPr lang="en-US" sz="1400" b="1" dirty="0">
                          <a:solidFill>
                            <a:srgbClr val="212121"/>
                          </a:solidFill>
                          <a:latin typeface="Grandview" panose="020B0502040204020203" pitchFamily="34" charset="0"/>
                        </a:rPr>
                        <a:t> : </a:t>
                      </a:r>
                      <a:r>
                        <a:rPr lang="en-US" sz="1400" dirty="0">
                          <a:solidFill>
                            <a:schemeClr val="accent2"/>
                          </a:solidFill>
                          <a:latin typeface="Grandview" panose="020B0502040204020203" pitchFamily="34" charset="0"/>
                        </a:rPr>
                        <a:t>There is a significant impact of stress caused due to </a:t>
                      </a:r>
                      <a:r>
                        <a:rPr lang="en-US" sz="1400" b="1" u="sng" dirty="0">
                          <a:solidFill>
                            <a:schemeClr val="accent2"/>
                          </a:solidFill>
                          <a:latin typeface="Grandview" panose="020B0502040204020203" pitchFamily="34" charset="0"/>
                        </a:rPr>
                        <a:t>Financial Issues </a:t>
                      </a:r>
                      <a:r>
                        <a:rPr lang="en-US" sz="1400" dirty="0">
                          <a:solidFill>
                            <a:schemeClr val="accent2"/>
                          </a:solidFill>
                          <a:latin typeface="Grandview" panose="020B0502040204020203" pitchFamily="34" charset="0"/>
                        </a:rPr>
                        <a:t>on overall stress.</a:t>
                      </a:r>
                    </a:p>
                  </a:txBody>
                  <a:tcPr/>
                </a:tc>
                <a:tc>
                  <a:txBody>
                    <a:bodyPr/>
                    <a:lstStyle/>
                    <a:p>
                      <a:pPr algn="ctr" fontAlgn="ctr"/>
                      <a:r>
                        <a:rPr lang="en-IN" sz="1400" b="1" u="none" strike="noStrike" dirty="0">
                          <a:effectLst/>
                          <a:latin typeface="Grandview" panose="020B0502040204020203" pitchFamily="34" charset="0"/>
                        </a:rPr>
                        <a:t>.000</a:t>
                      </a:r>
                      <a:endParaRPr lang="en-IN" sz="14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a:r>
                        <a:rPr lang="en-IN" sz="1400" dirty="0">
                          <a:latin typeface="Grandview" panose="020B0502040204020203" pitchFamily="34" charset="0"/>
                        </a:rPr>
                        <a:t>Significant</a:t>
                      </a:r>
                    </a:p>
                  </a:txBody>
                  <a:tcPr anchor="ctr"/>
                </a:tc>
                <a:extLst>
                  <a:ext uri="{0D108BD9-81ED-4DB2-BD59-A6C34878D82A}">
                    <a16:rowId xmlns:a16="http://schemas.microsoft.com/office/drawing/2014/main" val="2806906692"/>
                  </a:ext>
                </a:extLst>
              </a:tr>
            </a:tbl>
          </a:graphicData>
        </a:graphic>
      </p:graphicFrame>
      <p:sp>
        <p:nvSpPr>
          <p:cNvPr id="5" name="TextBox 4">
            <a:extLst>
              <a:ext uri="{FF2B5EF4-FFF2-40B4-BE49-F238E27FC236}">
                <a16:creationId xmlns:a16="http://schemas.microsoft.com/office/drawing/2014/main" id="{8B6FF394-9A21-A76E-AA14-33A24DEBD82B}"/>
              </a:ext>
            </a:extLst>
          </p:cNvPr>
          <p:cNvSpPr txBox="1"/>
          <p:nvPr/>
        </p:nvSpPr>
        <p:spPr>
          <a:xfrm>
            <a:off x="1875972" y="260351"/>
            <a:ext cx="5087256" cy="461665"/>
          </a:xfrm>
          <a:prstGeom prst="rect">
            <a:avLst/>
          </a:prstGeom>
          <a:noFill/>
        </p:spPr>
        <p:txBody>
          <a:bodyPr wrap="square">
            <a:spAutoFit/>
          </a:bodyPr>
          <a:lstStyle/>
          <a:p>
            <a:pPr marL="285750" indent="-285750" algn="ctr"/>
            <a:r>
              <a:rPr lang="en-US" sz="2400" b="1" i="0" u="sng" dirty="0">
                <a:solidFill>
                  <a:schemeClr val="accent2"/>
                </a:solidFill>
                <a:effectLst/>
                <a:latin typeface="Open Sans ExtraBold" panose="020B0906030804020204" pitchFamily="34" charset="0"/>
                <a:ea typeface="Open Sans ExtraBold" panose="020B0906030804020204" pitchFamily="34" charset="0"/>
                <a:cs typeface="Open Sans ExtraBold" panose="020B0906030804020204" pitchFamily="34" charset="0"/>
              </a:rPr>
              <a:t>Let’s look at the hypothesis!</a:t>
            </a:r>
          </a:p>
        </p:txBody>
      </p:sp>
      <p:sp>
        <p:nvSpPr>
          <p:cNvPr id="3" name="TextBox 2">
            <a:extLst>
              <a:ext uri="{FF2B5EF4-FFF2-40B4-BE49-F238E27FC236}">
                <a16:creationId xmlns:a16="http://schemas.microsoft.com/office/drawing/2014/main" id="{4797FFF9-D1DA-AD76-2849-2E21E01D301C}"/>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22</a:t>
            </a:r>
            <a:endParaRPr lang="en-IN" dirty="0">
              <a:solidFill>
                <a:sysClr val="windowText" lastClr="000000"/>
              </a:solidFill>
            </a:endParaRPr>
          </a:p>
        </p:txBody>
      </p:sp>
    </p:spTree>
    <p:extLst>
      <p:ext uri="{BB962C8B-B14F-4D97-AF65-F5344CB8AC3E}">
        <p14:creationId xmlns:p14="http://schemas.microsoft.com/office/powerpoint/2010/main" val="25672349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1713" name="Google Shape;1713;p43"/>
          <p:cNvSpPr txBox="1">
            <a:spLocks noGrp="1"/>
          </p:cNvSpPr>
          <p:nvPr>
            <p:ph type="body" idx="1"/>
          </p:nvPr>
        </p:nvSpPr>
        <p:spPr>
          <a:xfrm>
            <a:off x="603807" y="414240"/>
            <a:ext cx="7936386" cy="4331931"/>
          </a:xfrm>
          <a:prstGeom prst="rect">
            <a:avLst/>
          </a:prstGeom>
        </p:spPr>
        <p:txBody>
          <a:bodyPr spcFirstLastPara="1" wrap="square" lIns="91425" tIns="91425" rIns="91425" bIns="91425" anchor="t" anchorCtr="0">
            <a:noAutofit/>
          </a:bodyPr>
          <a:lstStyle/>
          <a:p>
            <a:pPr marL="0" indent="0">
              <a:buNone/>
            </a:pPr>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0" indent="0">
              <a:buNone/>
            </a:pPr>
            <a:endParaRPr lang="en-US" sz="1400" b="1" i="0" dirty="0">
              <a:solidFill>
                <a:srgbClr val="212121"/>
              </a:solidFill>
              <a:effectLst/>
              <a:latin typeface="Grandview" panose="020B0502040204020203" pitchFamily="34" charset="0"/>
            </a:endParaRPr>
          </a:p>
        </p:txBody>
      </p:sp>
      <p:graphicFrame>
        <p:nvGraphicFramePr>
          <p:cNvPr id="2" name="Table 1">
            <a:extLst>
              <a:ext uri="{FF2B5EF4-FFF2-40B4-BE49-F238E27FC236}">
                <a16:creationId xmlns:a16="http://schemas.microsoft.com/office/drawing/2014/main" id="{794961FA-7A17-57DD-B242-CBB31F2C2FCC}"/>
              </a:ext>
            </a:extLst>
          </p:cNvPr>
          <p:cNvGraphicFramePr>
            <a:graphicFrameLocks noGrp="1"/>
          </p:cNvGraphicFramePr>
          <p:nvPr>
            <p:extLst>
              <p:ext uri="{D42A27DB-BD31-4B8C-83A1-F6EECF244321}">
                <p14:modId xmlns:p14="http://schemas.microsoft.com/office/powerpoint/2010/main" val="1043335587"/>
              </p:ext>
            </p:extLst>
          </p:nvPr>
        </p:nvGraphicFramePr>
        <p:xfrm>
          <a:off x="1012371" y="718457"/>
          <a:ext cx="7119257" cy="3513908"/>
        </p:xfrm>
        <a:graphic>
          <a:graphicData uri="http://schemas.openxmlformats.org/drawingml/2006/table">
            <a:tbl>
              <a:tblPr firstRow="1" bandRow="1">
                <a:tableStyleId>{3C2FFA5D-87B4-456A-9821-1D502468CF0F}</a:tableStyleId>
              </a:tblPr>
              <a:tblGrid>
                <a:gridCol w="3615190">
                  <a:extLst>
                    <a:ext uri="{9D8B030D-6E8A-4147-A177-3AD203B41FA5}">
                      <a16:colId xmlns:a16="http://schemas.microsoft.com/office/drawing/2014/main" val="864823649"/>
                    </a:ext>
                  </a:extLst>
                </a:gridCol>
                <a:gridCol w="1851382">
                  <a:extLst>
                    <a:ext uri="{9D8B030D-6E8A-4147-A177-3AD203B41FA5}">
                      <a16:colId xmlns:a16="http://schemas.microsoft.com/office/drawing/2014/main" val="1204574791"/>
                    </a:ext>
                  </a:extLst>
                </a:gridCol>
                <a:gridCol w="1652685">
                  <a:extLst>
                    <a:ext uri="{9D8B030D-6E8A-4147-A177-3AD203B41FA5}">
                      <a16:colId xmlns:a16="http://schemas.microsoft.com/office/drawing/2014/main" val="2257187461"/>
                    </a:ext>
                  </a:extLst>
                </a:gridCol>
              </a:tblGrid>
              <a:tr h="563551">
                <a:tc>
                  <a:txBody>
                    <a:bodyPr/>
                    <a:lstStyle/>
                    <a:p>
                      <a:r>
                        <a:rPr lang="en-IN" sz="1400" dirty="0">
                          <a:latin typeface="Grandview" panose="020B0502040204020203" pitchFamily="34" charset="0"/>
                        </a:rPr>
                        <a:t>Hypothesis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Grandview" panose="020B0502040204020203" pitchFamily="34" charset="0"/>
                        </a:rPr>
                        <a:t>Significance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latin typeface="Grandview" panose="020B0502040204020203" pitchFamily="34" charset="0"/>
                        </a:rPr>
                        <a:t>Significant or not?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6591543"/>
                  </a:ext>
                </a:extLst>
              </a:tr>
              <a:tr h="795602">
                <a:tc>
                  <a:txBody>
                    <a:bodyPr/>
                    <a:lstStyle/>
                    <a:p>
                      <a:pPr marL="285750" indent="-285750"/>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1e</a:t>
                      </a:r>
                      <a:r>
                        <a:rPr lang="en-US" sz="1400" b="1" dirty="0">
                          <a:solidFill>
                            <a:srgbClr val="212121"/>
                          </a:solidFill>
                          <a:latin typeface="Grandview" panose="020B0502040204020203" pitchFamily="34" charset="0"/>
                        </a:rPr>
                        <a:t> : </a:t>
                      </a:r>
                      <a:r>
                        <a:rPr lang="en-US" sz="1400" dirty="0">
                          <a:solidFill>
                            <a:schemeClr val="accent2"/>
                          </a:solidFill>
                          <a:latin typeface="Grandview" panose="020B0502040204020203" pitchFamily="34" charset="0"/>
                        </a:rPr>
                        <a:t>There is a significant impact of stress caused due to </a:t>
                      </a:r>
                      <a:r>
                        <a:rPr lang="en-US" sz="1400" b="1" u="sng" dirty="0">
                          <a:solidFill>
                            <a:schemeClr val="accent2"/>
                          </a:solidFill>
                          <a:latin typeface="Grandview" panose="020B0502040204020203" pitchFamily="34" charset="0"/>
                        </a:rPr>
                        <a:t>Health Issues </a:t>
                      </a:r>
                      <a:r>
                        <a:rPr lang="en-US" sz="1400" dirty="0">
                          <a:solidFill>
                            <a:schemeClr val="accent2"/>
                          </a:solidFill>
                          <a:latin typeface="Grandview" panose="020B0502040204020203" pitchFamily="34" charset="0"/>
                        </a:rPr>
                        <a:t>on overall stress.</a:t>
                      </a:r>
                    </a:p>
                  </a:txBody>
                  <a:tcPr>
                    <a:lnT w="12700" cap="flat" cmpd="sng" algn="ctr">
                      <a:solidFill>
                        <a:schemeClr val="tx1"/>
                      </a:solidFill>
                      <a:prstDash val="solid"/>
                      <a:round/>
                      <a:headEnd type="none" w="med" len="med"/>
                      <a:tailEnd type="none" w="med" len="med"/>
                    </a:lnT>
                  </a:tcPr>
                </a:tc>
                <a:tc>
                  <a:txBody>
                    <a:bodyPr/>
                    <a:lstStyle/>
                    <a:p>
                      <a:pPr algn="ctr" fontAlgn="ctr"/>
                      <a:r>
                        <a:rPr lang="en-IN" sz="1400" u="none" strike="noStrike" dirty="0">
                          <a:effectLst/>
                          <a:latin typeface="Grandview" panose="020B0502040204020203" pitchFamily="34" charset="0"/>
                        </a:rPr>
                        <a:t>.223</a:t>
                      </a:r>
                      <a:endParaRPr lang="en-IN" sz="1400" b="0" i="0" u="none" strike="noStrike" dirty="0">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a:r>
                        <a:rPr lang="en-IN" sz="1400" dirty="0">
                          <a:latin typeface="Grandview" panose="020B0502040204020203" pitchFamily="34" charset="0"/>
                        </a:rPr>
                        <a:t>Not Significant</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914633730"/>
                  </a:ext>
                </a:extLst>
              </a:tr>
              <a:tr h="795602">
                <a:tc>
                  <a:txBody>
                    <a:bodyPr/>
                    <a:lstStyle/>
                    <a:p>
                      <a:pPr marL="285750" indent="-285750"/>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1f </a:t>
                      </a:r>
                      <a:r>
                        <a:rPr lang="en-US" sz="1400" b="1" dirty="0">
                          <a:solidFill>
                            <a:srgbClr val="212121"/>
                          </a:solidFill>
                          <a:latin typeface="Grandview" panose="020B0502040204020203" pitchFamily="34" charset="0"/>
                        </a:rPr>
                        <a:t>: </a:t>
                      </a:r>
                      <a:r>
                        <a:rPr lang="en-US" sz="1400" dirty="0">
                          <a:solidFill>
                            <a:schemeClr val="accent2"/>
                          </a:solidFill>
                          <a:latin typeface="Grandview" panose="020B0502040204020203" pitchFamily="34" charset="0"/>
                        </a:rPr>
                        <a:t>There is a significant impact of stress caused due to </a:t>
                      </a:r>
                      <a:r>
                        <a:rPr lang="en-US" sz="1400" b="1" u="sng" dirty="0">
                          <a:solidFill>
                            <a:schemeClr val="accent2"/>
                          </a:solidFill>
                          <a:latin typeface="Grandview" panose="020B0502040204020203" pitchFamily="34" charset="0"/>
                        </a:rPr>
                        <a:t>Family Expectations </a:t>
                      </a:r>
                      <a:r>
                        <a:rPr lang="en-US" sz="1400" dirty="0">
                          <a:solidFill>
                            <a:schemeClr val="accent2"/>
                          </a:solidFill>
                          <a:latin typeface="Grandview" panose="020B0502040204020203" pitchFamily="34" charset="0"/>
                        </a:rPr>
                        <a:t>on overall stress.</a:t>
                      </a:r>
                    </a:p>
                  </a:txBody>
                  <a:tcPr/>
                </a:tc>
                <a:tc>
                  <a:txBody>
                    <a:bodyPr/>
                    <a:lstStyle/>
                    <a:p>
                      <a:pPr algn="ctr" fontAlgn="ctr"/>
                      <a:r>
                        <a:rPr lang="en-IN" sz="1400" b="1" u="none" strike="noStrike" dirty="0">
                          <a:effectLst/>
                          <a:latin typeface="Grandview" panose="020B0502040204020203" pitchFamily="34" charset="0"/>
                        </a:rPr>
                        <a:t>.027</a:t>
                      </a:r>
                      <a:endParaRPr lang="en-IN" sz="14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a:r>
                        <a:rPr lang="en-IN" sz="1400" dirty="0">
                          <a:latin typeface="Grandview" panose="020B0502040204020203" pitchFamily="34" charset="0"/>
                        </a:rPr>
                        <a:t>Significant</a:t>
                      </a:r>
                    </a:p>
                  </a:txBody>
                  <a:tcPr anchor="ctr"/>
                </a:tc>
                <a:extLst>
                  <a:ext uri="{0D108BD9-81ED-4DB2-BD59-A6C34878D82A}">
                    <a16:rowId xmlns:a16="http://schemas.microsoft.com/office/drawing/2014/main" val="2164090550"/>
                  </a:ext>
                </a:extLst>
              </a:tr>
              <a:tr h="795602">
                <a:tc>
                  <a:txBody>
                    <a:bodyPr/>
                    <a:lstStyle/>
                    <a:p>
                      <a:pPr marL="285750" indent="-285750"/>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1g</a:t>
                      </a:r>
                      <a:r>
                        <a:rPr lang="en-US" sz="1400" b="1" dirty="0">
                          <a:solidFill>
                            <a:srgbClr val="212121"/>
                          </a:solidFill>
                          <a:latin typeface="Grandview" panose="020B0502040204020203" pitchFamily="34" charset="0"/>
                        </a:rPr>
                        <a:t> : </a:t>
                      </a:r>
                      <a:r>
                        <a:rPr lang="en-US" sz="1400" dirty="0">
                          <a:solidFill>
                            <a:schemeClr val="accent2"/>
                          </a:solidFill>
                          <a:latin typeface="Grandview" panose="020B0502040204020203" pitchFamily="34" charset="0"/>
                        </a:rPr>
                        <a:t>There is a significant impact of stress caused due to </a:t>
                      </a:r>
                      <a:r>
                        <a:rPr lang="en-US" sz="1400" b="1" u="sng" dirty="0">
                          <a:solidFill>
                            <a:schemeClr val="accent2"/>
                          </a:solidFill>
                          <a:latin typeface="Grandview" panose="020B0502040204020203" pitchFamily="34" charset="0"/>
                        </a:rPr>
                        <a:t>Lack of support </a:t>
                      </a:r>
                      <a:r>
                        <a:rPr lang="en-US" sz="1400" dirty="0">
                          <a:solidFill>
                            <a:schemeClr val="accent2"/>
                          </a:solidFill>
                          <a:latin typeface="Grandview" panose="020B0502040204020203" pitchFamily="34" charset="0"/>
                        </a:rPr>
                        <a:t>on overall stress.</a:t>
                      </a:r>
                    </a:p>
                  </a:txBody>
                  <a:tcPr/>
                </a:tc>
                <a:tc>
                  <a:txBody>
                    <a:bodyPr/>
                    <a:lstStyle/>
                    <a:p>
                      <a:pPr algn="ctr" fontAlgn="ctr"/>
                      <a:r>
                        <a:rPr lang="en-IN" sz="1400" u="none" strike="noStrike" dirty="0">
                          <a:effectLst/>
                          <a:latin typeface="Grandview" panose="020B0502040204020203" pitchFamily="34" charset="0"/>
                        </a:rPr>
                        <a:t>.931</a:t>
                      </a:r>
                      <a:endParaRPr lang="en-IN" sz="14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a:r>
                        <a:rPr lang="en-IN" sz="1400" dirty="0">
                          <a:latin typeface="Grandview" panose="020B0502040204020203" pitchFamily="34" charset="0"/>
                        </a:rPr>
                        <a:t>Not Significant</a:t>
                      </a:r>
                    </a:p>
                  </a:txBody>
                  <a:tcPr anchor="ctr"/>
                </a:tc>
                <a:extLst>
                  <a:ext uri="{0D108BD9-81ED-4DB2-BD59-A6C34878D82A}">
                    <a16:rowId xmlns:a16="http://schemas.microsoft.com/office/drawing/2014/main" val="2758102250"/>
                  </a:ext>
                </a:extLst>
              </a:tr>
              <a:tr h="563551">
                <a:tc>
                  <a:txBody>
                    <a:bodyPr/>
                    <a:lstStyle/>
                    <a:p>
                      <a:pPr marL="285750" indent="-285750"/>
                      <a:r>
                        <a:rPr lang="en-US" sz="1400" b="1" dirty="0">
                          <a:solidFill>
                            <a:srgbClr val="212121"/>
                          </a:solidFill>
                          <a:latin typeface="Grandview" panose="020B0502040204020203" pitchFamily="34" charset="0"/>
                        </a:rPr>
                        <a:t>H</a:t>
                      </a:r>
                      <a:r>
                        <a:rPr lang="en-US" sz="1400" b="1" baseline="-25000" dirty="0">
                          <a:solidFill>
                            <a:srgbClr val="212121"/>
                          </a:solidFill>
                          <a:latin typeface="Grandview" panose="020B0502040204020203" pitchFamily="34" charset="0"/>
                        </a:rPr>
                        <a:t>2</a:t>
                      </a:r>
                      <a:r>
                        <a:rPr lang="en-US" sz="1400" b="1" dirty="0">
                          <a:solidFill>
                            <a:srgbClr val="212121"/>
                          </a:solidFill>
                          <a:latin typeface="Grandview" panose="020B0502040204020203" pitchFamily="34" charset="0"/>
                        </a:rPr>
                        <a:t> : </a:t>
                      </a:r>
                      <a:r>
                        <a:rPr lang="en-US" sz="1400" dirty="0">
                          <a:solidFill>
                            <a:schemeClr val="accent2"/>
                          </a:solidFill>
                          <a:latin typeface="Grandview" panose="020B0502040204020203" pitchFamily="34" charset="0"/>
                        </a:rPr>
                        <a:t>The multiple linear regression model constructed is </a:t>
                      </a:r>
                      <a:r>
                        <a:rPr lang="en-US" sz="1400" b="1" dirty="0">
                          <a:solidFill>
                            <a:schemeClr val="accent2"/>
                          </a:solidFill>
                          <a:latin typeface="Grandview" panose="020B0502040204020203" pitchFamily="34" charset="0"/>
                        </a:rPr>
                        <a:t>significant</a:t>
                      </a:r>
                      <a:r>
                        <a:rPr lang="en-US" sz="1400" dirty="0">
                          <a:solidFill>
                            <a:schemeClr val="accent2"/>
                          </a:solidFill>
                          <a:latin typeface="Grandview" panose="020B0502040204020203" pitchFamily="34" charset="0"/>
                        </a:rPr>
                        <a:t>.</a:t>
                      </a:r>
                    </a:p>
                  </a:txBody>
                  <a:tcPr/>
                </a:tc>
                <a:tc>
                  <a:txBody>
                    <a:bodyPr/>
                    <a:lstStyle/>
                    <a:p>
                      <a:pPr algn="ctr" fontAlgn="ctr"/>
                      <a:r>
                        <a:rPr lang="en-IN" sz="1400" b="1" u="none" strike="noStrike" dirty="0">
                          <a:effectLst/>
                          <a:latin typeface="Grandview" panose="020B0502040204020203" pitchFamily="34" charset="0"/>
                        </a:rPr>
                        <a:t>.000</a:t>
                      </a:r>
                      <a:endParaRPr lang="en-IN" sz="14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a:r>
                        <a:rPr lang="en-IN" sz="1400" dirty="0">
                          <a:latin typeface="Grandview" panose="020B0502040204020203" pitchFamily="34" charset="0"/>
                        </a:rPr>
                        <a:t>Significant</a:t>
                      </a:r>
                    </a:p>
                  </a:txBody>
                  <a:tcPr anchor="ctr"/>
                </a:tc>
                <a:extLst>
                  <a:ext uri="{0D108BD9-81ED-4DB2-BD59-A6C34878D82A}">
                    <a16:rowId xmlns:a16="http://schemas.microsoft.com/office/drawing/2014/main" val="2806906692"/>
                  </a:ext>
                </a:extLst>
              </a:tr>
            </a:tbl>
          </a:graphicData>
        </a:graphic>
      </p:graphicFrame>
      <p:sp>
        <p:nvSpPr>
          <p:cNvPr id="3" name="TextBox 2">
            <a:extLst>
              <a:ext uri="{FF2B5EF4-FFF2-40B4-BE49-F238E27FC236}">
                <a16:creationId xmlns:a16="http://schemas.microsoft.com/office/drawing/2014/main" id="{6728536C-5666-2EDA-8EF5-5A07193B47CC}"/>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23</a:t>
            </a:r>
            <a:endParaRPr lang="en-IN" dirty="0">
              <a:solidFill>
                <a:sysClr val="windowText" lastClr="000000"/>
              </a:solidFill>
            </a:endParaRPr>
          </a:p>
        </p:txBody>
      </p:sp>
    </p:spTree>
    <p:extLst>
      <p:ext uri="{BB962C8B-B14F-4D97-AF65-F5344CB8AC3E}">
        <p14:creationId xmlns:p14="http://schemas.microsoft.com/office/powerpoint/2010/main" val="2477558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990C69ED-4047-6105-7405-A164CBF16635}"/>
              </a:ext>
            </a:extLst>
          </p:cNvPr>
          <p:cNvSpPr/>
          <p:nvPr/>
        </p:nvSpPr>
        <p:spPr>
          <a:xfrm>
            <a:off x="3483429" y="186066"/>
            <a:ext cx="2177142" cy="5452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13" name="Google Shape;1713;p43"/>
          <p:cNvSpPr txBox="1">
            <a:spLocks noGrp="1"/>
          </p:cNvSpPr>
          <p:nvPr>
            <p:ph type="body" idx="1"/>
          </p:nvPr>
        </p:nvSpPr>
        <p:spPr>
          <a:xfrm>
            <a:off x="1390474" y="186066"/>
            <a:ext cx="6363051" cy="422013"/>
          </a:xfrm>
          <a:prstGeom prst="rect">
            <a:avLst/>
          </a:prstGeom>
        </p:spPr>
        <p:txBody>
          <a:bodyPr spcFirstLastPara="1" wrap="square" lIns="91425" tIns="91425" rIns="91425" bIns="91425" anchor="t" anchorCtr="0">
            <a:noAutofit/>
          </a:bodyPr>
          <a:lstStyle/>
          <a:p>
            <a:pPr marL="0" indent="0" algn="ctr">
              <a:buNone/>
            </a:pPr>
            <a:r>
              <a:rPr lang="en-US" sz="2000" b="1" u="sng" dirty="0">
                <a:solidFill>
                  <a:schemeClr val="accent3">
                    <a:lumMod val="60000"/>
                    <a:lumOff val="40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CONCLUSION</a:t>
            </a:r>
          </a:p>
        </p:txBody>
      </p:sp>
      <p:sp>
        <p:nvSpPr>
          <p:cNvPr id="33" name="Google Shape;1713;p43">
            <a:extLst>
              <a:ext uri="{FF2B5EF4-FFF2-40B4-BE49-F238E27FC236}">
                <a16:creationId xmlns:a16="http://schemas.microsoft.com/office/drawing/2014/main" id="{CA1BBA14-02D8-9416-F941-70EC9D73145D}"/>
              </a:ext>
            </a:extLst>
          </p:cNvPr>
          <p:cNvSpPr txBox="1">
            <a:spLocks/>
          </p:cNvSpPr>
          <p:nvPr/>
        </p:nvSpPr>
        <p:spPr>
          <a:xfrm>
            <a:off x="603806" y="731348"/>
            <a:ext cx="7936386" cy="39521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eaLnBrk="1" hangingPunct="1">
              <a:lnSpc>
                <a:spcPct val="100000"/>
              </a:lnSpc>
              <a:spcBef>
                <a:spcPts val="0"/>
              </a:spcBef>
              <a:spcAft>
                <a:spcPts val="0"/>
              </a:spcAft>
              <a:buClr>
                <a:schemeClr val="accent1"/>
              </a:buClr>
              <a:buSzPts val="1400"/>
              <a:buFont typeface="Karla"/>
              <a:buChar char="●"/>
              <a:defRPr sz="1600" b="0" i="0" u="none" strike="noStrike" cap="none">
                <a:solidFill>
                  <a:srgbClr val="000000"/>
                </a:solidFill>
                <a:latin typeface="Karla"/>
                <a:ea typeface="Karla"/>
                <a:cs typeface="Karla"/>
                <a:sym typeface="Karla"/>
              </a:defRPr>
            </a:lvl1pPr>
            <a:lvl2pPr marL="914400" marR="0" lvl="1" indent="-317500" algn="l" rtl="0" eaLnBrk="1" hangingPunct="1">
              <a:lnSpc>
                <a:spcPct val="100000"/>
              </a:lnSpc>
              <a:spcBef>
                <a:spcPts val="600"/>
              </a:spcBef>
              <a:spcAft>
                <a:spcPts val="0"/>
              </a:spcAft>
              <a:buClr>
                <a:schemeClr val="accent1"/>
              </a:buClr>
              <a:buSzPts val="1400"/>
              <a:buFont typeface="Karla"/>
              <a:buChar char="○"/>
              <a:defRPr sz="1400" b="0" i="0" u="none" strike="noStrike" cap="none">
                <a:solidFill>
                  <a:srgbClr val="000000"/>
                </a:solidFill>
                <a:latin typeface="Karla"/>
                <a:ea typeface="Karla"/>
                <a:cs typeface="Karla"/>
                <a:sym typeface="Karla"/>
              </a:defRPr>
            </a:lvl2pPr>
            <a:lvl3pPr marL="1371600" marR="0" lvl="2"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3pPr>
            <a:lvl4pPr marL="1828800" marR="0" lvl="3"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4pPr>
            <a:lvl5pPr marL="2286000" marR="0" lvl="4"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5pPr>
            <a:lvl6pPr marL="2743200" marR="0" lvl="5"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6pPr>
            <a:lvl7pPr marL="3200400" marR="0" lvl="6"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7pPr>
            <a:lvl8pPr marL="3657600" marR="0" lvl="7"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8pPr>
            <a:lvl9pPr marL="4114800" marR="0" lvl="8"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9pPr>
          </a:lstStyle>
          <a:p>
            <a:pPr marL="285750" indent="-285750"/>
            <a:endParaRPr lang="en-US" sz="1400" b="1" dirty="0">
              <a:solidFill>
                <a:srgbClr val="212121"/>
              </a:solidFill>
              <a:latin typeface="Grandview" panose="020B0502040204020203" pitchFamily="34" charset="0"/>
            </a:endParaRPr>
          </a:p>
          <a:p>
            <a:pPr marL="285750" indent="-285750"/>
            <a:r>
              <a:rPr lang="en-US" sz="1400" dirty="0">
                <a:solidFill>
                  <a:srgbClr val="212121"/>
                </a:solidFill>
                <a:latin typeface="Grandview" panose="020B0502040204020203" pitchFamily="34" charset="0"/>
              </a:rPr>
              <a:t>From the results obtained, we conclude that from the seven factors that we included in this study: “</a:t>
            </a:r>
            <a:r>
              <a:rPr lang="en-US" sz="1400" b="1" dirty="0">
                <a:solidFill>
                  <a:srgbClr val="212121"/>
                </a:solidFill>
                <a:latin typeface="Grandview" panose="020B0502040204020203" pitchFamily="34" charset="0"/>
              </a:rPr>
              <a:t>Academic Workload</a:t>
            </a:r>
            <a:r>
              <a:rPr lang="en-US" sz="1400" dirty="0">
                <a:solidFill>
                  <a:srgbClr val="212121"/>
                </a:solidFill>
                <a:latin typeface="Grandview" panose="020B0502040204020203" pitchFamily="34" charset="0"/>
              </a:rPr>
              <a:t>”,  “</a:t>
            </a:r>
            <a:r>
              <a:rPr lang="en-US" sz="1400" b="1" dirty="0">
                <a:solidFill>
                  <a:srgbClr val="212121"/>
                </a:solidFill>
                <a:latin typeface="Grandview" panose="020B0502040204020203" pitchFamily="34" charset="0"/>
              </a:rPr>
              <a:t>Peer Pressure</a:t>
            </a:r>
            <a:r>
              <a:rPr lang="en-US" sz="1400" dirty="0">
                <a:solidFill>
                  <a:srgbClr val="212121"/>
                </a:solidFill>
                <a:latin typeface="Grandview" panose="020B0502040204020203" pitchFamily="34" charset="0"/>
              </a:rPr>
              <a:t>”,  “</a:t>
            </a:r>
            <a:r>
              <a:rPr lang="en-US" sz="1400" b="1" dirty="0">
                <a:solidFill>
                  <a:srgbClr val="212121"/>
                </a:solidFill>
                <a:latin typeface="Grandview" panose="020B0502040204020203" pitchFamily="34" charset="0"/>
              </a:rPr>
              <a:t>Financial Concerns/Issues</a:t>
            </a:r>
            <a:r>
              <a:rPr lang="en-US" sz="1400" dirty="0">
                <a:solidFill>
                  <a:srgbClr val="212121"/>
                </a:solidFill>
                <a:latin typeface="Grandview" panose="020B0502040204020203" pitchFamily="34" charset="0"/>
              </a:rPr>
              <a:t>”,  “</a:t>
            </a:r>
            <a:r>
              <a:rPr lang="en-US" sz="1400" b="1" dirty="0">
                <a:solidFill>
                  <a:srgbClr val="212121"/>
                </a:solidFill>
                <a:latin typeface="Grandview" panose="020B0502040204020203" pitchFamily="34" charset="0"/>
              </a:rPr>
              <a:t>Family Expectations</a:t>
            </a:r>
            <a:r>
              <a:rPr lang="en-US" sz="1400" dirty="0">
                <a:solidFill>
                  <a:srgbClr val="212121"/>
                </a:solidFill>
                <a:latin typeface="Grandview" panose="020B0502040204020203" pitchFamily="34" charset="0"/>
              </a:rPr>
              <a:t>”; are the factors that have a significant impact on the Stress.</a:t>
            </a:r>
          </a:p>
          <a:p>
            <a:pPr marL="285750" indent="-285750"/>
            <a:endParaRPr lang="en-US" sz="1400" dirty="0">
              <a:solidFill>
                <a:srgbClr val="212121"/>
              </a:solidFill>
              <a:latin typeface="Grandview" panose="020B0502040204020203" pitchFamily="34" charset="0"/>
            </a:endParaRPr>
          </a:p>
          <a:p>
            <a:pPr marL="285750" indent="-285750"/>
            <a:r>
              <a:rPr lang="en-US" sz="1400" dirty="0">
                <a:solidFill>
                  <a:srgbClr val="212121"/>
                </a:solidFill>
                <a:latin typeface="Grandview" panose="020B0502040204020203" pitchFamily="34" charset="0"/>
              </a:rPr>
              <a:t>By observing the Standardized coefficients of the variables, we can see that out of the four factors, “</a:t>
            </a:r>
            <a:r>
              <a:rPr lang="en-US" sz="1400" b="1" dirty="0">
                <a:solidFill>
                  <a:srgbClr val="212121"/>
                </a:solidFill>
                <a:latin typeface="Grandview" panose="020B0502040204020203" pitchFamily="34" charset="0"/>
              </a:rPr>
              <a:t>Academic workload</a:t>
            </a:r>
            <a:r>
              <a:rPr lang="en-US" sz="1400" dirty="0">
                <a:solidFill>
                  <a:srgbClr val="212121"/>
                </a:solidFill>
                <a:latin typeface="Grandview" panose="020B0502040204020203" pitchFamily="34" charset="0"/>
              </a:rPr>
              <a:t>” and “</a:t>
            </a:r>
            <a:r>
              <a:rPr lang="en-US" sz="1400" b="1" dirty="0">
                <a:solidFill>
                  <a:srgbClr val="212121"/>
                </a:solidFill>
                <a:latin typeface="Grandview" panose="020B0502040204020203" pitchFamily="34" charset="0"/>
              </a:rPr>
              <a:t>Financial Concerns</a:t>
            </a:r>
            <a:r>
              <a:rPr lang="en-US" sz="1400" dirty="0">
                <a:solidFill>
                  <a:srgbClr val="212121"/>
                </a:solidFill>
                <a:latin typeface="Grandview" panose="020B0502040204020203" pitchFamily="34" charset="0"/>
              </a:rPr>
              <a:t>” have a significantly positive impact on the </a:t>
            </a:r>
            <a:r>
              <a:rPr lang="en-US" sz="1400" b="1" dirty="0">
                <a:solidFill>
                  <a:srgbClr val="212121"/>
                </a:solidFill>
                <a:latin typeface="Grandview" panose="020B0502040204020203" pitchFamily="34" charset="0"/>
              </a:rPr>
              <a:t>Overall Stress of a student </a:t>
            </a:r>
            <a:r>
              <a:rPr lang="en-US" sz="1400" dirty="0">
                <a:solidFill>
                  <a:srgbClr val="212121"/>
                </a:solidFill>
                <a:latin typeface="Grandview" panose="020B0502040204020203" pitchFamily="34" charset="0"/>
              </a:rPr>
              <a:t>i.e.</a:t>
            </a:r>
            <a:br>
              <a:rPr lang="en-US" sz="1400" dirty="0">
                <a:solidFill>
                  <a:srgbClr val="212121"/>
                </a:solidFill>
                <a:latin typeface="Grandview" panose="020B0502040204020203" pitchFamily="34" charset="0"/>
              </a:rPr>
            </a:br>
            <a:r>
              <a:rPr lang="en-US" sz="1400" dirty="0">
                <a:solidFill>
                  <a:srgbClr val="212121"/>
                </a:solidFill>
                <a:latin typeface="Grandview" panose="020B0502040204020203" pitchFamily="34" charset="0"/>
              </a:rPr>
              <a:t> </a:t>
            </a:r>
          </a:p>
          <a:p>
            <a:pPr marL="742950" lvl="1" indent="-285750"/>
            <a:r>
              <a:rPr lang="en-US" sz="1300" b="0" i="0" dirty="0">
                <a:solidFill>
                  <a:srgbClr val="374151"/>
                </a:solidFill>
                <a:effectLst/>
                <a:latin typeface="Grandview" panose="020B0502040204020203" pitchFamily="34" charset="0"/>
              </a:rPr>
              <a:t>It suggests that as the academic workload increases, students are more likely to experience higher stress levels.</a:t>
            </a:r>
            <a:endParaRPr lang="en-US" sz="1300" b="0" i="0" dirty="0">
              <a:solidFill>
                <a:srgbClr val="212121"/>
              </a:solidFill>
              <a:effectLst/>
              <a:latin typeface="Grandview" panose="020B0502040204020203" pitchFamily="34" charset="0"/>
            </a:endParaRPr>
          </a:p>
          <a:p>
            <a:pPr marL="742950" lvl="1" indent="-285750"/>
            <a:r>
              <a:rPr lang="en-US" sz="1300" b="0" i="0" dirty="0">
                <a:solidFill>
                  <a:srgbClr val="374151"/>
                </a:solidFill>
                <a:effectLst/>
                <a:latin typeface="Grandview" panose="020B0502040204020203" pitchFamily="34" charset="0"/>
              </a:rPr>
              <a:t>Students facing financial worries are more likely to experience elevated stress.</a:t>
            </a:r>
            <a:endParaRPr lang="en-US" sz="13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r>
              <a:rPr lang="en-US" sz="1400" dirty="0">
                <a:solidFill>
                  <a:srgbClr val="212121"/>
                </a:solidFill>
                <a:latin typeface="Grandview" panose="020B0502040204020203" pitchFamily="34" charset="0"/>
              </a:rPr>
              <a:t>These two factors are followed by: “</a:t>
            </a:r>
            <a:r>
              <a:rPr lang="en-IN" sz="1400" b="1" i="0" dirty="0">
                <a:effectLst/>
                <a:latin typeface="Grandview" panose="020B0502040204020203" pitchFamily="34" charset="0"/>
              </a:rPr>
              <a:t>Peer Pressure</a:t>
            </a:r>
            <a:r>
              <a:rPr lang="en-US" sz="1400" dirty="0">
                <a:solidFill>
                  <a:srgbClr val="212121"/>
                </a:solidFill>
                <a:latin typeface="Grandview" panose="020B0502040204020203" pitchFamily="34" charset="0"/>
              </a:rPr>
              <a:t>” and “</a:t>
            </a:r>
            <a:r>
              <a:rPr lang="en-IN" sz="1400" b="1" i="0" dirty="0">
                <a:effectLst/>
                <a:latin typeface="Grandview" panose="020B0502040204020203" pitchFamily="34" charset="0"/>
              </a:rPr>
              <a:t>Family Expectations</a:t>
            </a:r>
            <a:r>
              <a:rPr lang="en-US" sz="1400" dirty="0">
                <a:solidFill>
                  <a:srgbClr val="212121"/>
                </a:solidFill>
                <a:latin typeface="Grandview" panose="020B0502040204020203" pitchFamily="34" charset="0"/>
              </a:rPr>
              <a:t>” which, although have a lesser impact than the above two factors, have a significant positive impact on the Overall Stress as well!</a:t>
            </a:r>
          </a:p>
          <a:p>
            <a:pPr marL="285750" indent="-285750"/>
            <a:endParaRPr lang="en-US" sz="1400" b="1" dirty="0">
              <a:solidFill>
                <a:srgbClr val="212121"/>
              </a:solidFill>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p:txBody>
      </p:sp>
      <p:sp>
        <p:nvSpPr>
          <p:cNvPr id="2" name="TextBox 1">
            <a:extLst>
              <a:ext uri="{FF2B5EF4-FFF2-40B4-BE49-F238E27FC236}">
                <a16:creationId xmlns:a16="http://schemas.microsoft.com/office/drawing/2014/main" id="{0378CDD9-4A9C-2F69-F225-32988E42D94B}"/>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24</a:t>
            </a:r>
            <a:endParaRPr lang="en-IN" dirty="0">
              <a:solidFill>
                <a:sysClr val="windowText" lastClr="000000"/>
              </a:solidFill>
            </a:endParaRPr>
          </a:p>
        </p:txBody>
      </p:sp>
    </p:spTree>
    <p:extLst>
      <p:ext uri="{BB962C8B-B14F-4D97-AF65-F5344CB8AC3E}">
        <p14:creationId xmlns:p14="http://schemas.microsoft.com/office/powerpoint/2010/main" val="664454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grpSp>
        <p:nvGrpSpPr>
          <p:cNvPr id="1728" name="Google Shape;1728;p44"/>
          <p:cNvGrpSpPr/>
          <p:nvPr/>
        </p:nvGrpSpPr>
        <p:grpSpPr>
          <a:xfrm>
            <a:off x="486229" y="310388"/>
            <a:ext cx="425875" cy="466752"/>
            <a:chOff x="6072409" y="4521978"/>
            <a:chExt cx="436705" cy="478622"/>
          </a:xfrm>
        </p:grpSpPr>
        <p:sp>
          <p:nvSpPr>
            <p:cNvPr id="1729" name="Google Shape;1729;p44"/>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4"/>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4"/>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4"/>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3" name="Google Shape;1733;p44"/>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4"/>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4"/>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4"/>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4"/>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Table 1">
            <a:extLst>
              <a:ext uri="{FF2B5EF4-FFF2-40B4-BE49-F238E27FC236}">
                <a16:creationId xmlns:a16="http://schemas.microsoft.com/office/drawing/2014/main" id="{5A4DAF69-4BA4-8E79-73E3-8EEA7EB91D18}"/>
              </a:ext>
            </a:extLst>
          </p:cNvPr>
          <p:cNvGraphicFramePr>
            <a:graphicFrameLocks noGrp="1"/>
          </p:cNvGraphicFramePr>
          <p:nvPr/>
        </p:nvGraphicFramePr>
        <p:xfrm>
          <a:off x="1487714" y="609600"/>
          <a:ext cx="6320971" cy="3802739"/>
        </p:xfrm>
        <a:graphic>
          <a:graphicData uri="http://schemas.openxmlformats.org/drawingml/2006/table">
            <a:tbl>
              <a:tblPr>
                <a:tableStyleId>{3C2FFA5D-87B4-456A-9821-1D502468CF0F}</a:tableStyleId>
              </a:tblPr>
              <a:tblGrid>
                <a:gridCol w="791029">
                  <a:extLst>
                    <a:ext uri="{9D8B030D-6E8A-4147-A177-3AD203B41FA5}">
                      <a16:colId xmlns:a16="http://schemas.microsoft.com/office/drawing/2014/main" val="747112287"/>
                    </a:ext>
                  </a:extLst>
                </a:gridCol>
                <a:gridCol w="1451897">
                  <a:extLst>
                    <a:ext uri="{9D8B030D-6E8A-4147-A177-3AD203B41FA5}">
                      <a16:colId xmlns:a16="http://schemas.microsoft.com/office/drawing/2014/main" val="2207133577"/>
                    </a:ext>
                  </a:extLst>
                </a:gridCol>
                <a:gridCol w="815609">
                  <a:extLst>
                    <a:ext uri="{9D8B030D-6E8A-4147-A177-3AD203B41FA5}">
                      <a16:colId xmlns:a16="http://schemas.microsoft.com/office/drawing/2014/main" val="848204428"/>
                    </a:ext>
                  </a:extLst>
                </a:gridCol>
                <a:gridCol w="815609">
                  <a:extLst>
                    <a:ext uri="{9D8B030D-6E8A-4147-A177-3AD203B41FA5}">
                      <a16:colId xmlns:a16="http://schemas.microsoft.com/office/drawing/2014/main" val="1583164410"/>
                    </a:ext>
                  </a:extLst>
                </a:gridCol>
                <a:gridCol w="1017171">
                  <a:extLst>
                    <a:ext uri="{9D8B030D-6E8A-4147-A177-3AD203B41FA5}">
                      <a16:colId xmlns:a16="http://schemas.microsoft.com/office/drawing/2014/main" val="1254443490"/>
                    </a:ext>
                  </a:extLst>
                </a:gridCol>
                <a:gridCol w="614047">
                  <a:extLst>
                    <a:ext uri="{9D8B030D-6E8A-4147-A177-3AD203B41FA5}">
                      <a16:colId xmlns:a16="http://schemas.microsoft.com/office/drawing/2014/main" val="1794143494"/>
                    </a:ext>
                  </a:extLst>
                </a:gridCol>
                <a:gridCol w="815609">
                  <a:extLst>
                    <a:ext uri="{9D8B030D-6E8A-4147-A177-3AD203B41FA5}">
                      <a16:colId xmlns:a16="http://schemas.microsoft.com/office/drawing/2014/main" val="3465662305"/>
                    </a:ext>
                  </a:extLst>
                </a:gridCol>
              </a:tblGrid>
              <a:tr h="808457">
                <a:tc rowSpan="2" gridSpan="2">
                  <a:txBody>
                    <a:bodyPr/>
                    <a:lstStyle/>
                    <a:p>
                      <a:pPr algn="ctr" fontAlgn="b"/>
                      <a:r>
                        <a:rPr lang="en-IN" sz="1200" b="1" u="none" strike="noStrike" dirty="0">
                          <a:solidFill>
                            <a:schemeClr val="bg1"/>
                          </a:solidFill>
                          <a:effectLst/>
                          <a:latin typeface="Grandview" panose="020B0502040204020203" pitchFamily="34" charset="0"/>
                        </a:rPr>
                        <a:t>Model</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hMerge="1">
                  <a:txBody>
                    <a:bodyPr/>
                    <a:lstStyle/>
                    <a:p>
                      <a:endParaRPr lang="en-IN"/>
                    </a:p>
                  </a:txBody>
                  <a:tcPr/>
                </a:tc>
                <a:tc gridSpan="2">
                  <a:txBody>
                    <a:bodyPr/>
                    <a:lstStyle/>
                    <a:p>
                      <a:pPr algn="ctr" fontAlgn="b"/>
                      <a:r>
                        <a:rPr lang="en-IN" sz="1200" b="1" u="none" strike="noStrike" dirty="0">
                          <a:solidFill>
                            <a:schemeClr val="bg1"/>
                          </a:solidFill>
                          <a:effectLst/>
                          <a:latin typeface="Grandview" panose="020B0502040204020203" pitchFamily="34" charset="0"/>
                        </a:rPr>
                        <a:t>Unstandardized Coefficients</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IN"/>
                    </a:p>
                  </a:txBody>
                  <a:tcPr/>
                </a:tc>
                <a:tc>
                  <a:txBody>
                    <a:bodyPr/>
                    <a:lstStyle/>
                    <a:p>
                      <a:pPr algn="ctr" fontAlgn="b"/>
                      <a:r>
                        <a:rPr lang="en-IN" sz="1200" b="1" u="none" strike="noStrike" dirty="0">
                          <a:solidFill>
                            <a:schemeClr val="bg1"/>
                          </a:solidFill>
                          <a:effectLst/>
                          <a:latin typeface="Grandview" panose="020B0502040204020203" pitchFamily="34" charset="0"/>
                        </a:rPr>
                        <a:t>Standardized Coefficients</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p>
                      <a:pPr algn="ctr" fontAlgn="b"/>
                      <a:r>
                        <a:rPr lang="en-IN" sz="1200" b="1" u="none" strike="noStrike" dirty="0">
                          <a:solidFill>
                            <a:schemeClr val="bg1"/>
                          </a:solidFill>
                          <a:effectLst/>
                          <a:latin typeface="Grandview" panose="020B0502040204020203" pitchFamily="34" charset="0"/>
                        </a:rPr>
                        <a:t>t</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p>
                      <a:pPr algn="ctr" fontAlgn="b"/>
                      <a:r>
                        <a:rPr lang="en-IN" sz="1200" b="1" u="none" strike="noStrike" dirty="0">
                          <a:solidFill>
                            <a:schemeClr val="bg1"/>
                          </a:solidFill>
                          <a:effectLst/>
                          <a:latin typeface="Grandview" panose="020B0502040204020203" pitchFamily="34" charset="0"/>
                        </a:rPr>
                        <a:t>Sig.</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921785595"/>
                  </a:ext>
                </a:extLst>
              </a:tr>
              <a:tr h="249523">
                <a:tc gridSpan="2" vMerge="1">
                  <a:txBody>
                    <a:bodyPr/>
                    <a:lstStyle/>
                    <a:p>
                      <a:endParaRPr lang="en-IN"/>
                    </a:p>
                  </a:txBody>
                  <a:tcPr/>
                </a:tc>
                <a:tc hMerge="1" vMerge="1">
                  <a:txBody>
                    <a:bodyPr/>
                    <a:lstStyle/>
                    <a:p>
                      <a:endParaRPr lang="en-IN"/>
                    </a:p>
                  </a:txBody>
                  <a:tcPr/>
                </a:tc>
                <a:tc>
                  <a:txBody>
                    <a:bodyPr/>
                    <a:lstStyle/>
                    <a:p>
                      <a:pPr algn="ctr" fontAlgn="b"/>
                      <a:r>
                        <a:rPr lang="en-IN" sz="1200" b="1" u="none" strike="noStrike" dirty="0">
                          <a:solidFill>
                            <a:schemeClr val="bg1"/>
                          </a:solidFill>
                          <a:effectLst/>
                          <a:latin typeface="Grandview" panose="020B0502040204020203" pitchFamily="34" charset="0"/>
                        </a:rPr>
                        <a:t>B</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b"/>
                      <a:r>
                        <a:rPr lang="en-IN" sz="1200" b="1" u="none" strike="noStrike" dirty="0">
                          <a:solidFill>
                            <a:schemeClr val="bg1"/>
                          </a:solidFill>
                          <a:effectLst/>
                          <a:latin typeface="Grandview" panose="020B0502040204020203" pitchFamily="34" charset="0"/>
                        </a:rPr>
                        <a:t>Std. Error</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b"/>
                      <a:r>
                        <a:rPr lang="en-IN" sz="1200" b="1" u="none" strike="noStrike" dirty="0">
                          <a:solidFill>
                            <a:schemeClr val="bg1"/>
                          </a:solidFill>
                          <a:effectLst/>
                          <a:latin typeface="Grandview" panose="020B0502040204020203" pitchFamily="34" charset="0"/>
                        </a:rPr>
                        <a:t>Beta</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vMerge="1">
                  <a:txBody>
                    <a:bodyPr/>
                    <a:lstStyle/>
                    <a:p>
                      <a:endParaRPr lang="en-IN"/>
                    </a:p>
                  </a:txBody>
                  <a:tcPr/>
                </a:tc>
                <a:tc vMerge="1">
                  <a:txBody>
                    <a:bodyPr/>
                    <a:lstStyle/>
                    <a:p>
                      <a:endParaRPr lang="en-IN"/>
                    </a:p>
                  </a:txBody>
                  <a:tcPr/>
                </a:tc>
                <a:extLst>
                  <a:ext uri="{0D108BD9-81ED-4DB2-BD59-A6C34878D82A}">
                    <a16:rowId xmlns:a16="http://schemas.microsoft.com/office/drawing/2014/main" val="1187962769"/>
                  </a:ext>
                </a:extLst>
              </a:tr>
              <a:tr h="419200">
                <a:tc rowSpan="8">
                  <a:txBody>
                    <a:bodyPr/>
                    <a:lstStyle/>
                    <a:p>
                      <a:pPr algn="ctr" fontAlgn="t"/>
                      <a:r>
                        <a:rPr lang="en-IN" sz="1200" u="none" strike="noStrike">
                          <a:effectLst/>
                          <a:latin typeface="Grandview" panose="020B0502040204020203" pitchFamily="34" charset="0"/>
                        </a:rPr>
                        <a:t>1</a:t>
                      </a:r>
                      <a:endParaRPr lang="en-IN" sz="1200" b="0" i="0" u="none" strike="noStrike">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t"/>
                      <a:r>
                        <a:rPr lang="en-IN" sz="1200" b="1" u="none" strike="noStrike" dirty="0">
                          <a:effectLst/>
                          <a:latin typeface="Grandview" panose="020B0502040204020203" pitchFamily="34" charset="0"/>
                        </a:rPr>
                        <a:t>(Constant)</a:t>
                      </a:r>
                      <a:endParaRPr lang="en-IN" sz="1200" b="1" i="0" u="none" strike="noStrike" dirty="0">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solidFill>
                      <a:schemeClr val="tx1">
                        <a:lumMod val="10000"/>
                        <a:lumOff val="90000"/>
                      </a:schemeClr>
                    </a:solidFill>
                  </a:tcPr>
                </a:tc>
                <a:tc>
                  <a:txBody>
                    <a:bodyPr/>
                    <a:lstStyle/>
                    <a:p>
                      <a:pPr algn="ctr" fontAlgn="ctr"/>
                      <a:r>
                        <a:rPr lang="en-IN" sz="1200" u="none" strike="noStrike" dirty="0">
                          <a:effectLst/>
                          <a:latin typeface="Grandview" panose="020B0502040204020203" pitchFamily="34" charset="0"/>
                        </a:rPr>
                        <a:t>-.236</a:t>
                      </a:r>
                      <a:endParaRPr lang="en-IN" sz="1200" b="0" i="0" u="none" strike="noStrike" dirty="0">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ctr"/>
                      <a:r>
                        <a:rPr lang="en-IN" sz="1200" u="none" strike="noStrike" dirty="0">
                          <a:effectLst/>
                          <a:latin typeface="Grandview" panose="020B0502040204020203" pitchFamily="34" charset="0"/>
                        </a:rPr>
                        <a:t>.279</a:t>
                      </a:r>
                      <a:endParaRPr lang="en-IN" sz="1200" b="0" i="0" u="none" strike="noStrike" dirty="0">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ctr"/>
                      <a:r>
                        <a:rPr lang="en-IN" sz="1200" u="none" strike="noStrike" dirty="0">
                          <a:effectLst/>
                          <a:latin typeface="Grandview" panose="020B0502040204020203" pitchFamily="34" charset="0"/>
                        </a:rPr>
                        <a:t> </a:t>
                      </a:r>
                      <a:endParaRPr lang="en-IN" sz="1200" b="0" i="0" u="none" strike="noStrike" dirty="0">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ctr"/>
                      <a:r>
                        <a:rPr lang="en-IN" sz="1200" u="none" strike="noStrike" dirty="0">
                          <a:effectLst/>
                          <a:latin typeface="Grandview" panose="020B0502040204020203" pitchFamily="34" charset="0"/>
                        </a:rPr>
                        <a:t>-.845</a:t>
                      </a:r>
                      <a:endParaRPr lang="en-IN" sz="1200" b="0" i="0" u="none" strike="noStrike" dirty="0">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ctr"/>
                      <a:r>
                        <a:rPr lang="en-IN" sz="1200" u="none" strike="noStrike">
                          <a:effectLst/>
                          <a:latin typeface="Grandview" panose="020B0502040204020203" pitchFamily="34" charset="0"/>
                        </a:rPr>
                        <a:t>.400</a:t>
                      </a:r>
                      <a:endParaRPr lang="en-IN" sz="1200" b="0" i="0" u="none" strike="noStrike">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43281774"/>
                  </a:ext>
                </a:extLst>
              </a:tr>
              <a:tr h="259505">
                <a:tc vMerge="1">
                  <a:txBody>
                    <a:bodyPr/>
                    <a:lstStyle/>
                    <a:p>
                      <a:endParaRPr lang="en-IN"/>
                    </a:p>
                  </a:txBody>
                  <a:tcPr/>
                </a:tc>
                <a:tc>
                  <a:txBody>
                    <a:bodyPr/>
                    <a:lstStyle/>
                    <a:p>
                      <a:pPr algn="ctr" fontAlgn="t"/>
                      <a:r>
                        <a:rPr lang="en-IN" sz="1200" b="1" u="none" strike="noStrike" dirty="0" err="1">
                          <a:effectLst/>
                          <a:latin typeface="Grandview" panose="020B0502040204020203" pitchFamily="34" charset="0"/>
                        </a:rPr>
                        <a:t>acad_wl</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dirty="0">
                          <a:effectLst/>
                          <a:latin typeface="Grandview" panose="020B0502040204020203" pitchFamily="34" charset="0"/>
                        </a:rPr>
                        <a:t>.352</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.081</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.323</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4.340</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1" u="none" strike="noStrike" dirty="0">
                          <a:effectLst/>
                          <a:latin typeface="Grandview" panose="020B0502040204020203" pitchFamily="34" charset="0"/>
                        </a:rPr>
                        <a:t>.000</a:t>
                      </a:r>
                      <a:endParaRPr lang="en-IN" sz="1200" b="1"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766889074"/>
                  </a:ext>
                </a:extLst>
              </a:tr>
              <a:tr h="409219">
                <a:tc vMerge="1">
                  <a:txBody>
                    <a:bodyPr/>
                    <a:lstStyle/>
                    <a:p>
                      <a:endParaRPr lang="en-IN"/>
                    </a:p>
                  </a:txBody>
                  <a:tcPr/>
                </a:tc>
                <a:tc>
                  <a:txBody>
                    <a:bodyPr/>
                    <a:lstStyle/>
                    <a:p>
                      <a:pPr algn="ctr" fontAlgn="t"/>
                      <a:r>
                        <a:rPr lang="en-IN" sz="1200" b="1" u="none" strike="noStrike" dirty="0" err="1">
                          <a:effectLst/>
                          <a:latin typeface="Grandview" panose="020B0502040204020203" pitchFamily="34" charset="0"/>
                        </a:rPr>
                        <a:t>peer_pressure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dirty="0">
                          <a:effectLst/>
                          <a:latin typeface="Grandview" panose="020B0502040204020203" pitchFamily="34" charset="0"/>
                        </a:rPr>
                        <a:t>.172</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.082</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.160</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2.095</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1" u="none" strike="noStrike" dirty="0">
                          <a:effectLst/>
                          <a:latin typeface="Grandview" panose="020B0502040204020203" pitchFamily="34" charset="0"/>
                        </a:rPr>
                        <a:t>.039</a:t>
                      </a:r>
                      <a:endParaRPr lang="en-IN" sz="1200" b="1"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2820917587"/>
                  </a:ext>
                </a:extLst>
              </a:tr>
              <a:tr h="399238">
                <a:tc vMerge="1">
                  <a:txBody>
                    <a:bodyPr/>
                    <a:lstStyle/>
                    <a:p>
                      <a:endParaRPr lang="en-IN"/>
                    </a:p>
                  </a:txBody>
                  <a:tcPr/>
                </a:tc>
                <a:tc>
                  <a:txBody>
                    <a:bodyPr/>
                    <a:lstStyle/>
                    <a:p>
                      <a:pPr algn="ctr" fontAlgn="t"/>
                      <a:r>
                        <a:rPr lang="en-IN" sz="1200" b="1" u="none" strike="noStrike" dirty="0" err="1">
                          <a:effectLst/>
                          <a:latin typeface="Grandview" panose="020B0502040204020203" pitchFamily="34" charset="0"/>
                        </a:rPr>
                        <a:t>Social_isol</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a:effectLst/>
                          <a:latin typeface="Grandview" panose="020B0502040204020203" pitchFamily="34" charset="0"/>
                        </a:rPr>
                        <a:t>.032</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.079</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.033</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.410</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.683</a:t>
                      </a:r>
                      <a:endParaRPr lang="en-IN" sz="1200" b="0"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2920266840"/>
                  </a:ext>
                </a:extLst>
              </a:tr>
              <a:tr h="249523">
                <a:tc vMerge="1">
                  <a:txBody>
                    <a:bodyPr/>
                    <a:lstStyle/>
                    <a:p>
                      <a:endParaRPr lang="en-IN"/>
                    </a:p>
                  </a:txBody>
                  <a:tcPr/>
                </a:tc>
                <a:tc>
                  <a:txBody>
                    <a:bodyPr/>
                    <a:lstStyle/>
                    <a:p>
                      <a:pPr algn="ctr" fontAlgn="t"/>
                      <a:r>
                        <a:rPr lang="en-IN" sz="1200" b="1" u="none" strike="noStrike" dirty="0">
                          <a:effectLst/>
                          <a:latin typeface="Grandview" panose="020B0502040204020203" pitchFamily="34" charset="0"/>
                        </a:rPr>
                        <a:t>finance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a:effectLst/>
                          <a:latin typeface="Grandview" panose="020B0502040204020203" pitchFamily="34" charset="0"/>
                        </a:rPr>
                        <a:t>.328</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.080</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.345</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4.088</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1" u="none" strike="noStrike" dirty="0">
                          <a:effectLst/>
                          <a:latin typeface="Grandview" panose="020B0502040204020203" pitchFamily="34" charset="0"/>
                        </a:rPr>
                        <a:t>.000</a:t>
                      </a:r>
                      <a:endParaRPr lang="en-IN" sz="1200" b="1"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2539594633"/>
                  </a:ext>
                </a:extLst>
              </a:tr>
              <a:tr h="249523">
                <a:tc vMerge="1">
                  <a:txBody>
                    <a:bodyPr/>
                    <a:lstStyle/>
                    <a:p>
                      <a:endParaRPr lang="en-IN"/>
                    </a:p>
                  </a:txBody>
                  <a:tcPr/>
                </a:tc>
                <a:tc>
                  <a:txBody>
                    <a:bodyPr/>
                    <a:lstStyle/>
                    <a:p>
                      <a:pPr algn="ctr" fontAlgn="t"/>
                      <a:r>
                        <a:rPr lang="en-IN" sz="1200" b="1" u="none" strike="noStrike" dirty="0">
                          <a:effectLst/>
                          <a:latin typeface="Grandview" panose="020B0502040204020203" pitchFamily="34" charset="0"/>
                        </a:rPr>
                        <a:t>health</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a:effectLst/>
                          <a:latin typeface="Grandview" panose="020B0502040204020203" pitchFamily="34" charset="0"/>
                        </a:rPr>
                        <a:t>.081</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.066</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.087</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1.227</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.223</a:t>
                      </a:r>
                      <a:endParaRPr lang="en-IN" sz="1200" b="0"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1868074249"/>
                  </a:ext>
                </a:extLst>
              </a:tr>
              <a:tr h="249523">
                <a:tc vMerge="1">
                  <a:txBody>
                    <a:bodyPr/>
                    <a:lstStyle/>
                    <a:p>
                      <a:endParaRPr lang="en-IN"/>
                    </a:p>
                  </a:txBody>
                  <a:tcPr/>
                </a:tc>
                <a:tc>
                  <a:txBody>
                    <a:bodyPr/>
                    <a:lstStyle/>
                    <a:p>
                      <a:pPr algn="ctr" fontAlgn="t"/>
                      <a:r>
                        <a:rPr lang="en-IN" sz="1200" b="1" u="none" strike="noStrike" dirty="0" err="1">
                          <a:effectLst/>
                          <a:latin typeface="Grandview" panose="020B0502040204020203" pitchFamily="34" charset="0"/>
                        </a:rPr>
                        <a:t>fam_expect</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a:effectLst/>
                          <a:latin typeface="Grandview" panose="020B0502040204020203" pitchFamily="34" charset="0"/>
                        </a:rPr>
                        <a:t>.171</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.076</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.167</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2.240</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1" u="none" strike="noStrike" dirty="0">
                          <a:effectLst/>
                          <a:latin typeface="Grandview" panose="020B0502040204020203" pitchFamily="34" charset="0"/>
                        </a:rPr>
                        <a:t>.027</a:t>
                      </a:r>
                      <a:endParaRPr lang="en-IN" sz="1200" b="1"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612758822"/>
                  </a:ext>
                </a:extLst>
              </a:tr>
              <a:tr h="259505">
                <a:tc vMerge="1">
                  <a:txBody>
                    <a:bodyPr/>
                    <a:lstStyle/>
                    <a:p>
                      <a:endParaRPr lang="en-IN"/>
                    </a:p>
                  </a:txBody>
                  <a:tcPr/>
                </a:tc>
                <a:tc>
                  <a:txBody>
                    <a:bodyPr/>
                    <a:lstStyle/>
                    <a:p>
                      <a:pPr algn="ctr" fontAlgn="t"/>
                      <a:r>
                        <a:rPr lang="en-IN" sz="1200" b="1" u="none" strike="noStrike" dirty="0" err="1">
                          <a:effectLst/>
                          <a:latin typeface="Grandview" panose="020B0502040204020203" pitchFamily="34" charset="0"/>
                        </a:rPr>
                        <a:t>lack_sup</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ctr"/>
                      <a:r>
                        <a:rPr lang="en-IN" sz="1200" u="none" strike="noStrike">
                          <a:effectLst/>
                          <a:latin typeface="Grandview" panose="020B0502040204020203" pitchFamily="34" charset="0"/>
                        </a:rPr>
                        <a:t>.006</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.067</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a:effectLst/>
                          <a:latin typeface="Grandview" panose="020B0502040204020203" pitchFamily="34" charset="0"/>
                        </a:rPr>
                        <a:t>.006</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.086</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u="none" strike="noStrike" dirty="0">
                          <a:effectLst/>
                          <a:latin typeface="Grandview" panose="020B0502040204020203" pitchFamily="34" charset="0"/>
                        </a:rPr>
                        <a:t>.931</a:t>
                      </a:r>
                      <a:endParaRPr lang="en-IN" sz="1200" b="0" i="0" u="none" strike="noStrike" dirty="0">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2154278375"/>
                  </a:ext>
                </a:extLst>
              </a:tr>
              <a:tr h="249523">
                <a:tc gridSpan="7">
                  <a:txBody>
                    <a:bodyPr/>
                    <a:lstStyle/>
                    <a:p>
                      <a:pPr algn="l" fontAlgn="t"/>
                      <a:r>
                        <a:rPr lang="en-IN" sz="1200" u="none" strike="noStrike" dirty="0">
                          <a:effectLst/>
                          <a:latin typeface="Grandview" panose="020B0502040204020203" pitchFamily="34" charset="0"/>
                        </a:rPr>
                        <a:t>a. Dependent Variable: </a:t>
                      </a:r>
                      <a:r>
                        <a:rPr lang="en-IN" sz="1200" u="none" strike="noStrike" dirty="0" err="1">
                          <a:effectLst/>
                          <a:latin typeface="Grandview" panose="020B0502040204020203" pitchFamily="34" charset="0"/>
                        </a:rPr>
                        <a:t>ovr_stress</a:t>
                      </a:r>
                      <a:endParaRPr lang="en-IN" sz="1200" b="0" i="0" u="none" strike="noStrike" dirty="0">
                        <a:solidFill>
                          <a:srgbClr val="000000"/>
                        </a:solidFill>
                        <a:effectLst/>
                        <a:latin typeface="Grandview" panose="020B0502040204020203" pitchFamily="34" charset="0"/>
                      </a:endParaRPr>
                    </a:p>
                  </a:txBody>
                  <a:tcPr marL="7620" marR="7620" marT="762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090291686"/>
                  </a:ext>
                </a:extLst>
              </a:tr>
            </a:tbl>
          </a:graphicData>
        </a:graphic>
      </p:graphicFrame>
      <p:grpSp>
        <p:nvGrpSpPr>
          <p:cNvPr id="3" name="Google Shape;1728;p44">
            <a:extLst>
              <a:ext uri="{FF2B5EF4-FFF2-40B4-BE49-F238E27FC236}">
                <a16:creationId xmlns:a16="http://schemas.microsoft.com/office/drawing/2014/main" id="{69B36E5F-CE7C-B552-1077-C17BE8DD3F77}"/>
              </a:ext>
            </a:extLst>
          </p:cNvPr>
          <p:cNvGrpSpPr/>
          <p:nvPr/>
        </p:nvGrpSpPr>
        <p:grpSpPr>
          <a:xfrm>
            <a:off x="8566725" y="3489017"/>
            <a:ext cx="425875" cy="466752"/>
            <a:chOff x="6072409" y="4521978"/>
            <a:chExt cx="436705" cy="478622"/>
          </a:xfrm>
        </p:grpSpPr>
        <p:sp>
          <p:nvSpPr>
            <p:cNvPr id="4" name="Google Shape;1729;p44">
              <a:extLst>
                <a:ext uri="{FF2B5EF4-FFF2-40B4-BE49-F238E27FC236}">
                  <a16:creationId xmlns:a16="http://schemas.microsoft.com/office/drawing/2014/main" id="{2080F555-12C4-EB84-0C49-FCCEF8CBBB2E}"/>
                </a:ext>
              </a:extLst>
            </p:cNvPr>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730;p44">
              <a:extLst>
                <a:ext uri="{FF2B5EF4-FFF2-40B4-BE49-F238E27FC236}">
                  <a16:creationId xmlns:a16="http://schemas.microsoft.com/office/drawing/2014/main" id="{3D552EC5-D428-AEA9-8AA1-CDB6084EE52B}"/>
                </a:ext>
              </a:extLst>
            </p:cNvPr>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731;p44">
              <a:extLst>
                <a:ext uri="{FF2B5EF4-FFF2-40B4-BE49-F238E27FC236}">
                  <a16:creationId xmlns:a16="http://schemas.microsoft.com/office/drawing/2014/main" id="{E6626611-17D5-8D50-D033-CBACE32E62CC}"/>
                </a:ext>
              </a:extLst>
            </p:cNvPr>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32;p44">
              <a:extLst>
                <a:ext uri="{FF2B5EF4-FFF2-40B4-BE49-F238E27FC236}">
                  <a16:creationId xmlns:a16="http://schemas.microsoft.com/office/drawing/2014/main" id="{3AE4F649-39CA-AE61-F1B5-3E2EE9C691FB}"/>
                </a:ext>
              </a:extLst>
            </p:cNvPr>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733;p44">
              <a:extLst>
                <a:ext uri="{FF2B5EF4-FFF2-40B4-BE49-F238E27FC236}">
                  <a16:creationId xmlns:a16="http://schemas.microsoft.com/office/drawing/2014/main" id="{6E46C721-083A-7AC3-8750-E93696945589}"/>
                </a:ext>
              </a:extLst>
            </p:cNvPr>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34;p44">
              <a:extLst>
                <a:ext uri="{FF2B5EF4-FFF2-40B4-BE49-F238E27FC236}">
                  <a16:creationId xmlns:a16="http://schemas.microsoft.com/office/drawing/2014/main" id="{FE8E3614-6518-FC05-25A2-BC4A2FF1A6C0}"/>
                </a:ext>
              </a:extLst>
            </p:cNvPr>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35;p44">
              <a:extLst>
                <a:ext uri="{FF2B5EF4-FFF2-40B4-BE49-F238E27FC236}">
                  <a16:creationId xmlns:a16="http://schemas.microsoft.com/office/drawing/2014/main" id="{07E548A6-8391-2A8A-F9BC-907AAF6EFF45}"/>
                </a:ext>
              </a:extLst>
            </p:cNvPr>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36;p44">
              <a:extLst>
                <a:ext uri="{FF2B5EF4-FFF2-40B4-BE49-F238E27FC236}">
                  <a16:creationId xmlns:a16="http://schemas.microsoft.com/office/drawing/2014/main" id="{FC82C9CF-2A71-597C-4FD7-16668E581259}"/>
                </a:ext>
              </a:extLst>
            </p:cNvPr>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37;p44">
              <a:extLst>
                <a:ext uri="{FF2B5EF4-FFF2-40B4-BE49-F238E27FC236}">
                  <a16:creationId xmlns:a16="http://schemas.microsoft.com/office/drawing/2014/main" id="{5E0BCADE-973D-D6FA-3B36-7D1AEBE16DD2}"/>
                </a:ext>
              </a:extLst>
            </p:cNvPr>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51653C9F-23BA-AF47-5C8D-E0FB44759531}"/>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25</a:t>
            </a:r>
            <a:endParaRPr lang="en-IN" dirty="0">
              <a:solidFill>
                <a:sysClr val="windowText" lastClr="000000"/>
              </a:solidFill>
            </a:endParaRPr>
          </a:p>
        </p:txBody>
      </p:sp>
    </p:spTree>
    <p:extLst>
      <p:ext uri="{BB962C8B-B14F-4D97-AF65-F5344CB8AC3E}">
        <p14:creationId xmlns:p14="http://schemas.microsoft.com/office/powerpoint/2010/main" val="26407059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37" name="Rectangle: Rounded Corners 36">
            <a:extLst>
              <a:ext uri="{FF2B5EF4-FFF2-40B4-BE49-F238E27FC236}">
                <a16:creationId xmlns:a16="http://schemas.microsoft.com/office/drawing/2014/main" id="{990C69ED-4047-6105-7405-A164CBF16635}"/>
              </a:ext>
            </a:extLst>
          </p:cNvPr>
          <p:cNvSpPr/>
          <p:nvPr/>
        </p:nvSpPr>
        <p:spPr>
          <a:xfrm>
            <a:off x="3483429" y="186066"/>
            <a:ext cx="2177142" cy="5452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13" name="Google Shape;1713;p43"/>
          <p:cNvSpPr txBox="1">
            <a:spLocks noGrp="1"/>
          </p:cNvSpPr>
          <p:nvPr>
            <p:ph type="body" idx="1"/>
          </p:nvPr>
        </p:nvSpPr>
        <p:spPr>
          <a:xfrm>
            <a:off x="1390474" y="186066"/>
            <a:ext cx="6363051" cy="422013"/>
          </a:xfrm>
          <a:prstGeom prst="rect">
            <a:avLst/>
          </a:prstGeom>
        </p:spPr>
        <p:txBody>
          <a:bodyPr spcFirstLastPara="1" wrap="square" lIns="91425" tIns="91425" rIns="91425" bIns="91425" anchor="t" anchorCtr="0">
            <a:noAutofit/>
          </a:bodyPr>
          <a:lstStyle/>
          <a:p>
            <a:pPr marL="0" indent="0" algn="ctr">
              <a:buNone/>
            </a:pPr>
            <a:r>
              <a:rPr lang="en-US" sz="2000" b="1" u="sng" dirty="0">
                <a:solidFill>
                  <a:schemeClr val="accent3">
                    <a:lumMod val="60000"/>
                    <a:lumOff val="40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CONCLUSION</a:t>
            </a:r>
          </a:p>
        </p:txBody>
      </p:sp>
      <p:sp>
        <p:nvSpPr>
          <p:cNvPr id="2" name="Rectangle: Rounded Corners 1">
            <a:extLst>
              <a:ext uri="{FF2B5EF4-FFF2-40B4-BE49-F238E27FC236}">
                <a16:creationId xmlns:a16="http://schemas.microsoft.com/office/drawing/2014/main" id="{ACC1906E-1318-0C69-CCD7-408DFD2754AD}"/>
              </a:ext>
            </a:extLst>
          </p:cNvPr>
          <p:cNvSpPr/>
          <p:nvPr/>
        </p:nvSpPr>
        <p:spPr>
          <a:xfrm>
            <a:off x="696686" y="1908629"/>
            <a:ext cx="7786914" cy="40640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33" name="Google Shape;1713;p43">
                <a:extLst>
                  <a:ext uri="{FF2B5EF4-FFF2-40B4-BE49-F238E27FC236}">
                    <a16:creationId xmlns:a16="http://schemas.microsoft.com/office/drawing/2014/main" id="{CA1BBA14-02D8-9416-F941-70EC9D73145D}"/>
                  </a:ext>
                </a:extLst>
              </p:cNvPr>
              <p:cNvSpPr txBox="1">
                <a:spLocks/>
              </p:cNvSpPr>
              <p:nvPr/>
            </p:nvSpPr>
            <p:spPr>
              <a:xfrm>
                <a:off x="603806" y="731348"/>
                <a:ext cx="7936386" cy="39521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eaLnBrk="1" hangingPunct="1">
                  <a:lnSpc>
                    <a:spcPct val="100000"/>
                  </a:lnSpc>
                  <a:spcBef>
                    <a:spcPts val="0"/>
                  </a:spcBef>
                  <a:spcAft>
                    <a:spcPts val="0"/>
                  </a:spcAft>
                  <a:buClr>
                    <a:schemeClr val="accent1"/>
                  </a:buClr>
                  <a:buSzPts val="1400"/>
                  <a:buFont typeface="Karla"/>
                  <a:buChar char="●"/>
                  <a:defRPr sz="1600" b="0" i="0" u="none" strike="noStrike" cap="none">
                    <a:solidFill>
                      <a:srgbClr val="000000"/>
                    </a:solidFill>
                    <a:latin typeface="Karla"/>
                    <a:ea typeface="Karla"/>
                    <a:cs typeface="Karla"/>
                    <a:sym typeface="Karla"/>
                  </a:defRPr>
                </a:lvl1pPr>
                <a:lvl2pPr marL="914400" marR="0" lvl="1" indent="-317500" algn="l" rtl="0" eaLnBrk="1" hangingPunct="1">
                  <a:lnSpc>
                    <a:spcPct val="100000"/>
                  </a:lnSpc>
                  <a:spcBef>
                    <a:spcPts val="600"/>
                  </a:spcBef>
                  <a:spcAft>
                    <a:spcPts val="0"/>
                  </a:spcAft>
                  <a:buClr>
                    <a:schemeClr val="accent1"/>
                  </a:buClr>
                  <a:buSzPts val="1400"/>
                  <a:buFont typeface="Karla"/>
                  <a:buChar char="○"/>
                  <a:defRPr sz="1400" b="0" i="0" u="none" strike="noStrike" cap="none">
                    <a:solidFill>
                      <a:srgbClr val="000000"/>
                    </a:solidFill>
                    <a:latin typeface="Karla"/>
                    <a:ea typeface="Karla"/>
                    <a:cs typeface="Karla"/>
                    <a:sym typeface="Karla"/>
                  </a:defRPr>
                </a:lvl2pPr>
                <a:lvl3pPr marL="1371600" marR="0" lvl="2"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3pPr>
                <a:lvl4pPr marL="1828800" marR="0" lvl="3"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4pPr>
                <a:lvl5pPr marL="2286000" marR="0" lvl="4"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5pPr>
                <a:lvl6pPr marL="2743200" marR="0" lvl="5"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6pPr>
                <a:lvl7pPr marL="3200400" marR="0" lvl="6"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7pPr>
                <a:lvl8pPr marL="3657600" marR="0" lvl="7"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8pPr>
                <a:lvl9pPr marL="4114800" marR="0" lvl="8"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9pPr>
              </a:lstStyle>
              <a:p>
                <a:pPr marL="285750" indent="-285750"/>
                <a:endParaRPr lang="en-US" sz="1400" b="1" dirty="0">
                  <a:solidFill>
                    <a:srgbClr val="212121"/>
                  </a:solidFill>
                  <a:latin typeface="Grandview" panose="020B0502040204020203" pitchFamily="34" charset="0"/>
                </a:endParaRPr>
              </a:p>
              <a:p>
                <a:pPr marL="285750" indent="-285750"/>
                <a:r>
                  <a:rPr lang="en-US" sz="1300" b="0" i="0" dirty="0">
                    <a:solidFill>
                      <a:srgbClr val="374151"/>
                    </a:solidFill>
                    <a:effectLst/>
                    <a:latin typeface="Grandview" panose="020B0502040204020203" pitchFamily="34" charset="0"/>
                  </a:rPr>
                  <a:t>However, social isolation, health concerns, and the perceived lack of support do not appear to be statistically significant contributors to stress levels in our study.</a:t>
                </a:r>
              </a:p>
              <a:p>
                <a:pPr marL="285750" indent="-285750"/>
                <a:endParaRPr lang="en-US" sz="1300" dirty="0">
                  <a:solidFill>
                    <a:srgbClr val="374151"/>
                  </a:solidFill>
                  <a:latin typeface="Grandview" panose="020B0502040204020203" pitchFamily="34" charset="0"/>
                </a:endParaRPr>
              </a:p>
              <a:p>
                <a:pPr marL="285750" indent="-285750"/>
                <a:r>
                  <a:rPr lang="en-US" sz="1300" b="0" i="0" dirty="0">
                    <a:solidFill>
                      <a:srgbClr val="374151"/>
                    </a:solidFill>
                    <a:effectLst/>
                    <a:latin typeface="Grandview" panose="020B0502040204020203" pitchFamily="34" charset="0"/>
                  </a:rPr>
                  <a:t>The multiple regression equation obtained is as follows: </a:t>
                </a:r>
              </a:p>
              <a:p>
                <a:pPr marL="285750" indent="-285750"/>
                <a:endParaRPr lang="en-US" sz="1300" dirty="0">
                  <a:solidFill>
                    <a:srgbClr val="374151"/>
                  </a:solidFill>
                  <a:latin typeface="Grandview" panose="020B0502040204020203" pitchFamily="34" charset="0"/>
                </a:endParaRPr>
              </a:p>
              <a:p>
                <a:pPr marL="0" indent="0">
                  <a:buNone/>
                </a:pPr>
                <a14:m>
                  <m:oMathPara xmlns:m="http://schemas.openxmlformats.org/officeDocument/2006/math">
                    <m:oMathParaPr>
                      <m:jc m:val="centerGroup"/>
                    </m:oMathParaPr>
                    <m:oMath xmlns:m="http://schemas.openxmlformats.org/officeDocument/2006/math">
                      <m:r>
                        <a:rPr lang="en-IN" sz="1200" b="0" i="1" smtClean="0">
                          <a:solidFill>
                            <a:srgbClr val="212121"/>
                          </a:solidFill>
                          <a:effectLst/>
                          <a:latin typeface="Cambria Math" panose="02040503050406030204" pitchFamily="18" charset="0"/>
                        </a:rPr>
                        <m:t>𝑂𝑣𝑟</m:t>
                      </m:r>
                      <m:r>
                        <m:rPr>
                          <m:lit/>
                        </m:rPr>
                        <a:rPr lang="en-IN" sz="1200" b="0" i="1" smtClean="0">
                          <a:solidFill>
                            <a:srgbClr val="212121"/>
                          </a:solidFill>
                          <a:effectLst/>
                          <a:latin typeface="Cambria Math" panose="02040503050406030204" pitchFamily="18" charset="0"/>
                        </a:rPr>
                        <m:t>_</m:t>
                      </m:r>
                      <m:r>
                        <a:rPr lang="en-IN" sz="1200" b="0" i="1" smtClean="0">
                          <a:solidFill>
                            <a:srgbClr val="212121"/>
                          </a:solidFill>
                          <a:effectLst/>
                          <a:latin typeface="Cambria Math" panose="02040503050406030204" pitchFamily="18" charset="0"/>
                        </a:rPr>
                        <m:t>𝑆𝑡𝑟𝑒𝑠𝑠</m:t>
                      </m:r>
                      <m:r>
                        <a:rPr lang="en-IN" sz="1200" b="0" i="1" smtClean="0">
                          <a:solidFill>
                            <a:srgbClr val="212121"/>
                          </a:solidFill>
                          <a:effectLst/>
                          <a:latin typeface="Cambria Math" panose="02040503050406030204" pitchFamily="18" charset="0"/>
                        </a:rPr>
                        <m:t>=</m:t>
                      </m:r>
                      <m:r>
                        <a:rPr lang="en-IN" sz="1200" b="0" i="0" smtClean="0">
                          <a:solidFill>
                            <a:srgbClr val="212121"/>
                          </a:solidFill>
                          <a:effectLst/>
                          <a:latin typeface="Cambria Math" panose="02040503050406030204" pitchFamily="18" charset="0"/>
                        </a:rPr>
                        <m:t>−0.236+0.352∗</m:t>
                      </m:r>
                      <m:sSub>
                        <m:sSubPr>
                          <m:ctrlPr>
                            <a:rPr lang="en-IN" sz="1200" b="0" i="1" smtClean="0">
                              <a:solidFill>
                                <a:srgbClr val="212121"/>
                              </a:solidFill>
                              <a:effectLst/>
                              <a:latin typeface="Cambria Math" panose="02040503050406030204" pitchFamily="18" charset="0"/>
                            </a:rPr>
                          </m:ctrlPr>
                        </m:sSubPr>
                        <m:e>
                          <m:r>
                            <m:rPr>
                              <m:sty m:val="p"/>
                            </m:rPr>
                            <a:rPr lang="en-IN" sz="1200" b="0" i="0" smtClean="0">
                              <a:solidFill>
                                <a:srgbClr val="212121"/>
                              </a:solidFill>
                              <a:effectLst/>
                              <a:latin typeface="Cambria Math" panose="02040503050406030204" pitchFamily="18" charset="0"/>
                            </a:rPr>
                            <m:t>X</m:t>
                          </m:r>
                        </m:e>
                        <m:sub>
                          <m:r>
                            <a:rPr lang="en-IN" sz="1200" b="0" i="0" smtClean="0">
                              <a:solidFill>
                                <a:srgbClr val="212121"/>
                              </a:solidFill>
                              <a:effectLst/>
                              <a:latin typeface="Cambria Math" panose="02040503050406030204" pitchFamily="18" charset="0"/>
                            </a:rPr>
                            <m:t>1</m:t>
                          </m:r>
                        </m:sub>
                      </m:sSub>
                      <m:r>
                        <a:rPr lang="en-IN" sz="1200" b="0" i="0" smtClean="0">
                          <a:solidFill>
                            <a:srgbClr val="212121"/>
                          </a:solidFill>
                          <a:effectLst/>
                          <a:latin typeface="Cambria Math" panose="02040503050406030204" pitchFamily="18" charset="0"/>
                        </a:rPr>
                        <m:t>+0.172 ∗</m:t>
                      </m:r>
                      <m:sSub>
                        <m:sSubPr>
                          <m:ctrlPr>
                            <a:rPr lang="en-IN" sz="1200" b="0" i="1" smtClean="0">
                              <a:solidFill>
                                <a:srgbClr val="212121"/>
                              </a:solidFill>
                              <a:effectLst/>
                              <a:latin typeface="Cambria Math" panose="02040503050406030204" pitchFamily="18" charset="0"/>
                            </a:rPr>
                          </m:ctrlPr>
                        </m:sSubPr>
                        <m:e>
                          <m:r>
                            <m:rPr>
                              <m:sty m:val="p"/>
                            </m:rPr>
                            <a:rPr lang="en-IN" sz="1200" b="0" i="0" smtClean="0">
                              <a:solidFill>
                                <a:srgbClr val="212121"/>
                              </a:solidFill>
                              <a:effectLst/>
                              <a:latin typeface="Cambria Math" panose="02040503050406030204" pitchFamily="18" charset="0"/>
                            </a:rPr>
                            <m:t>X</m:t>
                          </m:r>
                        </m:e>
                        <m:sub>
                          <m:r>
                            <a:rPr lang="en-IN" sz="1200" b="0" i="0" smtClean="0">
                              <a:solidFill>
                                <a:srgbClr val="212121"/>
                              </a:solidFill>
                              <a:effectLst/>
                              <a:latin typeface="Cambria Math" panose="02040503050406030204" pitchFamily="18" charset="0"/>
                            </a:rPr>
                            <m:t>2</m:t>
                          </m:r>
                        </m:sub>
                      </m:sSub>
                      <m:r>
                        <a:rPr lang="en-IN" sz="1200" b="0" i="0" smtClean="0">
                          <a:solidFill>
                            <a:srgbClr val="212121"/>
                          </a:solidFill>
                          <a:effectLst/>
                          <a:latin typeface="Cambria Math" panose="02040503050406030204" pitchFamily="18" charset="0"/>
                        </a:rPr>
                        <m:t>+0.032 ∗</m:t>
                      </m:r>
                      <m:sSub>
                        <m:sSubPr>
                          <m:ctrlPr>
                            <a:rPr lang="en-IN" sz="1200" b="0" i="1" smtClean="0">
                              <a:solidFill>
                                <a:srgbClr val="212121"/>
                              </a:solidFill>
                              <a:effectLst/>
                              <a:latin typeface="Cambria Math" panose="02040503050406030204" pitchFamily="18" charset="0"/>
                            </a:rPr>
                          </m:ctrlPr>
                        </m:sSubPr>
                        <m:e>
                          <m:r>
                            <m:rPr>
                              <m:sty m:val="p"/>
                            </m:rPr>
                            <a:rPr lang="en-IN" sz="1200" b="0" i="0" smtClean="0">
                              <a:solidFill>
                                <a:srgbClr val="212121"/>
                              </a:solidFill>
                              <a:effectLst/>
                              <a:latin typeface="Cambria Math" panose="02040503050406030204" pitchFamily="18" charset="0"/>
                            </a:rPr>
                            <m:t>X</m:t>
                          </m:r>
                        </m:e>
                        <m:sub>
                          <m:r>
                            <a:rPr lang="en-IN" sz="1200" b="0" i="0" smtClean="0">
                              <a:solidFill>
                                <a:srgbClr val="212121"/>
                              </a:solidFill>
                              <a:effectLst/>
                              <a:latin typeface="Cambria Math" panose="02040503050406030204" pitchFamily="18" charset="0"/>
                            </a:rPr>
                            <m:t>3</m:t>
                          </m:r>
                        </m:sub>
                      </m:sSub>
                      <m:r>
                        <a:rPr lang="en-IN" sz="1200" b="0" i="0" smtClean="0">
                          <a:solidFill>
                            <a:srgbClr val="212121"/>
                          </a:solidFill>
                          <a:effectLst/>
                          <a:latin typeface="Cambria Math" panose="02040503050406030204" pitchFamily="18" charset="0"/>
                        </a:rPr>
                        <m:t>+0.328 ∗</m:t>
                      </m:r>
                      <m:sSub>
                        <m:sSubPr>
                          <m:ctrlPr>
                            <a:rPr lang="en-IN" sz="1200" b="0" i="1" smtClean="0">
                              <a:solidFill>
                                <a:srgbClr val="212121"/>
                              </a:solidFill>
                              <a:effectLst/>
                              <a:latin typeface="Cambria Math" panose="02040503050406030204" pitchFamily="18" charset="0"/>
                            </a:rPr>
                          </m:ctrlPr>
                        </m:sSubPr>
                        <m:e>
                          <m:r>
                            <m:rPr>
                              <m:sty m:val="p"/>
                            </m:rPr>
                            <a:rPr lang="en-IN" sz="1200" b="0" i="0" smtClean="0">
                              <a:solidFill>
                                <a:srgbClr val="212121"/>
                              </a:solidFill>
                              <a:effectLst/>
                              <a:latin typeface="Cambria Math" panose="02040503050406030204" pitchFamily="18" charset="0"/>
                            </a:rPr>
                            <m:t>X</m:t>
                          </m:r>
                        </m:e>
                        <m:sub>
                          <m:r>
                            <a:rPr lang="en-IN" sz="1200" b="0" i="0" smtClean="0">
                              <a:solidFill>
                                <a:srgbClr val="212121"/>
                              </a:solidFill>
                              <a:effectLst/>
                              <a:latin typeface="Cambria Math" panose="02040503050406030204" pitchFamily="18" charset="0"/>
                            </a:rPr>
                            <m:t>4</m:t>
                          </m:r>
                        </m:sub>
                      </m:sSub>
                      <m:r>
                        <a:rPr lang="en-IN" sz="1200" b="0" i="0" smtClean="0">
                          <a:solidFill>
                            <a:srgbClr val="212121"/>
                          </a:solidFill>
                          <a:effectLst/>
                          <a:latin typeface="Cambria Math" panose="02040503050406030204" pitchFamily="18" charset="0"/>
                        </a:rPr>
                        <m:t>+0.081 ∗</m:t>
                      </m:r>
                      <m:sSub>
                        <m:sSubPr>
                          <m:ctrlPr>
                            <a:rPr lang="en-IN" sz="1200" b="0" i="1" smtClean="0">
                              <a:solidFill>
                                <a:srgbClr val="212121"/>
                              </a:solidFill>
                              <a:effectLst/>
                              <a:latin typeface="Cambria Math" panose="02040503050406030204" pitchFamily="18" charset="0"/>
                            </a:rPr>
                          </m:ctrlPr>
                        </m:sSubPr>
                        <m:e>
                          <m:r>
                            <m:rPr>
                              <m:sty m:val="p"/>
                            </m:rPr>
                            <a:rPr lang="en-IN" sz="1200" b="0" i="0" smtClean="0">
                              <a:solidFill>
                                <a:srgbClr val="212121"/>
                              </a:solidFill>
                              <a:effectLst/>
                              <a:latin typeface="Cambria Math" panose="02040503050406030204" pitchFamily="18" charset="0"/>
                            </a:rPr>
                            <m:t>X</m:t>
                          </m:r>
                        </m:e>
                        <m:sub>
                          <m:r>
                            <a:rPr lang="en-IN" sz="1200" b="0" i="0" smtClean="0">
                              <a:solidFill>
                                <a:srgbClr val="212121"/>
                              </a:solidFill>
                              <a:effectLst/>
                              <a:latin typeface="Cambria Math" panose="02040503050406030204" pitchFamily="18" charset="0"/>
                            </a:rPr>
                            <m:t>5</m:t>
                          </m:r>
                        </m:sub>
                      </m:sSub>
                      <m:r>
                        <a:rPr lang="en-IN" sz="1200" b="0" i="0" smtClean="0">
                          <a:solidFill>
                            <a:srgbClr val="212121"/>
                          </a:solidFill>
                          <a:effectLst/>
                          <a:latin typeface="Cambria Math" panose="02040503050406030204" pitchFamily="18" charset="0"/>
                        </a:rPr>
                        <m:t>+0.171 ∗</m:t>
                      </m:r>
                      <m:sSub>
                        <m:sSubPr>
                          <m:ctrlPr>
                            <a:rPr lang="en-IN" sz="1200" b="0" i="1" smtClean="0">
                              <a:solidFill>
                                <a:srgbClr val="212121"/>
                              </a:solidFill>
                              <a:effectLst/>
                              <a:latin typeface="Cambria Math" panose="02040503050406030204" pitchFamily="18" charset="0"/>
                            </a:rPr>
                          </m:ctrlPr>
                        </m:sSubPr>
                        <m:e>
                          <m:r>
                            <m:rPr>
                              <m:sty m:val="p"/>
                            </m:rPr>
                            <a:rPr lang="en-IN" sz="1200" b="0" i="0" smtClean="0">
                              <a:solidFill>
                                <a:srgbClr val="212121"/>
                              </a:solidFill>
                              <a:effectLst/>
                              <a:latin typeface="Cambria Math" panose="02040503050406030204" pitchFamily="18" charset="0"/>
                            </a:rPr>
                            <m:t>X</m:t>
                          </m:r>
                        </m:e>
                        <m:sub>
                          <m:r>
                            <a:rPr lang="en-IN" sz="1200" b="0" i="0" smtClean="0">
                              <a:solidFill>
                                <a:srgbClr val="212121"/>
                              </a:solidFill>
                              <a:effectLst/>
                              <a:latin typeface="Cambria Math" panose="02040503050406030204" pitchFamily="18" charset="0"/>
                            </a:rPr>
                            <m:t>6</m:t>
                          </m:r>
                        </m:sub>
                      </m:sSub>
                      <m:r>
                        <a:rPr lang="en-IN" sz="1200" b="0" i="0" smtClean="0">
                          <a:solidFill>
                            <a:srgbClr val="212121"/>
                          </a:solidFill>
                          <a:effectLst/>
                          <a:latin typeface="Cambria Math" panose="02040503050406030204" pitchFamily="18" charset="0"/>
                        </a:rPr>
                        <m:t>+0.006 ∗</m:t>
                      </m:r>
                      <m:sSub>
                        <m:sSubPr>
                          <m:ctrlPr>
                            <a:rPr lang="en-IN" sz="1200" b="0" i="1" smtClean="0">
                              <a:solidFill>
                                <a:srgbClr val="212121"/>
                              </a:solidFill>
                              <a:effectLst/>
                              <a:latin typeface="Cambria Math" panose="02040503050406030204" pitchFamily="18" charset="0"/>
                            </a:rPr>
                          </m:ctrlPr>
                        </m:sSubPr>
                        <m:e>
                          <m:r>
                            <m:rPr>
                              <m:sty m:val="p"/>
                            </m:rPr>
                            <a:rPr lang="en-IN" sz="1200" b="0" i="0" smtClean="0">
                              <a:solidFill>
                                <a:srgbClr val="212121"/>
                              </a:solidFill>
                              <a:effectLst/>
                              <a:latin typeface="Cambria Math" panose="02040503050406030204" pitchFamily="18" charset="0"/>
                            </a:rPr>
                            <m:t>X</m:t>
                          </m:r>
                        </m:e>
                        <m:sub>
                          <m:r>
                            <a:rPr lang="en-IN" sz="1200" b="0" i="0" smtClean="0">
                              <a:solidFill>
                                <a:srgbClr val="212121"/>
                              </a:solidFill>
                              <a:effectLst/>
                              <a:latin typeface="Cambria Math" panose="02040503050406030204" pitchFamily="18" charset="0"/>
                            </a:rPr>
                            <m:t>6</m:t>
                          </m:r>
                        </m:sub>
                      </m:sSub>
                    </m:oMath>
                  </m:oMathPara>
                </a14:m>
                <a:endParaRPr lang="en-US" sz="1200" b="0" i="0" dirty="0">
                  <a:solidFill>
                    <a:srgbClr val="212121"/>
                  </a:solidFill>
                  <a:effectLst/>
                  <a:latin typeface="Grandview" panose="020B0502040204020203" pitchFamily="34" charset="0"/>
                </a:endParaRPr>
              </a:p>
              <a:p>
                <a:pPr marL="285750" indent="-285750"/>
                <a:endParaRPr lang="en-US" sz="1300" dirty="0">
                  <a:solidFill>
                    <a:srgbClr val="212121"/>
                  </a:solidFill>
                  <a:latin typeface="Grandview" panose="020B0502040204020203" pitchFamily="34" charset="0"/>
                </a:endParaRPr>
              </a:p>
              <a:p>
                <a:pPr marL="285750" indent="-285750"/>
                <a:r>
                  <a:rPr lang="en-US" sz="1300" b="0" i="0" dirty="0">
                    <a:solidFill>
                      <a:srgbClr val="374151"/>
                    </a:solidFill>
                    <a:effectLst/>
                    <a:latin typeface="Grandview" panose="020B0502040204020203" pitchFamily="34" charset="0"/>
                  </a:rPr>
                  <a:t>This equation can be further used for predicting purposes as well.</a:t>
                </a:r>
              </a:p>
              <a:p>
                <a:pPr marL="285750" indent="-285750"/>
                <a:endParaRPr lang="en-US" sz="1300" dirty="0">
                  <a:solidFill>
                    <a:srgbClr val="374151"/>
                  </a:solidFill>
                  <a:latin typeface="Grandview" panose="020B0502040204020203" pitchFamily="34" charset="0"/>
                </a:endParaRPr>
              </a:p>
              <a:p>
                <a:pPr marL="285750" indent="-285750"/>
                <a:r>
                  <a:rPr lang="en-US" sz="1300" b="0" i="0" dirty="0">
                    <a:solidFill>
                      <a:srgbClr val="374151"/>
                    </a:solidFill>
                    <a:effectLst/>
                    <a:latin typeface="Grandview" panose="020B0502040204020203" pitchFamily="34" charset="0"/>
                  </a:rPr>
                  <a:t>These results underscore the importance of addressing these factors to reduce stress and enhance the well-being of students.</a:t>
                </a:r>
                <a:endParaRPr lang="en-US" sz="1300" b="0" i="0" dirty="0">
                  <a:solidFill>
                    <a:srgbClr val="212121"/>
                  </a:solidFill>
                  <a:effectLst/>
                  <a:latin typeface="Grandview" panose="020B0502040204020203" pitchFamily="34" charset="0"/>
                </a:endParaRPr>
              </a:p>
              <a:p>
                <a:pPr marL="285750" indent="-285750"/>
                <a:endParaRPr lang="en-US" sz="1300" dirty="0">
                  <a:solidFill>
                    <a:srgbClr val="212121"/>
                  </a:solidFill>
                  <a:latin typeface="Grandview" panose="020B0502040204020203" pitchFamily="34" charset="0"/>
                </a:endParaRPr>
              </a:p>
              <a:p>
                <a:pPr marL="285750" indent="-285750"/>
                <a:r>
                  <a:rPr lang="en-US" sz="1300" dirty="0">
                    <a:solidFill>
                      <a:srgbClr val="212121"/>
                    </a:solidFill>
                    <a:latin typeface="Grandview" panose="020B0502040204020203" pitchFamily="34" charset="0"/>
                  </a:rPr>
                  <a:t>The findings obtained in this study can be then used by academic/ educational organizations to develop support systems for the students, which might greatly help in maintaining the mental health of students.</a:t>
                </a:r>
              </a:p>
              <a:p>
                <a:pPr marL="285750" indent="-285750"/>
                <a:endParaRPr lang="en-US" sz="1400" b="1" dirty="0">
                  <a:solidFill>
                    <a:srgbClr val="212121"/>
                  </a:solidFill>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p:txBody>
          </p:sp>
        </mc:Choice>
        <mc:Fallback xmlns="">
          <p:sp>
            <p:nvSpPr>
              <p:cNvPr id="33" name="Google Shape;1713;p43">
                <a:extLst>
                  <a:ext uri="{FF2B5EF4-FFF2-40B4-BE49-F238E27FC236}">
                    <a16:creationId xmlns:a16="http://schemas.microsoft.com/office/drawing/2014/main" id="{CA1BBA14-02D8-9416-F941-70EC9D73145D}"/>
                  </a:ext>
                </a:extLst>
              </p:cNvPr>
              <p:cNvSpPr txBox="1">
                <a:spLocks noRot="1" noChangeAspect="1" noMove="1" noResize="1" noEditPoints="1" noAdjustHandles="1" noChangeArrowheads="1" noChangeShapeType="1" noTextEdit="1"/>
              </p:cNvSpPr>
              <p:nvPr/>
            </p:nvSpPr>
            <p:spPr>
              <a:xfrm>
                <a:off x="603806" y="731348"/>
                <a:ext cx="7936386" cy="3952159"/>
              </a:xfrm>
              <a:prstGeom prst="rect">
                <a:avLst/>
              </a:prstGeom>
              <a:blipFill>
                <a:blip r:embed="rId3"/>
                <a:stretch>
                  <a:fillRect l="-77" r="-691"/>
                </a:stretch>
              </a:blipFill>
              <a:ln>
                <a:noFill/>
              </a:ln>
            </p:spPr>
            <p:txBody>
              <a:bodyPr/>
              <a:lstStyle/>
              <a:p>
                <a:r>
                  <a:rPr lang="en-IN">
                    <a:noFill/>
                  </a:rPr>
                  <a:t> </a:t>
                </a:r>
              </a:p>
            </p:txBody>
          </p:sp>
        </mc:Fallback>
      </mc:AlternateContent>
      <p:sp>
        <p:nvSpPr>
          <p:cNvPr id="3" name="TextBox 2">
            <a:extLst>
              <a:ext uri="{FF2B5EF4-FFF2-40B4-BE49-F238E27FC236}">
                <a16:creationId xmlns:a16="http://schemas.microsoft.com/office/drawing/2014/main" id="{A6317B2B-896F-5A7F-D8CE-8D3362A5BBDD}"/>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26</a:t>
            </a:r>
            <a:endParaRPr lang="en-IN" dirty="0">
              <a:solidFill>
                <a:sysClr val="windowText" lastClr="000000"/>
              </a:solidFill>
            </a:endParaRPr>
          </a:p>
        </p:txBody>
      </p:sp>
    </p:spTree>
    <p:extLst>
      <p:ext uri="{BB962C8B-B14F-4D97-AF65-F5344CB8AC3E}">
        <p14:creationId xmlns:p14="http://schemas.microsoft.com/office/powerpoint/2010/main" val="26983965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70"/>
        <p:cNvGrpSpPr/>
        <p:nvPr/>
      </p:nvGrpSpPr>
      <p:grpSpPr>
        <a:xfrm>
          <a:off x="0" y="0"/>
          <a:ext cx="0" cy="0"/>
          <a:chOff x="0" y="0"/>
          <a:chExt cx="0" cy="0"/>
        </a:xfrm>
      </p:grpSpPr>
      <p:sp>
        <p:nvSpPr>
          <p:cNvPr id="1971" name="Google Shape;1971;p48"/>
          <p:cNvSpPr txBox="1">
            <a:spLocks noGrp="1"/>
          </p:cNvSpPr>
          <p:nvPr>
            <p:ph type="title"/>
          </p:nvPr>
        </p:nvSpPr>
        <p:spPr>
          <a:xfrm>
            <a:off x="1483513" y="2216567"/>
            <a:ext cx="6302008" cy="482171"/>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br>
              <a:rPr lang="en-US" sz="3600" b="1" i="0" dirty="0">
                <a:effectLst/>
                <a:latin typeface="Grandview" panose="020B0502040204020203" pitchFamily="34" charset="0"/>
              </a:rPr>
            </a:br>
            <a:r>
              <a:rPr lang="en-US" sz="2800" b="1" i="0" dirty="0">
                <a:effectLst/>
                <a:latin typeface="Open Sans ExtraBold" panose="020B0906030804020204" pitchFamily="34" charset="0"/>
                <a:ea typeface="Open Sans ExtraBold" panose="020B0906030804020204" pitchFamily="34" charset="0"/>
                <a:cs typeface="Open Sans ExtraBold" panose="020B0906030804020204" pitchFamily="34" charset="0"/>
              </a:rPr>
              <a:t>Investigating Coping Mechanisms and Stress Levels</a:t>
            </a:r>
            <a:endParaRPr sz="2800"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grpSp>
        <p:nvGrpSpPr>
          <p:cNvPr id="1972" name="Google Shape;1972;p48"/>
          <p:cNvGrpSpPr/>
          <p:nvPr/>
        </p:nvGrpSpPr>
        <p:grpSpPr>
          <a:xfrm>
            <a:off x="517907" y="353944"/>
            <a:ext cx="804847" cy="882052"/>
            <a:chOff x="6072409" y="4521978"/>
            <a:chExt cx="436705" cy="478622"/>
          </a:xfrm>
        </p:grpSpPr>
        <p:sp>
          <p:nvSpPr>
            <p:cNvPr id="1973" name="Google Shape;1973;p48"/>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8"/>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8"/>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8"/>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8"/>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8"/>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8"/>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8"/>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8"/>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1728;p44">
            <a:extLst>
              <a:ext uri="{FF2B5EF4-FFF2-40B4-BE49-F238E27FC236}">
                <a16:creationId xmlns:a16="http://schemas.microsoft.com/office/drawing/2014/main" id="{235E8577-AE08-2D19-9185-FF24576ED541}"/>
              </a:ext>
            </a:extLst>
          </p:cNvPr>
          <p:cNvGrpSpPr/>
          <p:nvPr/>
        </p:nvGrpSpPr>
        <p:grpSpPr>
          <a:xfrm>
            <a:off x="8202012" y="4512795"/>
            <a:ext cx="425875" cy="466752"/>
            <a:chOff x="6072409" y="4521978"/>
            <a:chExt cx="436705" cy="478622"/>
          </a:xfrm>
        </p:grpSpPr>
        <p:sp>
          <p:nvSpPr>
            <p:cNvPr id="3" name="Google Shape;1729;p44">
              <a:extLst>
                <a:ext uri="{FF2B5EF4-FFF2-40B4-BE49-F238E27FC236}">
                  <a16:creationId xmlns:a16="http://schemas.microsoft.com/office/drawing/2014/main" id="{4B74561C-5334-B9E9-C1F9-EAB2F16680BB}"/>
                </a:ext>
              </a:extLst>
            </p:cNvPr>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730;p44">
              <a:extLst>
                <a:ext uri="{FF2B5EF4-FFF2-40B4-BE49-F238E27FC236}">
                  <a16:creationId xmlns:a16="http://schemas.microsoft.com/office/drawing/2014/main" id="{D860DE35-F0BD-FAF7-BC3A-9E533BE3E56A}"/>
                </a:ext>
              </a:extLst>
            </p:cNvPr>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731;p44">
              <a:extLst>
                <a:ext uri="{FF2B5EF4-FFF2-40B4-BE49-F238E27FC236}">
                  <a16:creationId xmlns:a16="http://schemas.microsoft.com/office/drawing/2014/main" id="{4F0258E0-57B4-6589-4C50-0BBC3D078BE8}"/>
                </a:ext>
              </a:extLst>
            </p:cNvPr>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732;p44">
              <a:extLst>
                <a:ext uri="{FF2B5EF4-FFF2-40B4-BE49-F238E27FC236}">
                  <a16:creationId xmlns:a16="http://schemas.microsoft.com/office/drawing/2014/main" id="{ADBD686F-B7AF-9A6A-3677-B5AA2E1B8BA6}"/>
                </a:ext>
              </a:extLst>
            </p:cNvPr>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 name="Google Shape;1733;p44">
              <a:extLst>
                <a:ext uri="{FF2B5EF4-FFF2-40B4-BE49-F238E27FC236}">
                  <a16:creationId xmlns:a16="http://schemas.microsoft.com/office/drawing/2014/main" id="{7D562B21-8999-5619-69BB-5DB1E1D25269}"/>
                </a:ext>
              </a:extLst>
            </p:cNvPr>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34;p44">
              <a:extLst>
                <a:ext uri="{FF2B5EF4-FFF2-40B4-BE49-F238E27FC236}">
                  <a16:creationId xmlns:a16="http://schemas.microsoft.com/office/drawing/2014/main" id="{C5B84D53-4513-5E02-B7E8-BD4CFFC1CAF1}"/>
                </a:ext>
              </a:extLst>
            </p:cNvPr>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735;p44">
              <a:extLst>
                <a:ext uri="{FF2B5EF4-FFF2-40B4-BE49-F238E27FC236}">
                  <a16:creationId xmlns:a16="http://schemas.microsoft.com/office/drawing/2014/main" id="{A4E5B9E8-8E1F-FA55-4B4C-7FCF9BB8FAA4}"/>
                </a:ext>
              </a:extLst>
            </p:cNvPr>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36;p44">
              <a:extLst>
                <a:ext uri="{FF2B5EF4-FFF2-40B4-BE49-F238E27FC236}">
                  <a16:creationId xmlns:a16="http://schemas.microsoft.com/office/drawing/2014/main" id="{AFF780B0-75A4-AD50-7B41-77B788602AFC}"/>
                </a:ext>
              </a:extLst>
            </p:cNvPr>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37;p44">
              <a:extLst>
                <a:ext uri="{FF2B5EF4-FFF2-40B4-BE49-F238E27FC236}">
                  <a16:creationId xmlns:a16="http://schemas.microsoft.com/office/drawing/2014/main" id="{99A4AE20-97EE-BFD8-C9B5-2716E932083A}"/>
                </a:ext>
              </a:extLst>
            </p:cNvPr>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TextBox 11">
            <a:extLst>
              <a:ext uri="{FF2B5EF4-FFF2-40B4-BE49-F238E27FC236}">
                <a16:creationId xmlns:a16="http://schemas.microsoft.com/office/drawing/2014/main" id="{FDCDB88D-00EC-BE61-AA08-2C7A65BFBDF4}"/>
              </a:ext>
            </a:extLst>
          </p:cNvPr>
          <p:cNvSpPr txBox="1"/>
          <p:nvPr/>
        </p:nvSpPr>
        <p:spPr>
          <a:xfrm>
            <a:off x="3874533" y="1574800"/>
            <a:ext cx="1519968" cy="523220"/>
          </a:xfrm>
          <a:prstGeom prst="rect">
            <a:avLst/>
          </a:prstGeom>
          <a:noFill/>
        </p:spPr>
        <p:txBody>
          <a:bodyPr wrap="none" rtlCol="0">
            <a:spAutoFit/>
          </a:bodyPr>
          <a:lstStyle/>
          <a:p>
            <a:r>
              <a:rPr lang="en-IN" sz="2800" u="sng" dirty="0">
                <a:solidFill>
                  <a:schemeClr val="bg1"/>
                </a:solidFill>
                <a:latin typeface="Open Sans ExtraBold" panose="020B0906030804020204" pitchFamily="34" charset="0"/>
                <a:ea typeface="Open Sans ExtraBold" panose="020B0906030804020204" pitchFamily="34" charset="0"/>
                <a:cs typeface="Open Sans ExtraBold" panose="020B0906030804020204" pitchFamily="34" charset="0"/>
              </a:rPr>
              <a:t>Part - II</a:t>
            </a:r>
          </a:p>
        </p:txBody>
      </p:sp>
      <p:sp>
        <p:nvSpPr>
          <p:cNvPr id="13" name="TextBox 12">
            <a:extLst>
              <a:ext uri="{FF2B5EF4-FFF2-40B4-BE49-F238E27FC236}">
                <a16:creationId xmlns:a16="http://schemas.microsoft.com/office/drawing/2014/main" id="{D4E189F8-2A1B-6165-278D-3C682E018BD4}"/>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27</a:t>
            </a:r>
            <a:endParaRPr lang="en-IN" dirty="0">
              <a:solidFill>
                <a:sysClr val="windowText" lastClr="000000"/>
              </a:solidFill>
            </a:endParaRPr>
          </a:p>
        </p:txBody>
      </p:sp>
    </p:spTree>
    <p:extLst>
      <p:ext uri="{BB962C8B-B14F-4D97-AF65-F5344CB8AC3E}">
        <p14:creationId xmlns:p14="http://schemas.microsoft.com/office/powerpoint/2010/main" val="3359219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F1F1B44-984E-F18B-6286-EAAAB881DE89}"/>
              </a:ext>
            </a:extLst>
          </p:cNvPr>
          <p:cNvSpPr/>
          <p:nvPr/>
        </p:nvSpPr>
        <p:spPr>
          <a:xfrm>
            <a:off x="4572000" y="594178"/>
            <a:ext cx="4456359" cy="39551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3">
                  <a:lumMod val="60000"/>
                  <a:lumOff val="40000"/>
                </a:schemeClr>
              </a:solidFill>
            </a:endParaRPr>
          </a:p>
        </p:txBody>
      </p:sp>
      <p:grpSp>
        <p:nvGrpSpPr>
          <p:cNvPr id="1728" name="Google Shape;1728;p44"/>
          <p:cNvGrpSpPr/>
          <p:nvPr/>
        </p:nvGrpSpPr>
        <p:grpSpPr>
          <a:xfrm>
            <a:off x="315058" y="441558"/>
            <a:ext cx="425875" cy="466752"/>
            <a:chOff x="6072409" y="4521978"/>
            <a:chExt cx="436705" cy="478622"/>
          </a:xfrm>
        </p:grpSpPr>
        <p:sp>
          <p:nvSpPr>
            <p:cNvPr id="1729" name="Google Shape;1729;p44"/>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4"/>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4"/>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4"/>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3" name="Google Shape;1733;p44"/>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4"/>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4"/>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4"/>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4"/>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1713;p43">
            <a:extLst>
              <a:ext uri="{FF2B5EF4-FFF2-40B4-BE49-F238E27FC236}">
                <a16:creationId xmlns:a16="http://schemas.microsoft.com/office/drawing/2014/main" id="{3DCF3F4C-B16F-803F-CD1F-75A508D7B9D2}"/>
              </a:ext>
            </a:extLst>
          </p:cNvPr>
          <p:cNvSpPr txBox="1">
            <a:spLocks/>
          </p:cNvSpPr>
          <p:nvPr/>
        </p:nvSpPr>
        <p:spPr>
          <a:xfrm>
            <a:off x="4634041" y="799880"/>
            <a:ext cx="4274597" cy="360241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eaLnBrk="1" hangingPunct="1">
              <a:lnSpc>
                <a:spcPct val="100000"/>
              </a:lnSpc>
              <a:spcBef>
                <a:spcPts val="0"/>
              </a:spcBef>
              <a:spcAft>
                <a:spcPts val="0"/>
              </a:spcAft>
              <a:buClr>
                <a:schemeClr val="accent1"/>
              </a:buClr>
              <a:buSzPts val="1400"/>
              <a:buFont typeface="Karla"/>
              <a:buNone/>
              <a:defRPr sz="2000" b="1" i="0" u="none" strike="noStrike" cap="none">
                <a:solidFill>
                  <a:schemeClr val="dk1"/>
                </a:solidFill>
                <a:latin typeface="Open Sans"/>
                <a:ea typeface="Open Sans"/>
                <a:cs typeface="Open Sans"/>
                <a:sym typeface="Open Sans"/>
              </a:defRPr>
            </a:lvl1pPr>
            <a:lvl2pPr marL="914400" marR="0" lvl="1" indent="-317500" algn="ctr" rtl="0" eaLnBrk="1" hangingPunct="1">
              <a:lnSpc>
                <a:spcPct val="100000"/>
              </a:lnSpc>
              <a:spcBef>
                <a:spcPts val="0"/>
              </a:spcBef>
              <a:spcAft>
                <a:spcPts val="0"/>
              </a:spcAft>
              <a:buClr>
                <a:schemeClr val="accent1"/>
              </a:buClr>
              <a:buSzPts val="1400"/>
              <a:buFont typeface="Karla"/>
              <a:buNone/>
              <a:defRPr sz="2000" b="1" i="0" u="none" strike="noStrike" cap="none">
                <a:solidFill>
                  <a:schemeClr val="dk1"/>
                </a:solidFill>
                <a:latin typeface="Open Sans"/>
                <a:ea typeface="Open Sans"/>
                <a:cs typeface="Open Sans"/>
                <a:sym typeface="Open Sans"/>
              </a:defRPr>
            </a:lvl2pPr>
            <a:lvl3pPr marL="1371600" marR="0" lvl="2"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3pPr>
            <a:lvl4pPr marL="1828800" marR="0" lvl="3"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4pPr>
            <a:lvl5pPr marL="2286000" marR="0" lvl="4"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5pPr>
            <a:lvl6pPr marL="2743200" marR="0" lvl="5"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6pPr>
            <a:lvl7pPr marL="3200400" marR="0" lvl="6"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7pPr>
            <a:lvl8pPr marL="3657600" marR="0" lvl="7"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8pPr>
            <a:lvl9pPr marL="4114800" marR="0" lvl="8"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9pPr>
          </a:lstStyle>
          <a:p>
            <a:pPr marL="285750" indent="-285750" algn="just">
              <a:buClr>
                <a:schemeClr val="accent3"/>
              </a:buClr>
              <a:buFont typeface="Arial" panose="020B0604020202020204" pitchFamily="34" charset="0"/>
              <a:buChar char="•"/>
            </a:pPr>
            <a:r>
              <a:rPr lang="en-US" sz="1300" b="0" i="0" dirty="0">
                <a:solidFill>
                  <a:schemeClr val="bg1"/>
                </a:solidFill>
                <a:effectLst/>
                <a:latin typeface="Grandview" panose="020B0502040204020203" pitchFamily="34" charset="0"/>
              </a:rPr>
              <a:t>In this second part of our research, we turn our focus to the </a:t>
            </a:r>
            <a:r>
              <a:rPr lang="en-US" sz="1300" b="0" i="0" dirty="0">
                <a:solidFill>
                  <a:schemeClr val="accent3"/>
                </a:solidFill>
                <a:effectLst/>
                <a:latin typeface="Grandview" panose="020B0502040204020203" pitchFamily="34" charset="0"/>
              </a:rPr>
              <a:t>coping mechanisms employed by students</a:t>
            </a:r>
            <a:r>
              <a:rPr lang="en-US" sz="1300" b="0" i="0" dirty="0">
                <a:solidFill>
                  <a:schemeClr val="bg1"/>
                </a:solidFill>
                <a:effectLst/>
                <a:latin typeface="Grandview" panose="020B0502040204020203" pitchFamily="34" charset="0"/>
              </a:rPr>
              <a:t> in response to the stresses of academic life.</a:t>
            </a:r>
          </a:p>
          <a:p>
            <a:pPr marL="285750" indent="-285750" algn="just">
              <a:buFont typeface="Arial" panose="020B0604020202020204" pitchFamily="34" charset="0"/>
              <a:buChar char="•"/>
            </a:pPr>
            <a:endParaRPr lang="en-US" sz="1300" b="0" dirty="0">
              <a:solidFill>
                <a:schemeClr val="bg1"/>
              </a:solidFill>
              <a:latin typeface="Grandview" panose="020B0502040204020203" pitchFamily="34" charset="0"/>
              <a:cs typeface="Helvetica" panose="020B0604020202020204" pitchFamily="34" charset="0"/>
            </a:endParaRPr>
          </a:p>
          <a:p>
            <a:pPr marL="285750" indent="-285750" algn="just">
              <a:buClr>
                <a:schemeClr val="accent3"/>
              </a:buClr>
              <a:buFont typeface="Arial" panose="020B0604020202020204" pitchFamily="34" charset="0"/>
              <a:buChar char="•"/>
            </a:pPr>
            <a:r>
              <a:rPr lang="en-US" sz="1300" b="0" i="0" dirty="0">
                <a:solidFill>
                  <a:schemeClr val="bg1"/>
                </a:solidFill>
                <a:effectLst/>
                <a:latin typeface="Grandview" panose="020B0502040204020203" pitchFamily="34" charset="0"/>
              </a:rPr>
              <a:t>Coping mechanisms represent a diverse set of strategies and behaviors individuals use to </a:t>
            </a:r>
            <a:r>
              <a:rPr lang="en-US" sz="1300" b="0" i="0" dirty="0">
                <a:solidFill>
                  <a:schemeClr val="accent3"/>
                </a:solidFill>
                <a:effectLst/>
                <a:latin typeface="Grandview" panose="020B0502040204020203" pitchFamily="34" charset="0"/>
              </a:rPr>
              <a:t>manage</a:t>
            </a:r>
            <a:r>
              <a:rPr lang="en-US" sz="1300" b="0" i="0" dirty="0">
                <a:solidFill>
                  <a:schemeClr val="bg1"/>
                </a:solidFill>
                <a:effectLst/>
                <a:latin typeface="Grandview" panose="020B0502040204020203" pitchFamily="34" charset="0"/>
              </a:rPr>
              <a:t>, </a:t>
            </a:r>
            <a:r>
              <a:rPr lang="en-US" sz="1300" b="0" i="0" dirty="0">
                <a:solidFill>
                  <a:schemeClr val="accent3"/>
                </a:solidFill>
                <a:effectLst/>
                <a:latin typeface="Grandview" panose="020B0502040204020203" pitchFamily="34" charset="0"/>
              </a:rPr>
              <a:t>alleviate</a:t>
            </a:r>
            <a:r>
              <a:rPr lang="en-US" sz="1300" b="0" i="0" dirty="0">
                <a:solidFill>
                  <a:schemeClr val="bg1"/>
                </a:solidFill>
                <a:effectLst/>
                <a:latin typeface="Grandview" panose="020B0502040204020203" pitchFamily="34" charset="0"/>
              </a:rPr>
              <a:t>, or </a:t>
            </a:r>
            <a:r>
              <a:rPr lang="en-US" sz="1300" b="0" i="0" dirty="0">
                <a:solidFill>
                  <a:schemeClr val="accent3"/>
                </a:solidFill>
                <a:effectLst/>
                <a:latin typeface="Grandview" panose="020B0502040204020203" pitchFamily="34" charset="0"/>
              </a:rPr>
              <a:t>adapt</a:t>
            </a:r>
            <a:r>
              <a:rPr lang="en-US" sz="1300" b="0" i="0" dirty="0">
                <a:solidFill>
                  <a:schemeClr val="bg1"/>
                </a:solidFill>
                <a:effectLst/>
                <a:latin typeface="Grandview" panose="020B0502040204020203" pitchFamily="34" charset="0"/>
              </a:rPr>
              <a:t> to stressful situations. </a:t>
            </a:r>
          </a:p>
          <a:p>
            <a:pPr marL="285750" indent="-285750" algn="just">
              <a:buClr>
                <a:schemeClr val="accent3"/>
              </a:buClr>
              <a:buFont typeface="Arial" panose="020B0604020202020204" pitchFamily="34" charset="0"/>
              <a:buChar char="•"/>
            </a:pPr>
            <a:endParaRPr lang="en-US" sz="1300" b="0" dirty="0">
              <a:solidFill>
                <a:schemeClr val="bg1"/>
              </a:solidFill>
              <a:latin typeface="Grandview" panose="020B0502040204020203" pitchFamily="34" charset="0"/>
            </a:endParaRPr>
          </a:p>
          <a:p>
            <a:pPr marL="285750" indent="-285750" algn="just">
              <a:buClr>
                <a:schemeClr val="accent3"/>
              </a:buClr>
              <a:buFont typeface="Arial" panose="020B0604020202020204" pitchFamily="34" charset="0"/>
              <a:buChar char="•"/>
            </a:pPr>
            <a:r>
              <a:rPr lang="en-US" sz="1300" b="0" i="0" dirty="0">
                <a:solidFill>
                  <a:schemeClr val="bg1"/>
                </a:solidFill>
                <a:effectLst/>
                <a:latin typeface="Grandview" panose="020B0502040204020203" pitchFamily="34" charset="0"/>
              </a:rPr>
              <a:t>The frequency and effectiveness of these coping strategies play a crucial role in shaping students' overall stress experiences.</a:t>
            </a:r>
            <a:endParaRPr lang="en-US" sz="1300" b="0" dirty="0">
              <a:solidFill>
                <a:schemeClr val="bg1"/>
              </a:solidFill>
              <a:latin typeface="Grandview" panose="020B0502040204020203" pitchFamily="34" charset="0"/>
              <a:cs typeface="Helvetica" panose="020B0604020202020204" pitchFamily="34" charset="0"/>
            </a:endParaRPr>
          </a:p>
          <a:p>
            <a:pPr marL="285750" indent="-285750" algn="just">
              <a:buClr>
                <a:schemeClr val="accent3"/>
              </a:buClr>
              <a:buFont typeface="Arial" panose="020B0604020202020204" pitchFamily="34" charset="0"/>
              <a:buChar char="•"/>
            </a:pPr>
            <a:endParaRPr lang="en-US" sz="1300" b="0" dirty="0">
              <a:solidFill>
                <a:schemeClr val="bg1"/>
              </a:solidFill>
              <a:latin typeface="Grandview" panose="020B0502040204020203" pitchFamily="34" charset="0"/>
              <a:cs typeface="Helvetica" panose="020B0604020202020204" pitchFamily="34" charset="0"/>
            </a:endParaRPr>
          </a:p>
          <a:p>
            <a:pPr marL="285750" indent="-285750" algn="just">
              <a:buClr>
                <a:schemeClr val="accent3"/>
              </a:buClr>
              <a:buFont typeface="Arial" panose="020B0604020202020204" pitchFamily="34" charset="0"/>
              <a:buChar char="•"/>
            </a:pPr>
            <a:r>
              <a:rPr lang="en-US" sz="1300" b="0" dirty="0">
                <a:solidFill>
                  <a:schemeClr val="bg1"/>
                </a:solidFill>
                <a:latin typeface="Grandview" panose="020B0502040204020203" pitchFamily="34" charset="0"/>
                <a:cs typeface="Helvetica" panose="020B0604020202020204" pitchFamily="34" charset="0"/>
              </a:rPr>
              <a:t>To execute this, we will employ a </a:t>
            </a:r>
            <a:r>
              <a:rPr lang="en-US" sz="1300" b="0" dirty="0">
                <a:solidFill>
                  <a:schemeClr val="accent3"/>
                </a:solidFill>
                <a:latin typeface="Grandview" panose="020B0502040204020203" pitchFamily="34" charset="0"/>
                <a:cs typeface="Helvetica" panose="020B0604020202020204" pitchFamily="34" charset="0"/>
              </a:rPr>
              <a:t>simple linear regression model</a:t>
            </a:r>
            <a:r>
              <a:rPr lang="en-US" sz="1300" b="0" dirty="0">
                <a:solidFill>
                  <a:schemeClr val="bg1"/>
                </a:solidFill>
                <a:latin typeface="Grandview" panose="020B0502040204020203" pitchFamily="34" charset="0"/>
                <a:cs typeface="Helvetica" panose="020B0604020202020204" pitchFamily="34" charset="0"/>
              </a:rPr>
              <a:t> to find out if utilizing coping mechanism actually has a </a:t>
            </a:r>
            <a:r>
              <a:rPr lang="en-US" sz="1300" b="0" u="sng" dirty="0">
                <a:solidFill>
                  <a:schemeClr val="bg1"/>
                </a:solidFill>
                <a:latin typeface="Grandview" panose="020B0502040204020203" pitchFamily="34" charset="0"/>
                <a:cs typeface="Helvetica" panose="020B0604020202020204" pitchFamily="34" charset="0"/>
              </a:rPr>
              <a:t>significant impact on the overall stress level </a:t>
            </a:r>
            <a:r>
              <a:rPr lang="en-US" sz="1300" b="0" dirty="0">
                <a:solidFill>
                  <a:schemeClr val="bg1"/>
                </a:solidFill>
                <a:latin typeface="Grandview" panose="020B0502040204020203" pitchFamily="34" charset="0"/>
                <a:cs typeface="Helvetica" panose="020B0604020202020204" pitchFamily="34" charset="0"/>
              </a:rPr>
              <a:t>in students. </a:t>
            </a:r>
          </a:p>
          <a:p>
            <a:pPr marL="285750" indent="-285750" algn="just">
              <a:buClr>
                <a:schemeClr val="accent3"/>
              </a:buClr>
              <a:buFont typeface="Arial" panose="020B0604020202020204" pitchFamily="34" charset="0"/>
              <a:buChar char="•"/>
            </a:pPr>
            <a:endParaRPr lang="en-US" sz="1300" b="0" dirty="0">
              <a:solidFill>
                <a:schemeClr val="bg1"/>
              </a:solidFill>
              <a:latin typeface="Grandview" panose="020B0502040204020203" pitchFamily="34" charset="0"/>
              <a:cs typeface="Helvetica" panose="020B0604020202020204" pitchFamily="34" charset="0"/>
            </a:endParaRPr>
          </a:p>
          <a:p>
            <a:pPr marL="0" indent="0" algn="just"/>
            <a:endParaRPr lang="en-US" sz="1300" b="0" dirty="0">
              <a:solidFill>
                <a:srgbClr val="374151"/>
              </a:solidFill>
              <a:latin typeface="Grandview" panose="020B0502040204020203" pitchFamily="34" charset="0"/>
              <a:cs typeface="Helvetica" panose="020B0604020202020204" pitchFamily="34" charset="0"/>
            </a:endParaRPr>
          </a:p>
        </p:txBody>
      </p:sp>
      <p:cxnSp>
        <p:nvCxnSpPr>
          <p:cNvPr id="5" name="Straight Connector 4">
            <a:extLst>
              <a:ext uri="{FF2B5EF4-FFF2-40B4-BE49-F238E27FC236}">
                <a16:creationId xmlns:a16="http://schemas.microsoft.com/office/drawing/2014/main" id="{3EE10F68-3DD6-869F-F04F-6C141659883C}"/>
              </a:ext>
            </a:extLst>
          </p:cNvPr>
          <p:cNvCxnSpPr/>
          <p:nvPr/>
        </p:nvCxnSpPr>
        <p:spPr>
          <a:xfrm>
            <a:off x="4281714" y="254000"/>
            <a:ext cx="0" cy="4368800"/>
          </a:xfrm>
          <a:prstGeom prst="line">
            <a:avLst/>
          </a:prstGeom>
        </p:spPr>
        <p:style>
          <a:lnRef idx="2">
            <a:schemeClr val="accent1"/>
          </a:lnRef>
          <a:fillRef idx="0">
            <a:schemeClr val="accent1"/>
          </a:fillRef>
          <a:effectRef idx="1">
            <a:schemeClr val="accent1"/>
          </a:effectRef>
          <a:fontRef idx="minor">
            <a:schemeClr val="tx1"/>
          </a:fontRef>
        </p:style>
      </p:cxnSp>
      <p:pic>
        <p:nvPicPr>
          <p:cNvPr id="2" name="Picture 1">
            <a:extLst>
              <a:ext uri="{FF2B5EF4-FFF2-40B4-BE49-F238E27FC236}">
                <a16:creationId xmlns:a16="http://schemas.microsoft.com/office/drawing/2014/main" id="{507583D8-9441-77A0-F6D1-7D500AC50388}"/>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601555" y="748653"/>
            <a:ext cx="3539643" cy="3653642"/>
          </a:xfrm>
          <a:prstGeom prst="rect">
            <a:avLst/>
          </a:prstGeom>
        </p:spPr>
      </p:pic>
      <p:sp>
        <p:nvSpPr>
          <p:cNvPr id="3" name="TextBox 2">
            <a:extLst>
              <a:ext uri="{FF2B5EF4-FFF2-40B4-BE49-F238E27FC236}">
                <a16:creationId xmlns:a16="http://schemas.microsoft.com/office/drawing/2014/main" id="{4A8AA9ED-2418-0D19-2217-A8F5C9E47E05}"/>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28</a:t>
            </a:r>
            <a:endParaRPr lang="en-IN" dirty="0">
              <a:solidFill>
                <a:sysClr val="windowText" lastClr="000000"/>
              </a:solidFill>
            </a:endParaRPr>
          </a:p>
        </p:txBody>
      </p:sp>
    </p:spTree>
    <p:extLst>
      <p:ext uri="{BB962C8B-B14F-4D97-AF65-F5344CB8AC3E}">
        <p14:creationId xmlns:p14="http://schemas.microsoft.com/office/powerpoint/2010/main" val="40177515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1713" name="Google Shape;1713;p43"/>
          <p:cNvSpPr txBox="1">
            <a:spLocks noGrp="1"/>
          </p:cNvSpPr>
          <p:nvPr>
            <p:ph type="body" idx="1"/>
          </p:nvPr>
        </p:nvSpPr>
        <p:spPr>
          <a:xfrm>
            <a:off x="603807" y="3138068"/>
            <a:ext cx="7936386" cy="1385530"/>
          </a:xfrm>
          <a:prstGeom prst="rect">
            <a:avLst/>
          </a:prstGeom>
        </p:spPr>
        <p:txBody>
          <a:bodyPr spcFirstLastPara="1" wrap="square" lIns="91425" tIns="91425" rIns="91425" bIns="91425" anchor="t" anchorCtr="0">
            <a:noAutofit/>
          </a:bodyPr>
          <a:lstStyle/>
          <a:p>
            <a:pPr marL="285750" indent="-285750"/>
            <a:endParaRPr lang="en-US" sz="1400" b="1" i="0" dirty="0">
              <a:solidFill>
                <a:srgbClr val="212121"/>
              </a:solidFill>
              <a:effectLst/>
              <a:latin typeface="Grandview" panose="020B0502040204020203" pitchFamily="34" charset="0"/>
            </a:endParaRPr>
          </a:p>
          <a:p>
            <a:pPr marL="285750" indent="-285750"/>
            <a:r>
              <a:rPr lang="en-US" sz="1400" b="1" i="0" dirty="0">
                <a:solidFill>
                  <a:srgbClr val="212121"/>
                </a:solidFill>
                <a:effectLst/>
                <a:latin typeface="Grandview" panose="020B0502040204020203" pitchFamily="34" charset="0"/>
              </a:rPr>
              <a:t>H</a:t>
            </a:r>
            <a:r>
              <a:rPr lang="en-US" sz="1400" b="1" i="0" baseline="-25000" dirty="0">
                <a:solidFill>
                  <a:srgbClr val="212121"/>
                </a:solidFill>
                <a:effectLst/>
                <a:latin typeface="Grandview" panose="020B0502040204020203" pitchFamily="34" charset="0"/>
              </a:rPr>
              <a:t>1</a:t>
            </a:r>
            <a:r>
              <a:rPr lang="en-US" sz="1400" b="1" i="0" dirty="0">
                <a:solidFill>
                  <a:srgbClr val="212121"/>
                </a:solidFill>
                <a:effectLst/>
                <a:latin typeface="Grandview" panose="020B0502040204020203" pitchFamily="34" charset="0"/>
              </a:rPr>
              <a:t> : </a:t>
            </a:r>
            <a:r>
              <a:rPr lang="en-US" sz="1400" i="0" dirty="0">
                <a:solidFill>
                  <a:srgbClr val="212121"/>
                </a:solidFill>
                <a:effectLst/>
                <a:latin typeface="Grandview" panose="020B0502040204020203" pitchFamily="34" charset="0"/>
              </a:rPr>
              <a:t>Ther</a:t>
            </a:r>
            <a:r>
              <a:rPr lang="en-US" sz="1400" dirty="0">
                <a:solidFill>
                  <a:srgbClr val="212121"/>
                </a:solidFill>
                <a:latin typeface="Grandview" panose="020B0502040204020203" pitchFamily="34" charset="0"/>
              </a:rPr>
              <a:t>e is a significant impact of coping frequency (The number of times, a student uses some technique to manage stress) on the overall stress of a student.</a:t>
            </a:r>
          </a:p>
          <a:p>
            <a:pPr marL="0" indent="0">
              <a:buNone/>
            </a:pPr>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p:txBody>
      </p:sp>
      <p:sp>
        <p:nvSpPr>
          <p:cNvPr id="2" name="Google Shape;1480;p38">
            <a:extLst>
              <a:ext uri="{FF2B5EF4-FFF2-40B4-BE49-F238E27FC236}">
                <a16:creationId xmlns:a16="http://schemas.microsoft.com/office/drawing/2014/main" id="{0F6FB33E-AAA4-7A71-BEE9-8C7A087D0A82}"/>
              </a:ext>
            </a:extLst>
          </p:cNvPr>
          <p:cNvSpPr txBox="1">
            <a:spLocks noGrp="1"/>
          </p:cNvSpPr>
          <p:nvPr>
            <p:ph type="title"/>
          </p:nvPr>
        </p:nvSpPr>
        <p:spPr>
          <a:xfrm>
            <a:off x="713100" y="2666967"/>
            <a:ext cx="77178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2000" u="sng" dirty="0"/>
              <a:t>HYPOTHESIS </a:t>
            </a:r>
            <a:r>
              <a:rPr lang="en" sz="2000" dirty="0"/>
              <a:t>:</a:t>
            </a:r>
            <a:endParaRPr sz="2000" dirty="0"/>
          </a:p>
        </p:txBody>
      </p:sp>
      <p:sp>
        <p:nvSpPr>
          <p:cNvPr id="3" name="Google Shape;1713;p43">
            <a:extLst>
              <a:ext uri="{FF2B5EF4-FFF2-40B4-BE49-F238E27FC236}">
                <a16:creationId xmlns:a16="http://schemas.microsoft.com/office/drawing/2014/main" id="{48A8D2DC-D953-9F78-41E4-053851364A24}"/>
              </a:ext>
            </a:extLst>
          </p:cNvPr>
          <p:cNvSpPr txBox="1">
            <a:spLocks/>
          </p:cNvSpPr>
          <p:nvPr/>
        </p:nvSpPr>
        <p:spPr>
          <a:xfrm>
            <a:off x="603807" y="518302"/>
            <a:ext cx="7936386" cy="251884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eaLnBrk="1" hangingPunct="1">
              <a:lnSpc>
                <a:spcPct val="100000"/>
              </a:lnSpc>
              <a:spcBef>
                <a:spcPts val="0"/>
              </a:spcBef>
              <a:spcAft>
                <a:spcPts val="0"/>
              </a:spcAft>
              <a:buClr>
                <a:schemeClr val="accent1"/>
              </a:buClr>
              <a:buSzPts val="1400"/>
              <a:buFont typeface="Karla"/>
              <a:buChar char="●"/>
              <a:defRPr sz="1600" b="0" i="0" u="none" strike="noStrike" cap="none">
                <a:solidFill>
                  <a:srgbClr val="000000"/>
                </a:solidFill>
                <a:latin typeface="Karla"/>
                <a:ea typeface="Karla"/>
                <a:cs typeface="Karla"/>
                <a:sym typeface="Karla"/>
              </a:defRPr>
            </a:lvl1pPr>
            <a:lvl2pPr marL="914400" marR="0" lvl="1" indent="-317500" algn="l" rtl="0" eaLnBrk="1" hangingPunct="1">
              <a:lnSpc>
                <a:spcPct val="100000"/>
              </a:lnSpc>
              <a:spcBef>
                <a:spcPts val="600"/>
              </a:spcBef>
              <a:spcAft>
                <a:spcPts val="0"/>
              </a:spcAft>
              <a:buClr>
                <a:schemeClr val="accent1"/>
              </a:buClr>
              <a:buSzPts val="1400"/>
              <a:buFont typeface="Karla"/>
              <a:buChar char="○"/>
              <a:defRPr sz="1400" b="0" i="0" u="none" strike="noStrike" cap="none">
                <a:solidFill>
                  <a:srgbClr val="000000"/>
                </a:solidFill>
                <a:latin typeface="Karla"/>
                <a:ea typeface="Karla"/>
                <a:cs typeface="Karla"/>
                <a:sym typeface="Karla"/>
              </a:defRPr>
            </a:lvl2pPr>
            <a:lvl3pPr marL="1371600" marR="0" lvl="2"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3pPr>
            <a:lvl4pPr marL="1828800" marR="0" lvl="3"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4pPr>
            <a:lvl5pPr marL="2286000" marR="0" lvl="4"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5pPr>
            <a:lvl6pPr marL="2743200" marR="0" lvl="5"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6pPr>
            <a:lvl7pPr marL="3200400" marR="0" lvl="6"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7pPr>
            <a:lvl8pPr marL="3657600" marR="0" lvl="7"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8pPr>
            <a:lvl9pPr marL="4114800" marR="0" lvl="8" indent="-317500" algn="l" rtl="0" eaLnBrk="1" hangingPunct="1">
              <a:lnSpc>
                <a:spcPct val="100000"/>
              </a:lnSpc>
              <a:spcBef>
                <a:spcPts val="0"/>
              </a:spcBef>
              <a:spcAft>
                <a:spcPts val="0"/>
              </a:spcAft>
              <a:buClr>
                <a:srgbClr val="000000"/>
              </a:buClr>
              <a:buSzPts val="1400"/>
              <a:buFont typeface="Karla"/>
              <a:buChar char="■"/>
              <a:defRPr sz="1400" b="0" i="0" u="none" strike="noStrike" cap="none">
                <a:solidFill>
                  <a:srgbClr val="000000"/>
                </a:solidFill>
                <a:latin typeface="Karla"/>
                <a:ea typeface="Karla"/>
                <a:cs typeface="Karla"/>
                <a:sym typeface="Karla"/>
              </a:defRPr>
            </a:lvl9pPr>
          </a:lstStyle>
          <a:p>
            <a:pPr marL="285750" indent="-285750"/>
            <a:endParaRPr lang="en-US" sz="1400" b="1" dirty="0">
              <a:solidFill>
                <a:srgbClr val="212121"/>
              </a:solidFill>
              <a:latin typeface="Grandview" panose="020B0502040204020203" pitchFamily="34" charset="0"/>
            </a:endParaRPr>
          </a:p>
          <a:p>
            <a:pPr marL="285750" indent="-285750"/>
            <a:r>
              <a:rPr lang="en-US" sz="1400" b="0" i="0" dirty="0">
                <a:solidFill>
                  <a:srgbClr val="374151"/>
                </a:solidFill>
                <a:effectLst/>
                <a:latin typeface="Grandview" panose="020B0502040204020203" pitchFamily="34" charset="0"/>
              </a:rPr>
              <a:t>By exploring coping behaviors, we aim to uncover valuable insights that can inform the development of effective interventions and resources to support student well-being.</a:t>
            </a:r>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r>
              <a:rPr lang="en-US" sz="1400" dirty="0">
                <a:solidFill>
                  <a:srgbClr val="212121"/>
                </a:solidFill>
                <a:latin typeface="Grandview" panose="020B0502040204020203" pitchFamily="34" charset="0"/>
              </a:rPr>
              <a:t>In this part of study, we hope to answer the question: </a:t>
            </a:r>
            <a:r>
              <a:rPr lang="en-US" sz="1400" b="1" u="sng" dirty="0">
                <a:solidFill>
                  <a:srgbClr val="212121"/>
                </a:solidFill>
                <a:latin typeface="Grandview" panose="020B0502040204020203" pitchFamily="34" charset="0"/>
              </a:rPr>
              <a:t>“</a:t>
            </a:r>
            <a:r>
              <a:rPr lang="en-US" sz="1400" b="1" u="sng" dirty="0">
                <a:solidFill>
                  <a:srgbClr val="374151"/>
                </a:solidFill>
                <a:latin typeface="Grandview" panose="020B0502040204020203" pitchFamily="34" charset="0"/>
              </a:rPr>
              <a:t>H</a:t>
            </a:r>
            <a:r>
              <a:rPr lang="en-US" sz="1400" b="1" i="0" u="sng" dirty="0">
                <a:solidFill>
                  <a:srgbClr val="374151"/>
                </a:solidFill>
                <a:effectLst/>
                <a:latin typeface="Grandview" panose="020B0502040204020203" pitchFamily="34" charset="0"/>
              </a:rPr>
              <a:t>ow do these coping behaviors relate to their levels of stress?”</a:t>
            </a:r>
            <a:endParaRPr lang="en-US" sz="1400" b="1" u="sng" dirty="0">
              <a:solidFill>
                <a:srgbClr val="212121"/>
              </a:solidFill>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p:txBody>
      </p:sp>
      <p:cxnSp>
        <p:nvCxnSpPr>
          <p:cNvPr id="6" name="Straight Connector 5">
            <a:extLst>
              <a:ext uri="{FF2B5EF4-FFF2-40B4-BE49-F238E27FC236}">
                <a16:creationId xmlns:a16="http://schemas.microsoft.com/office/drawing/2014/main" id="{9A91A3E7-DDF8-848D-B391-48EA99FE9735}"/>
              </a:ext>
            </a:extLst>
          </p:cNvPr>
          <p:cNvCxnSpPr>
            <a:cxnSpLocks/>
          </p:cNvCxnSpPr>
          <p:nvPr/>
        </p:nvCxnSpPr>
        <p:spPr>
          <a:xfrm>
            <a:off x="603807" y="2445641"/>
            <a:ext cx="7936386"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455267AC-794F-53B5-5B01-088038884270}"/>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29</a:t>
            </a:r>
            <a:endParaRPr lang="en-IN" dirty="0">
              <a:solidFill>
                <a:sysClr val="windowText" lastClr="000000"/>
              </a:solidFill>
            </a:endParaRPr>
          </a:p>
        </p:txBody>
      </p:sp>
    </p:spTree>
    <p:extLst>
      <p:ext uri="{BB962C8B-B14F-4D97-AF65-F5344CB8AC3E}">
        <p14:creationId xmlns:p14="http://schemas.microsoft.com/office/powerpoint/2010/main" val="2541305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1713" name="Google Shape;1713;p43"/>
          <p:cNvSpPr txBox="1">
            <a:spLocks noGrp="1"/>
          </p:cNvSpPr>
          <p:nvPr>
            <p:ph type="body" idx="1"/>
          </p:nvPr>
        </p:nvSpPr>
        <p:spPr>
          <a:xfrm>
            <a:off x="603807" y="784355"/>
            <a:ext cx="7936386" cy="3952159"/>
          </a:xfrm>
          <a:prstGeom prst="rect">
            <a:avLst/>
          </a:prstGeom>
        </p:spPr>
        <p:txBody>
          <a:bodyPr spcFirstLastPara="1" wrap="square" lIns="91425" tIns="91425" rIns="91425" bIns="91425" anchor="t" anchorCtr="0">
            <a:noAutofit/>
          </a:bodyPr>
          <a:lstStyle/>
          <a:p>
            <a:pPr marL="285750" indent="-285750"/>
            <a:endParaRPr lang="en-US" sz="1400" b="1" i="0" dirty="0">
              <a:solidFill>
                <a:srgbClr val="212121"/>
              </a:solidFill>
              <a:effectLst/>
              <a:latin typeface="Grandview" panose="020B0502040204020203" pitchFamily="34" charset="0"/>
            </a:endParaRPr>
          </a:p>
          <a:p>
            <a:pPr marL="285750" indent="-285750"/>
            <a:r>
              <a:rPr lang="en-US" sz="1400" dirty="0">
                <a:solidFill>
                  <a:srgbClr val="212121"/>
                </a:solidFill>
                <a:latin typeface="Grandview" panose="020B0502040204020203" pitchFamily="34" charset="0"/>
              </a:rPr>
              <a:t>Using the data we obtained with our questionnaire, we can simply input the data into SPSS software and get the following outputs:</a:t>
            </a:r>
            <a:endParaRPr lang="en-US" sz="1400"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r>
              <a:rPr lang="en-US" sz="1400" dirty="0">
                <a:solidFill>
                  <a:srgbClr val="212121"/>
                </a:solidFill>
                <a:latin typeface="Grandview" panose="020B0502040204020203" pitchFamily="34" charset="0"/>
              </a:rPr>
              <a:t>Here, since the value of R-Square is 0.379, we can say that the linear regression model constructed is only able to explain about 37.9% of the variance.</a:t>
            </a:r>
          </a:p>
          <a:p>
            <a:pPr marL="285750" indent="-285750"/>
            <a:endParaRPr lang="en-US" sz="1400" dirty="0">
              <a:solidFill>
                <a:srgbClr val="212121"/>
              </a:solidFill>
              <a:latin typeface="Grandview" panose="020B0502040204020203" pitchFamily="34" charset="0"/>
            </a:endParaRPr>
          </a:p>
          <a:p>
            <a:pPr marL="0" indent="0">
              <a:buNone/>
            </a:pPr>
            <a:endParaRPr lang="en-US" sz="1400" dirty="0">
              <a:solidFill>
                <a:srgbClr val="212121"/>
              </a:solidFill>
              <a:latin typeface="Grandview" panose="020B0502040204020203" pitchFamily="34" charset="0"/>
            </a:endParaRPr>
          </a:p>
          <a:p>
            <a:pPr marL="0" indent="0">
              <a:buNone/>
            </a:pPr>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p:txBody>
      </p:sp>
      <p:sp>
        <p:nvSpPr>
          <p:cNvPr id="2" name="Google Shape;1480;p38">
            <a:extLst>
              <a:ext uri="{FF2B5EF4-FFF2-40B4-BE49-F238E27FC236}">
                <a16:creationId xmlns:a16="http://schemas.microsoft.com/office/drawing/2014/main" id="{0F6FB33E-AAA4-7A71-BEE9-8C7A087D0A82}"/>
              </a:ext>
            </a:extLst>
          </p:cNvPr>
          <p:cNvSpPr txBox="1">
            <a:spLocks noGrp="1"/>
          </p:cNvSpPr>
          <p:nvPr>
            <p:ph type="title"/>
          </p:nvPr>
        </p:nvSpPr>
        <p:spPr>
          <a:xfrm>
            <a:off x="822393" y="286626"/>
            <a:ext cx="771780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2400" u="sng" dirty="0"/>
              <a:t>RESULTS </a:t>
            </a:r>
            <a:r>
              <a:rPr lang="en" sz="2400" dirty="0"/>
              <a:t>:</a:t>
            </a:r>
            <a:endParaRPr sz="2400" dirty="0"/>
          </a:p>
        </p:txBody>
      </p:sp>
      <p:graphicFrame>
        <p:nvGraphicFramePr>
          <p:cNvPr id="3" name="Table 2">
            <a:extLst>
              <a:ext uri="{FF2B5EF4-FFF2-40B4-BE49-F238E27FC236}">
                <a16:creationId xmlns:a16="http://schemas.microsoft.com/office/drawing/2014/main" id="{746BF6F5-D402-39A5-F577-D8D6485B2B94}"/>
              </a:ext>
            </a:extLst>
          </p:cNvPr>
          <p:cNvGraphicFramePr>
            <a:graphicFrameLocks noGrp="1"/>
          </p:cNvGraphicFramePr>
          <p:nvPr>
            <p:extLst>
              <p:ext uri="{D42A27DB-BD31-4B8C-83A1-F6EECF244321}">
                <p14:modId xmlns:p14="http://schemas.microsoft.com/office/powerpoint/2010/main" val="170822970"/>
              </p:ext>
            </p:extLst>
          </p:nvPr>
        </p:nvGraphicFramePr>
        <p:xfrm>
          <a:off x="2053318" y="1946412"/>
          <a:ext cx="5037364" cy="1046797"/>
        </p:xfrm>
        <a:graphic>
          <a:graphicData uri="http://schemas.openxmlformats.org/drawingml/2006/table">
            <a:tbl>
              <a:tblPr>
                <a:tableStyleId>{3C2FFA5D-87B4-456A-9821-1D502468CF0F}</a:tableStyleId>
              </a:tblPr>
              <a:tblGrid>
                <a:gridCol w="705452">
                  <a:extLst>
                    <a:ext uri="{9D8B030D-6E8A-4147-A177-3AD203B41FA5}">
                      <a16:colId xmlns:a16="http://schemas.microsoft.com/office/drawing/2014/main" val="2781086154"/>
                    </a:ext>
                  </a:extLst>
                </a:gridCol>
                <a:gridCol w="705452">
                  <a:extLst>
                    <a:ext uri="{9D8B030D-6E8A-4147-A177-3AD203B41FA5}">
                      <a16:colId xmlns:a16="http://schemas.microsoft.com/office/drawing/2014/main" val="1556757835"/>
                    </a:ext>
                  </a:extLst>
                </a:gridCol>
                <a:gridCol w="639315">
                  <a:extLst>
                    <a:ext uri="{9D8B030D-6E8A-4147-A177-3AD203B41FA5}">
                      <a16:colId xmlns:a16="http://schemas.microsoft.com/office/drawing/2014/main" val="1712040938"/>
                    </a:ext>
                  </a:extLst>
                </a:gridCol>
                <a:gridCol w="1245562">
                  <a:extLst>
                    <a:ext uri="{9D8B030D-6E8A-4147-A177-3AD203B41FA5}">
                      <a16:colId xmlns:a16="http://schemas.microsoft.com/office/drawing/2014/main" val="583742002"/>
                    </a:ext>
                  </a:extLst>
                </a:gridCol>
                <a:gridCol w="1741583">
                  <a:extLst>
                    <a:ext uri="{9D8B030D-6E8A-4147-A177-3AD203B41FA5}">
                      <a16:colId xmlns:a16="http://schemas.microsoft.com/office/drawing/2014/main" val="526250109"/>
                    </a:ext>
                  </a:extLst>
                </a:gridCol>
              </a:tblGrid>
              <a:tr h="270141">
                <a:tc gridSpan="5">
                  <a:txBody>
                    <a:bodyPr/>
                    <a:lstStyle/>
                    <a:p>
                      <a:pPr algn="ctr" fontAlgn="b"/>
                      <a:r>
                        <a:rPr lang="en-IN" sz="1200" b="1" u="none" strike="noStrike" dirty="0">
                          <a:solidFill>
                            <a:schemeClr val="bg1"/>
                          </a:solidFill>
                          <a:effectLst/>
                          <a:latin typeface="Grandview" panose="020B0502040204020203" pitchFamily="34" charset="0"/>
                        </a:rPr>
                        <a:t>Model Summary</a:t>
                      </a:r>
                      <a:endParaRPr lang="en-IN" sz="1200" b="1" i="0" u="none" strike="noStrike" dirty="0">
                        <a:solidFill>
                          <a:schemeClr val="bg1"/>
                        </a:solidFill>
                        <a:effectLst/>
                        <a:latin typeface="Grandview" panose="020B0502040204020203" pitchFamily="34" charset="0"/>
                      </a:endParaRPr>
                    </a:p>
                  </a:txBody>
                  <a:tcPr marL="7620" marR="7620" marT="7620" marB="0" anchor="ctr">
                    <a:solidFill>
                      <a:schemeClr val="accent1"/>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005065257"/>
                  </a:ext>
                </a:extLst>
              </a:tr>
              <a:tr h="506515">
                <a:tc>
                  <a:txBody>
                    <a:bodyPr/>
                    <a:lstStyle/>
                    <a:p>
                      <a:pPr algn="ctr" fontAlgn="b"/>
                      <a:r>
                        <a:rPr lang="en-IN" sz="1200" b="1" u="none" strike="noStrike" dirty="0">
                          <a:effectLst/>
                          <a:latin typeface="Grandview" panose="020B0502040204020203" pitchFamily="34" charset="0"/>
                        </a:rPr>
                        <a:t>Model</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a:effectLst/>
                          <a:latin typeface="Grandview" panose="020B0502040204020203" pitchFamily="34" charset="0"/>
                        </a:rPr>
                        <a:t>R</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a:effectLst/>
                          <a:latin typeface="Grandview" panose="020B0502040204020203" pitchFamily="34" charset="0"/>
                        </a:rPr>
                        <a:t>R Square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a:effectLst/>
                          <a:latin typeface="Grandview" panose="020B0502040204020203" pitchFamily="34" charset="0"/>
                        </a:rPr>
                        <a:t>Adjusted R Square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US" sz="1200" b="1" u="none" strike="noStrike" dirty="0">
                          <a:effectLst/>
                          <a:latin typeface="Grandview" panose="020B0502040204020203" pitchFamily="34" charset="0"/>
                        </a:rPr>
                        <a:t>Std. Error of the Estimate</a:t>
                      </a:r>
                      <a:endParaRPr lang="en-US"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extLst>
                  <a:ext uri="{0D108BD9-81ED-4DB2-BD59-A6C34878D82A}">
                    <a16:rowId xmlns:a16="http://schemas.microsoft.com/office/drawing/2014/main" val="3622101823"/>
                  </a:ext>
                </a:extLst>
              </a:tr>
              <a:tr h="270141">
                <a:tc>
                  <a:txBody>
                    <a:bodyPr/>
                    <a:lstStyle/>
                    <a:p>
                      <a:pPr algn="ctr" fontAlgn="b"/>
                      <a:r>
                        <a:rPr lang="en-IN" sz="1200" u="none" strike="noStrike">
                          <a:effectLst/>
                          <a:latin typeface="Grandview" panose="020B0502040204020203" pitchFamily="34" charset="0"/>
                        </a:rPr>
                        <a:t>1</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b"/>
                      <a:r>
                        <a:rPr lang="en-IN" sz="1200" u="none" strike="noStrike" dirty="0">
                          <a:effectLst/>
                          <a:latin typeface="Grandview" panose="020B0502040204020203" pitchFamily="34" charset="0"/>
                        </a:rPr>
                        <a:t>0.616</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b"/>
                      <a:r>
                        <a:rPr lang="en-IN" sz="1200" u="none" strike="noStrike" dirty="0">
                          <a:effectLst/>
                          <a:latin typeface="Grandview" panose="020B0502040204020203" pitchFamily="34" charset="0"/>
                        </a:rPr>
                        <a:t>0.379</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b"/>
                      <a:r>
                        <a:rPr lang="en-IN" sz="1200" u="none" strike="noStrike" dirty="0">
                          <a:effectLst/>
                          <a:latin typeface="Grandview" panose="020B0502040204020203" pitchFamily="34" charset="0"/>
                        </a:rPr>
                        <a:t>0.373</a:t>
                      </a:r>
                      <a:endParaRPr lang="en-IN" sz="1200" b="0"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b"/>
                      <a:r>
                        <a:rPr lang="en-IN" sz="1200" b="0" i="0" u="none" strike="noStrike" dirty="0">
                          <a:solidFill>
                            <a:srgbClr val="000000"/>
                          </a:solidFill>
                          <a:effectLst/>
                          <a:latin typeface="Grandview" panose="020B0502040204020203" pitchFamily="34" charset="0"/>
                        </a:rPr>
                        <a:t>1.0287</a:t>
                      </a:r>
                    </a:p>
                  </a:txBody>
                  <a:tcPr marL="7620" marR="7620" marT="7620" marB="0" anchor="ctr"/>
                </a:tc>
                <a:extLst>
                  <a:ext uri="{0D108BD9-81ED-4DB2-BD59-A6C34878D82A}">
                    <a16:rowId xmlns:a16="http://schemas.microsoft.com/office/drawing/2014/main" val="568337304"/>
                  </a:ext>
                </a:extLst>
              </a:tr>
            </a:tbl>
          </a:graphicData>
        </a:graphic>
      </p:graphicFrame>
      <p:sp>
        <p:nvSpPr>
          <p:cNvPr id="4" name="TextBox 3">
            <a:extLst>
              <a:ext uri="{FF2B5EF4-FFF2-40B4-BE49-F238E27FC236}">
                <a16:creationId xmlns:a16="http://schemas.microsoft.com/office/drawing/2014/main" id="{362813C4-664B-AF9D-9654-47DEF43ABA31}"/>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30</a:t>
            </a:r>
            <a:endParaRPr lang="en-IN" dirty="0">
              <a:solidFill>
                <a:sysClr val="windowText" lastClr="000000"/>
              </a:solidFill>
            </a:endParaRPr>
          </a:p>
        </p:txBody>
      </p:sp>
    </p:spTree>
    <p:extLst>
      <p:ext uri="{BB962C8B-B14F-4D97-AF65-F5344CB8AC3E}">
        <p14:creationId xmlns:p14="http://schemas.microsoft.com/office/powerpoint/2010/main" val="35060318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1713" name="Google Shape;1713;p43"/>
          <p:cNvSpPr txBox="1">
            <a:spLocks noGrp="1"/>
          </p:cNvSpPr>
          <p:nvPr>
            <p:ph type="body" idx="1"/>
          </p:nvPr>
        </p:nvSpPr>
        <p:spPr>
          <a:xfrm>
            <a:off x="603807" y="414240"/>
            <a:ext cx="7936386" cy="4331931"/>
          </a:xfrm>
          <a:prstGeom prst="rect">
            <a:avLst/>
          </a:prstGeom>
        </p:spPr>
        <p:txBody>
          <a:bodyPr spcFirstLastPara="1" wrap="square" lIns="91425" tIns="91425" rIns="91425" bIns="91425" anchor="t" anchorCtr="0">
            <a:noAutofit/>
          </a:bodyPr>
          <a:lstStyle/>
          <a:p>
            <a:pPr marL="285750" indent="-285750"/>
            <a:endParaRPr lang="en-US" sz="1400" b="1" i="0" dirty="0">
              <a:solidFill>
                <a:srgbClr val="212121"/>
              </a:solidFill>
              <a:effectLst/>
              <a:latin typeface="Grandview" panose="020B0502040204020203" pitchFamily="34" charset="0"/>
            </a:endParaRPr>
          </a:p>
          <a:p>
            <a:pPr marL="285750" indent="-285750"/>
            <a:r>
              <a:rPr lang="en-US" sz="1400" dirty="0">
                <a:solidFill>
                  <a:srgbClr val="212121"/>
                </a:solidFill>
                <a:latin typeface="Grandview" panose="020B0502040204020203" pitchFamily="34" charset="0"/>
              </a:rPr>
              <a:t>The ANOVA table obtained is as follows:</a:t>
            </a:r>
            <a:endParaRPr lang="en-US" sz="1400"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r>
              <a:rPr lang="en-US" sz="1400" dirty="0">
                <a:solidFill>
                  <a:srgbClr val="212121"/>
                </a:solidFill>
                <a:latin typeface="Grandview" panose="020B0502040204020203" pitchFamily="34" charset="0"/>
              </a:rPr>
              <a:t>Here, since the significance level is less than </a:t>
            </a:r>
            <a:r>
              <a:rPr lang="en-US" sz="1400" b="1" dirty="0">
                <a:solidFill>
                  <a:srgbClr val="212121"/>
                </a:solidFill>
                <a:latin typeface="Grandview" panose="020B0502040204020203" pitchFamily="34" charset="0"/>
              </a:rPr>
              <a:t>0.05</a:t>
            </a:r>
            <a:r>
              <a:rPr lang="en-US" sz="1400" dirty="0">
                <a:solidFill>
                  <a:srgbClr val="212121"/>
                </a:solidFill>
                <a:latin typeface="Grandview" panose="020B0502040204020203" pitchFamily="34" charset="0"/>
              </a:rPr>
              <a:t>, we can conclude that this model is </a:t>
            </a:r>
            <a:r>
              <a:rPr lang="en-US" sz="1400" b="1" dirty="0">
                <a:solidFill>
                  <a:srgbClr val="212121"/>
                </a:solidFill>
                <a:latin typeface="Grandview" panose="020B0502040204020203" pitchFamily="34" charset="0"/>
              </a:rPr>
              <a:t>significant</a:t>
            </a:r>
            <a:r>
              <a:rPr lang="en-US" sz="1400" dirty="0">
                <a:solidFill>
                  <a:srgbClr val="212121"/>
                </a:solidFill>
                <a:latin typeface="Grandview" panose="020B0502040204020203" pitchFamily="34" charset="0"/>
              </a:rPr>
              <a:t>.</a:t>
            </a:r>
          </a:p>
          <a:p>
            <a:pPr marL="0" indent="0">
              <a:buNone/>
            </a:pPr>
            <a:endParaRPr lang="en-US" sz="1400" dirty="0">
              <a:solidFill>
                <a:srgbClr val="212121"/>
              </a:solidFill>
              <a:latin typeface="Grandview" panose="020B0502040204020203" pitchFamily="34" charset="0"/>
            </a:endParaRPr>
          </a:p>
          <a:p>
            <a:pPr marL="0" indent="0">
              <a:buNone/>
            </a:pPr>
            <a:endParaRPr lang="en-US" sz="1400" b="1" i="0" dirty="0">
              <a:solidFill>
                <a:srgbClr val="212121"/>
              </a:solidFill>
              <a:effectLst/>
              <a:latin typeface="Grandview" panose="020B0502040204020203" pitchFamily="34" charset="0"/>
            </a:endParaRPr>
          </a:p>
          <a:p>
            <a:pPr marL="285750" indent="-285750"/>
            <a:endParaRPr lang="en-US" sz="1400" b="1" dirty="0">
              <a:solidFill>
                <a:srgbClr val="212121"/>
              </a:solidFill>
              <a:latin typeface="Grandview" panose="020B0502040204020203" pitchFamily="34" charset="0"/>
            </a:endParaRPr>
          </a:p>
          <a:p>
            <a:pPr marL="285750" indent="-285750"/>
            <a:endParaRPr lang="en-US" sz="1400" b="1" i="0" dirty="0">
              <a:solidFill>
                <a:srgbClr val="212121"/>
              </a:solidFill>
              <a:effectLst/>
              <a:latin typeface="Grandview" panose="020B0502040204020203" pitchFamily="34" charset="0"/>
            </a:endParaRPr>
          </a:p>
        </p:txBody>
      </p:sp>
      <p:graphicFrame>
        <p:nvGraphicFramePr>
          <p:cNvPr id="4" name="Table 3">
            <a:extLst>
              <a:ext uri="{FF2B5EF4-FFF2-40B4-BE49-F238E27FC236}">
                <a16:creationId xmlns:a16="http://schemas.microsoft.com/office/drawing/2014/main" id="{E891B3E4-C349-2385-6D2A-EC0FFD6096F3}"/>
              </a:ext>
            </a:extLst>
          </p:cNvPr>
          <p:cNvGraphicFramePr>
            <a:graphicFrameLocks noGrp="1"/>
          </p:cNvGraphicFramePr>
          <p:nvPr>
            <p:extLst>
              <p:ext uri="{D42A27DB-BD31-4B8C-83A1-F6EECF244321}">
                <p14:modId xmlns:p14="http://schemas.microsoft.com/office/powerpoint/2010/main" val="1177508612"/>
              </p:ext>
            </p:extLst>
          </p:nvPr>
        </p:nvGraphicFramePr>
        <p:xfrm>
          <a:off x="1475014" y="1185635"/>
          <a:ext cx="6193972" cy="2254250"/>
        </p:xfrm>
        <a:graphic>
          <a:graphicData uri="http://schemas.openxmlformats.org/drawingml/2006/table">
            <a:tbl>
              <a:tblPr>
                <a:tableStyleId>{3C2FFA5D-87B4-456A-9821-1D502468CF0F}</a:tableStyleId>
              </a:tblPr>
              <a:tblGrid>
                <a:gridCol w="884853">
                  <a:extLst>
                    <a:ext uri="{9D8B030D-6E8A-4147-A177-3AD203B41FA5}">
                      <a16:colId xmlns:a16="http://schemas.microsoft.com/office/drawing/2014/main" val="1659228179"/>
                    </a:ext>
                  </a:extLst>
                </a:gridCol>
                <a:gridCol w="1071351">
                  <a:extLst>
                    <a:ext uri="{9D8B030D-6E8A-4147-A177-3AD203B41FA5}">
                      <a16:colId xmlns:a16="http://schemas.microsoft.com/office/drawing/2014/main" val="2653141988"/>
                    </a:ext>
                  </a:extLst>
                </a:gridCol>
                <a:gridCol w="859604">
                  <a:extLst>
                    <a:ext uri="{9D8B030D-6E8A-4147-A177-3AD203B41FA5}">
                      <a16:colId xmlns:a16="http://schemas.microsoft.com/office/drawing/2014/main" val="1502712054"/>
                    </a:ext>
                  </a:extLst>
                </a:gridCol>
                <a:gridCol w="723605">
                  <a:extLst>
                    <a:ext uri="{9D8B030D-6E8A-4147-A177-3AD203B41FA5}">
                      <a16:colId xmlns:a16="http://schemas.microsoft.com/office/drawing/2014/main" val="3516319186"/>
                    </a:ext>
                  </a:extLst>
                </a:gridCol>
                <a:gridCol w="884853">
                  <a:extLst>
                    <a:ext uri="{9D8B030D-6E8A-4147-A177-3AD203B41FA5}">
                      <a16:colId xmlns:a16="http://schemas.microsoft.com/office/drawing/2014/main" val="3441685907"/>
                    </a:ext>
                  </a:extLst>
                </a:gridCol>
                <a:gridCol w="884853">
                  <a:extLst>
                    <a:ext uri="{9D8B030D-6E8A-4147-A177-3AD203B41FA5}">
                      <a16:colId xmlns:a16="http://schemas.microsoft.com/office/drawing/2014/main" val="3426319171"/>
                    </a:ext>
                  </a:extLst>
                </a:gridCol>
                <a:gridCol w="884853">
                  <a:extLst>
                    <a:ext uri="{9D8B030D-6E8A-4147-A177-3AD203B41FA5}">
                      <a16:colId xmlns:a16="http://schemas.microsoft.com/office/drawing/2014/main" val="2139866637"/>
                    </a:ext>
                  </a:extLst>
                </a:gridCol>
              </a:tblGrid>
              <a:tr h="360216">
                <a:tc gridSpan="7">
                  <a:txBody>
                    <a:bodyPr/>
                    <a:lstStyle/>
                    <a:p>
                      <a:pPr algn="ctr" fontAlgn="ctr"/>
                      <a:r>
                        <a:rPr lang="en-IN" sz="1200" b="1" u="sng" strike="noStrike" dirty="0" err="1">
                          <a:solidFill>
                            <a:schemeClr val="bg1"/>
                          </a:solidFill>
                          <a:effectLst/>
                        </a:rPr>
                        <a:t>ANOVA</a:t>
                      </a:r>
                      <a:r>
                        <a:rPr lang="en-IN" sz="1200" b="1" u="sng" strike="noStrike" baseline="30000" dirty="0" err="1">
                          <a:solidFill>
                            <a:schemeClr val="bg1"/>
                          </a:solidFill>
                          <a:effectLst/>
                        </a:rPr>
                        <a:t>a</a:t>
                      </a:r>
                      <a:endParaRPr lang="en-IN" sz="1200" b="1" i="0" u="sng" strike="noStrike" dirty="0">
                        <a:solidFill>
                          <a:schemeClr val="bg1"/>
                        </a:solidFill>
                        <a:effectLst/>
                        <a:latin typeface="Grandview" panose="020B0502040204020203" pitchFamily="34" charset="0"/>
                      </a:endParaRPr>
                    </a:p>
                  </a:txBody>
                  <a:tcPr marL="7620" marR="7620" marT="7620" marB="0" anchor="ctr">
                    <a:solidFill>
                      <a:schemeClr val="accent1"/>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659903444"/>
                  </a:ext>
                </a:extLst>
              </a:tr>
              <a:tr h="601980">
                <a:tc gridSpan="2">
                  <a:txBody>
                    <a:bodyPr/>
                    <a:lstStyle/>
                    <a:p>
                      <a:pPr algn="ctr" fontAlgn="b"/>
                      <a:r>
                        <a:rPr lang="en-IN" sz="1200" b="1" u="none" strike="noStrike" dirty="0">
                          <a:effectLst/>
                        </a:rPr>
                        <a:t>Model</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hMerge="1">
                  <a:txBody>
                    <a:bodyPr/>
                    <a:lstStyle/>
                    <a:p>
                      <a:endParaRPr lang="en-IN"/>
                    </a:p>
                  </a:txBody>
                  <a:tcPr/>
                </a:tc>
                <a:tc>
                  <a:txBody>
                    <a:bodyPr/>
                    <a:lstStyle/>
                    <a:p>
                      <a:pPr algn="ctr" fontAlgn="b"/>
                      <a:r>
                        <a:rPr lang="en-IN" sz="1200" b="1" u="none" strike="noStrike" dirty="0">
                          <a:effectLst/>
                        </a:rPr>
                        <a:t>Sum of Squares</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err="1">
                          <a:effectLst/>
                        </a:rPr>
                        <a:t>df</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a:effectLst/>
                        </a:rPr>
                        <a:t>Mean Square</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a:effectLst/>
                        </a:rPr>
                        <a:t>F</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tc>
                  <a:txBody>
                    <a:bodyPr/>
                    <a:lstStyle/>
                    <a:p>
                      <a:pPr algn="ctr" fontAlgn="b"/>
                      <a:r>
                        <a:rPr lang="en-IN" sz="1200" b="1" u="none" strike="noStrike" dirty="0">
                          <a:effectLst/>
                        </a:rPr>
                        <a:t>Sig.</a:t>
                      </a:r>
                      <a:endParaRPr lang="en-IN" sz="1200" b="1" i="0" u="none" strike="noStrike" dirty="0">
                        <a:solidFill>
                          <a:srgbClr val="000000"/>
                        </a:solidFill>
                        <a:effectLst/>
                        <a:latin typeface="Grandview" panose="020B0502040204020203" pitchFamily="34" charset="0"/>
                      </a:endParaRPr>
                    </a:p>
                  </a:txBody>
                  <a:tcPr marL="7620" marR="7620" marT="7620" marB="0" anchor="ctr">
                    <a:solidFill>
                      <a:schemeClr val="tx1">
                        <a:lumMod val="10000"/>
                        <a:lumOff val="90000"/>
                      </a:schemeClr>
                    </a:solidFill>
                  </a:tcPr>
                </a:tc>
                <a:extLst>
                  <a:ext uri="{0D108BD9-81ED-4DB2-BD59-A6C34878D82A}">
                    <a16:rowId xmlns:a16="http://schemas.microsoft.com/office/drawing/2014/main" val="832562329"/>
                  </a:ext>
                </a:extLst>
              </a:tr>
              <a:tr h="572615">
                <a:tc rowSpan="3">
                  <a:txBody>
                    <a:bodyPr/>
                    <a:lstStyle/>
                    <a:p>
                      <a:pPr algn="ctr" fontAlgn="t"/>
                      <a:r>
                        <a:rPr lang="en-IN" sz="1200" u="none" strike="noStrike">
                          <a:effectLst/>
                        </a:rPr>
                        <a:t>1</a:t>
                      </a:r>
                      <a:endParaRPr lang="en-IN" sz="1200" b="0" i="0" u="none" strike="noStrike">
                        <a:solidFill>
                          <a:srgbClr val="000000"/>
                        </a:solidFill>
                        <a:effectLst/>
                        <a:latin typeface="Grandview" panose="020B0502040204020203" pitchFamily="34" charset="0"/>
                      </a:endParaRPr>
                    </a:p>
                  </a:txBody>
                  <a:tcPr marL="7620" marR="7620" marT="7620" marB="0" anchor="ctr"/>
                </a:tc>
                <a:tc>
                  <a:txBody>
                    <a:bodyPr/>
                    <a:lstStyle/>
                    <a:p>
                      <a:pPr algn="ctr" fontAlgn="t"/>
                      <a:r>
                        <a:rPr lang="en-IN" sz="1200" b="1" u="none" strike="noStrike" dirty="0">
                          <a:effectLst/>
                        </a:rPr>
                        <a:t>Regression</a:t>
                      </a:r>
                      <a:endParaRPr lang="en-IN" sz="12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69.090</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1</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69.090</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65.293</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.000</a:t>
                      </a:r>
                      <a:r>
                        <a:rPr lang="en-IN" sz="1200" b="0" i="0" u="none" strike="noStrike" baseline="30000">
                          <a:solidFill>
                            <a:srgbClr val="000000"/>
                          </a:solidFill>
                          <a:effectLst/>
                          <a:latin typeface="Grandview" panose="020B0502040204020203" pitchFamily="34" charset="0"/>
                        </a:rPr>
                        <a:t>b</a:t>
                      </a:r>
                      <a:endParaRPr lang="en-IN" sz="1200" b="0" i="0" u="none" strike="noStrike">
                        <a:solidFill>
                          <a:srgbClr val="000000"/>
                        </a:solidFill>
                        <a:effectLst/>
                        <a:latin typeface="Grandview" panose="020B0502040204020203" pitchFamily="34" charset="0"/>
                      </a:endParaRPr>
                    </a:p>
                  </a:txBody>
                  <a:tcPr marL="7620" marR="7620" marT="7620" marB="0" anchor="ctr"/>
                </a:tc>
                <a:extLst>
                  <a:ext uri="{0D108BD9-81ED-4DB2-BD59-A6C34878D82A}">
                    <a16:rowId xmlns:a16="http://schemas.microsoft.com/office/drawing/2014/main" val="2531005767"/>
                  </a:ext>
                </a:extLst>
              </a:tr>
              <a:tr h="352378">
                <a:tc vMerge="1">
                  <a:txBody>
                    <a:bodyPr/>
                    <a:lstStyle/>
                    <a:p>
                      <a:endParaRPr lang="en-IN"/>
                    </a:p>
                  </a:txBody>
                  <a:tcPr/>
                </a:tc>
                <a:tc>
                  <a:txBody>
                    <a:bodyPr/>
                    <a:lstStyle/>
                    <a:p>
                      <a:pPr algn="ctr" fontAlgn="t"/>
                      <a:r>
                        <a:rPr lang="en-IN" sz="1200" b="1" u="none" strike="noStrike" dirty="0">
                          <a:effectLst/>
                        </a:rPr>
                        <a:t>Residual</a:t>
                      </a:r>
                      <a:endParaRPr lang="en-IN" sz="12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113.222</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107</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1.058</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 </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 </a:t>
                      </a:r>
                    </a:p>
                  </a:txBody>
                  <a:tcPr marL="7620" marR="7620" marT="7620" marB="0" anchor="ctr"/>
                </a:tc>
                <a:extLst>
                  <a:ext uri="{0D108BD9-81ED-4DB2-BD59-A6C34878D82A}">
                    <a16:rowId xmlns:a16="http://schemas.microsoft.com/office/drawing/2014/main" val="2655886545"/>
                  </a:ext>
                </a:extLst>
              </a:tr>
              <a:tr h="367061">
                <a:tc vMerge="1">
                  <a:txBody>
                    <a:bodyPr/>
                    <a:lstStyle/>
                    <a:p>
                      <a:endParaRPr lang="en-IN"/>
                    </a:p>
                  </a:txBody>
                  <a:tcPr/>
                </a:tc>
                <a:tc>
                  <a:txBody>
                    <a:bodyPr/>
                    <a:lstStyle/>
                    <a:p>
                      <a:pPr algn="ctr" fontAlgn="t"/>
                      <a:r>
                        <a:rPr lang="en-IN" sz="1200" b="1" u="none" strike="noStrike" dirty="0">
                          <a:effectLst/>
                        </a:rPr>
                        <a:t>Total</a:t>
                      </a:r>
                      <a:endParaRPr lang="en-IN" sz="1200" b="1" i="0" u="none" strike="noStrike" dirty="0">
                        <a:solidFill>
                          <a:srgbClr val="000000"/>
                        </a:solidFill>
                        <a:effectLst/>
                        <a:latin typeface="Grandview" panose="020B0502040204020203" pitchFamily="34" charset="0"/>
                      </a:endParaRP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182.312</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108</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 </a:t>
                      </a:r>
                    </a:p>
                  </a:txBody>
                  <a:tcPr marL="7620" marR="7620" marT="7620" marB="0" anchor="ctr"/>
                </a:tc>
                <a:tc>
                  <a:txBody>
                    <a:bodyPr/>
                    <a:lstStyle/>
                    <a:p>
                      <a:pPr algn="ctr" fontAlgn="ctr"/>
                      <a:r>
                        <a:rPr lang="en-IN" sz="1200" b="0" i="0" u="none" strike="noStrike">
                          <a:solidFill>
                            <a:srgbClr val="000000"/>
                          </a:solidFill>
                          <a:effectLst/>
                          <a:latin typeface="Grandview" panose="020B0502040204020203" pitchFamily="34" charset="0"/>
                        </a:rPr>
                        <a:t> </a:t>
                      </a:r>
                    </a:p>
                  </a:txBody>
                  <a:tcPr marL="7620" marR="7620" marT="7620" marB="0" anchor="ctr"/>
                </a:tc>
                <a:tc>
                  <a:txBody>
                    <a:bodyPr/>
                    <a:lstStyle/>
                    <a:p>
                      <a:pPr algn="ctr" fontAlgn="ctr"/>
                      <a:r>
                        <a:rPr lang="en-IN" sz="1200" b="0" i="0" u="none" strike="noStrike" dirty="0">
                          <a:solidFill>
                            <a:srgbClr val="000000"/>
                          </a:solidFill>
                          <a:effectLst/>
                          <a:latin typeface="Grandview" panose="020B0502040204020203" pitchFamily="34" charset="0"/>
                        </a:rPr>
                        <a:t> </a:t>
                      </a:r>
                    </a:p>
                  </a:txBody>
                  <a:tcPr marL="7620" marR="7620" marT="7620" marB="0" anchor="ctr"/>
                </a:tc>
                <a:extLst>
                  <a:ext uri="{0D108BD9-81ED-4DB2-BD59-A6C34878D82A}">
                    <a16:rowId xmlns:a16="http://schemas.microsoft.com/office/drawing/2014/main" val="57355701"/>
                  </a:ext>
                </a:extLst>
              </a:tr>
            </a:tbl>
          </a:graphicData>
        </a:graphic>
      </p:graphicFrame>
      <p:sp>
        <p:nvSpPr>
          <p:cNvPr id="2" name="TextBox 1">
            <a:extLst>
              <a:ext uri="{FF2B5EF4-FFF2-40B4-BE49-F238E27FC236}">
                <a16:creationId xmlns:a16="http://schemas.microsoft.com/office/drawing/2014/main" id="{D6E7FDC0-DD82-E9EC-6488-E961907BA86F}"/>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31</a:t>
            </a:r>
            <a:endParaRPr lang="en-IN" dirty="0">
              <a:solidFill>
                <a:sysClr val="windowText" lastClr="000000"/>
              </a:solidFill>
            </a:endParaRPr>
          </a:p>
        </p:txBody>
      </p:sp>
    </p:spTree>
    <p:extLst>
      <p:ext uri="{BB962C8B-B14F-4D97-AF65-F5344CB8AC3E}">
        <p14:creationId xmlns:p14="http://schemas.microsoft.com/office/powerpoint/2010/main" val="25743868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sp>
        <p:nvSpPr>
          <p:cNvPr id="14" name="Google Shape;1713;p43">
            <a:extLst>
              <a:ext uri="{FF2B5EF4-FFF2-40B4-BE49-F238E27FC236}">
                <a16:creationId xmlns:a16="http://schemas.microsoft.com/office/drawing/2014/main" id="{5735622D-B715-E270-0592-D19D45419EB2}"/>
              </a:ext>
            </a:extLst>
          </p:cNvPr>
          <p:cNvSpPr txBox="1">
            <a:spLocks/>
          </p:cNvSpPr>
          <p:nvPr/>
        </p:nvSpPr>
        <p:spPr>
          <a:xfrm>
            <a:off x="603807" y="414240"/>
            <a:ext cx="7936386" cy="433193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eaLnBrk="1" hangingPunct="1">
              <a:lnSpc>
                <a:spcPct val="100000"/>
              </a:lnSpc>
              <a:spcBef>
                <a:spcPts val="0"/>
              </a:spcBef>
              <a:spcAft>
                <a:spcPts val="0"/>
              </a:spcAft>
              <a:buClr>
                <a:schemeClr val="accent1"/>
              </a:buClr>
              <a:buSzPts val="1400"/>
              <a:buFont typeface="Karla"/>
              <a:buNone/>
              <a:defRPr sz="2000" b="1" i="0" u="none" strike="noStrike" cap="none">
                <a:solidFill>
                  <a:schemeClr val="dk1"/>
                </a:solidFill>
                <a:latin typeface="Open Sans"/>
                <a:ea typeface="Open Sans"/>
                <a:cs typeface="Open Sans"/>
                <a:sym typeface="Open Sans"/>
              </a:defRPr>
            </a:lvl1pPr>
            <a:lvl2pPr marL="914400" marR="0" lvl="1" indent="-317500" algn="ctr" rtl="0" eaLnBrk="1" hangingPunct="1">
              <a:lnSpc>
                <a:spcPct val="100000"/>
              </a:lnSpc>
              <a:spcBef>
                <a:spcPts val="0"/>
              </a:spcBef>
              <a:spcAft>
                <a:spcPts val="0"/>
              </a:spcAft>
              <a:buClr>
                <a:schemeClr val="accent1"/>
              </a:buClr>
              <a:buSzPts val="1400"/>
              <a:buFont typeface="Karla"/>
              <a:buNone/>
              <a:defRPr sz="2000" b="1" i="0" u="none" strike="noStrike" cap="none">
                <a:solidFill>
                  <a:schemeClr val="dk1"/>
                </a:solidFill>
                <a:latin typeface="Open Sans"/>
                <a:ea typeface="Open Sans"/>
                <a:cs typeface="Open Sans"/>
                <a:sym typeface="Open Sans"/>
              </a:defRPr>
            </a:lvl2pPr>
            <a:lvl3pPr marL="1371600" marR="0" lvl="2"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3pPr>
            <a:lvl4pPr marL="1828800" marR="0" lvl="3"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4pPr>
            <a:lvl5pPr marL="2286000" marR="0" lvl="4"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5pPr>
            <a:lvl6pPr marL="2743200" marR="0" lvl="5"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6pPr>
            <a:lvl7pPr marL="3200400" marR="0" lvl="6"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7pPr>
            <a:lvl8pPr marL="3657600" marR="0" lvl="7"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8pPr>
            <a:lvl9pPr marL="4114800" marR="0" lvl="8" indent="-317500" algn="ctr" rtl="0" eaLnBrk="1" hangingPunct="1">
              <a:lnSpc>
                <a:spcPct val="100000"/>
              </a:lnSpc>
              <a:spcBef>
                <a:spcPts val="0"/>
              </a:spcBef>
              <a:spcAft>
                <a:spcPts val="0"/>
              </a:spcAft>
              <a:buClr>
                <a:srgbClr val="000000"/>
              </a:buClr>
              <a:buSzPts val="1400"/>
              <a:buFont typeface="Karla"/>
              <a:buNone/>
              <a:defRPr sz="2000" b="1" i="0" u="none" strike="noStrike" cap="none">
                <a:solidFill>
                  <a:schemeClr val="dk1"/>
                </a:solidFill>
                <a:latin typeface="Open Sans"/>
                <a:ea typeface="Open Sans"/>
                <a:cs typeface="Open Sans"/>
                <a:sym typeface="Open Sans"/>
              </a:defRPr>
            </a:lvl9pPr>
          </a:lstStyle>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lgn="l">
              <a:buFont typeface="Arial" panose="020B0604020202020204" pitchFamily="34" charset="0"/>
              <a:buChar char="•"/>
            </a:pPr>
            <a:r>
              <a:rPr lang="en-US" sz="1400" b="0" dirty="0">
                <a:solidFill>
                  <a:srgbClr val="212121"/>
                </a:solidFill>
                <a:latin typeface="Grandview" panose="020B0502040204020203" pitchFamily="34" charset="0"/>
              </a:rPr>
              <a:t>Here, from the coefficients table, it is clear that Coping frequency has a significant impact on Overall stress of students. </a:t>
            </a:r>
          </a:p>
          <a:p>
            <a:pPr marL="285750" indent="-285750" algn="l">
              <a:buFont typeface="Arial" panose="020B0604020202020204" pitchFamily="34" charset="0"/>
              <a:buChar char="•"/>
            </a:pPr>
            <a:endParaRPr lang="en-US" sz="1400" b="0" dirty="0">
              <a:solidFill>
                <a:srgbClr val="212121"/>
              </a:solidFill>
              <a:latin typeface="Grandview" panose="020B0502040204020203" pitchFamily="34" charset="0"/>
            </a:endParaRPr>
          </a:p>
          <a:p>
            <a:pPr marL="285750" indent="-285750" algn="l">
              <a:buFont typeface="Arial" panose="020B0604020202020204" pitchFamily="34" charset="0"/>
              <a:buChar char="•"/>
            </a:pPr>
            <a:r>
              <a:rPr lang="en-US" sz="1400" b="0" dirty="0">
                <a:solidFill>
                  <a:srgbClr val="212121"/>
                </a:solidFill>
                <a:latin typeface="Grandview" panose="020B0502040204020203" pitchFamily="34" charset="0"/>
              </a:rPr>
              <a:t>Therefore, our null hypothesis </a:t>
            </a:r>
            <a:r>
              <a:rPr lang="en-US" sz="1400" b="1" i="0" dirty="0">
                <a:solidFill>
                  <a:srgbClr val="212121"/>
                </a:solidFill>
                <a:effectLst/>
                <a:latin typeface="Grandview" panose="020B0502040204020203" pitchFamily="34" charset="0"/>
              </a:rPr>
              <a:t>H</a:t>
            </a:r>
            <a:r>
              <a:rPr lang="en-US" sz="1400" b="1" i="0" baseline="-25000" dirty="0">
                <a:solidFill>
                  <a:srgbClr val="212121"/>
                </a:solidFill>
                <a:effectLst/>
                <a:latin typeface="Grandview" panose="020B0502040204020203" pitchFamily="34" charset="0"/>
              </a:rPr>
              <a:t>1</a:t>
            </a:r>
            <a:r>
              <a:rPr lang="en-US" sz="1400" b="1" i="0" dirty="0">
                <a:solidFill>
                  <a:srgbClr val="212121"/>
                </a:solidFill>
                <a:effectLst/>
                <a:latin typeface="Grandview" panose="020B0502040204020203" pitchFamily="34" charset="0"/>
              </a:rPr>
              <a:t> </a:t>
            </a:r>
            <a:r>
              <a:rPr lang="en-US" sz="1400" b="0" dirty="0">
                <a:solidFill>
                  <a:srgbClr val="212121"/>
                </a:solidFill>
                <a:latin typeface="Grandview" panose="020B0502040204020203" pitchFamily="34" charset="0"/>
              </a:rPr>
              <a:t>is rejected.</a:t>
            </a:r>
          </a:p>
          <a:p>
            <a:pPr marL="285750" indent="-285750" algn="l">
              <a:buFont typeface="Arial" panose="020B0604020202020204" pitchFamily="34" charset="0"/>
              <a:buChar char="•"/>
            </a:pPr>
            <a:endParaRPr lang="en-US" sz="1400" b="0" dirty="0">
              <a:solidFill>
                <a:srgbClr val="212121"/>
              </a:solidFill>
              <a:latin typeface="Grandview" panose="020B0502040204020203" pitchFamily="34" charset="0"/>
            </a:endParaRPr>
          </a:p>
          <a:p>
            <a:pPr marL="285750" indent="-285750" algn="l">
              <a:buFont typeface="Arial" panose="020B0604020202020204" pitchFamily="34" charset="0"/>
              <a:buChar char="•"/>
            </a:pPr>
            <a:r>
              <a:rPr lang="en-US" sz="1400" b="0" dirty="0">
                <a:solidFill>
                  <a:srgbClr val="212121"/>
                </a:solidFill>
                <a:latin typeface="Grandview" panose="020B0502040204020203" pitchFamily="34" charset="0"/>
              </a:rPr>
              <a:t>Also, notice from the standardized coefficient beta (=-0.616), the coping frequency has significantly negative impact on overall stress i.e. increase in coping frequency causes the overall stress to reduce for our sample of students.</a:t>
            </a:r>
          </a:p>
          <a:p>
            <a:pPr marL="0" indent="0"/>
            <a:endParaRPr lang="en-US" sz="1400" dirty="0">
              <a:solidFill>
                <a:srgbClr val="212121"/>
              </a:solidFill>
              <a:latin typeface="Grandview" panose="020B0502040204020203" pitchFamily="34" charset="0"/>
            </a:endParaRPr>
          </a:p>
          <a:p>
            <a:pPr marL="0" indent="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a:p>
            <a:pPr marL="285750" indent="-285750"/>
            <a:endParaRPr lang="en-US" sz="1400" dirty="0">
              <a:solidFill>
                <a:srgbClr val="212121"/>
              </a:solidFill>
              <a:latin typeface="Grandview" panose="020B0502040204020203" pitchFamily="34" charset="0"/>
            </a:endParaRPr>
          </a:p>
        </p:txBody>
      </p:sp>
      <p:grpSp>
        <p:nvGrpSpPr>
          <p:cNvPr id="1728" name="Google Shape;1728;p44"/>
          <p:cNvGrpSpPr/>
          <p:nvPr/>
        </p:nvGrpSpPr>
        <p:grpSpPr>
          <a:xfrm>
            <a:off x="486229" y="310388"/>
            <a:ext cx="425875" cy="466752"/>
            <a:chOff x="6072409" y="4521978"/>
            <a:chExt cx="436705" cy="478622"/>
          </a:xfrm>
        </p:grpSpPr>
        <p:sp>
          <p:nvSpPr>
            <p:cNvPr id="1729" name="Google Shape;1729;p44"/>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4"/>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4"/>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4"/>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33" name="Google Shape;1733;p44"/>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4"/>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4"/>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4"/>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4"/>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aphicFrame>
        <p:nvGraphicFramePr>
          <p:cNvPr id="2" name="Table 1">
            <a:extLst>
              <a:ext uri="{FF2B5EF4-FFF2-40B4-BE49-F238E27FC236}">
                <a16:creationId xmlns:a16="http://schemas.microsoft.com/office/drawing/2014/main" id="{5A4DAF69-4BA4-8E79-73E3-8EEA7EB91D18}"/>
              </a:ext>
            </a:extLst>
          </p:cNvPr>
          <p:cNvGraphicFramePr>
            <a:graphicFrameLocks noGrp="1"/>
          </p:cNvGraphicFramePr>
          <p:nvPr>
            <p:extLst>
              <p:ext uri="{D42A27DB-BD31-4B8C-83A1-F6EECF244321}">
                <p14:modId xmlns:p14="http://schemas.microsoft.com/office/powerpoint/2010/main" val="1234458785"/>
              </p:ext>
            </p:extLst>
          </p:nvPr>
        </p:nvGraphicFramePr>
        <p:xfrm>
          <a:off x="1718538" y="593997"/>
          <a:ext cx="5706924" cy="1986208"/>
        </p:xfrm>
        <a:graphic>
          <a:graphicData uri="http://schemas.openxmlformats.org/drawingml/2006/table">
            <a:tbl>
              <a:tblPr>
                <a:tableStyleId>{3C2FFA5D-87B4-456A-9821-1D502468CF0F}</a:tableStyleId>
              </a:tblPr>
              <a:tblGrid>
                <a:gridCol w="791029">
                  <a:extLst>
                    <a:ext uri="{9D8B030D-6E8A-4147-A177-3AD203B41FA5}">
                      <a16:colId xmlns:a16="http://schemas.microsoft.com/office/drawing/2014/main" val="747112287"/>
                    </a:ext>
                  </a:extLst>
                </a:gridCol>
                <a:gridCol w="1451897">
                  <a:extLst>
                    <a:ext uri="{9D8B030D-6E8A-4147-A177-3AD203B41FA5}">
                      <a16:colId xmlns:a16="http://schemas.microsoft.com/office/drawing/2014/main" val="2207133577"/>
                    </a:ext>
                  </a:extLst>
                </a:gridCol>
                <a:gridCol w="815609">
                  <a:extLst>
                    <a:ext uri="{9D8B030D-6E8A-4147-A177-3AD203B41FA5}">
                      <a16:colId xmlns:a16="http://schemas.microsoft.com/office/drawing/2014/main" val="848204428"/>
                    </a:ext>
                  </a:extLst>
                </a:gridCol>
                <a:gridCol w="815609">
                  <a:extLst>
                    <a:ext uri="{9D8B030D-6E8A-4147-A177-3AD203B41FA5}">
                      <a16:colId xmlns:a16="http://schemas.microsoft.com/office/drawing/2014/main" val="1583164410"/>
                    </a:ext>
                  </a:extLst>
                </a:gridCol>
                <a:gridCol w="1017171">
                  <a:extLst>
                    <a:ext uri="{9D8B030D-6E8A-4147-A177-3AD203B41FA5}">
                      <a16:colId xmlns:a16="http://schemas.microsoft.com/office/drawing/2014/main" val="1254443490"/>
                    </a:ext>
                  </a:extLst>
                </a:gridCol>
                <a:gridCol w="815609">
                  <a:extLst>
                    <a:ext uri="{9D8B030D-6E8A-4147-A177-3AD203B41FA5}">
                      <a16:colId xmlns:a16="http://schemas.microsoft.com/office/drawing/2014/main" val="3465662305"/>
                    </a:ext>
                  </a:extLst>
                </a:gridCol>
              </a:tblGrid>
              <a:tr h="808457">
                <a:tc rowSpan="2" gridSpan="2">
                  <a:txBody>
                    <a:bodyPr/>
                    <a:lstStyle/>
                    <a:p>
                      <a:pPr algn="ctr" fontAlgn="b"/>
                      <a:r>
                        <a:rPr lang="en-IN" sz="1200" b="1" u="none" strike="noStrike" dirty="0">
                          <a:solidFill>
                            <a:schemeClr val="bg1"/>
                          </a:solidFill>
                          <a:effectLst/>
                          <a:latin typeface="Grandview" panose="020B0502040204020203" pitchFamily="34" charset="0"/>
                        </a:rPr>
                        <a:t>Model</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hMerge="1">
                  <a:txBody>
                    <a:bodyPr/>
                    <a:lstStyle/>
                    <a:p>
                      <a:endParaRPr lang="en-IN"/>
                    </a:p>
                  </a:txBody>
                  <a:tcPr/>
                </a:tc>
                <a:tc gridSpan="2">
                  <a:txBody>
                    <a:bodyPr/>
                    <a:lstStyle/>
                    <a:p>
                      <a:pPr algn="ctr" fontAlgn="b"/>
                      <a:r>
                        <a:rPr lang="en-IN" sz="1200" b="1" u="none" strike="noStrike" dirty="0">
                          <a:solidFill>
                            <a:schemeClr val="bg1"/>
                          </a:solidFill>
                          <a:effectLst/>
                          <a:latin typeface="Grandview" panose="020B0502040204020203" pitchFamily="34" charset="0"/>
                        </a:rPr>
                        <a:t>Unstandardized Coefficients</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lang="en-IN"/>
                    </a:p>
                  </a:txBody>
                  <a:tcPr/>
                </a:tc>
                <a:tc>
                  <a:txBody>
                    <a:bodyPr/>
                    <a:lstStyle/>
                    <a:p>
                      <a:pPr algn="ctr" fontAlgn="b"/>
                      <a:r>
                        <a:rPr lang="en-IN" sz="1200" b="1" u="none" strike="noStrike" dirty="0">
                          <a:solidFill>
                            <a:schemeClr val="bg1"/>
                          </a:solidFill>
                          <a:effectLst/>
                          <a:latin typeface="Grandview" panose="020B0502040204020203" pitchFamily="34" charset="0"/>
                        </a:rPr>
                        <a:t>Standardized Coefficients</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rowSpan="2">
                  <a:txBody>
                    <a:bodyPr/>
                    <a:lstStyle/>
                    <a:p>
                      <a:pPr algn="ctr" fontAlgn="b"/>
                      <a:r>
                        <a:rPr lang="en-IN" sz="1200" b="1" u="none" strike="noStrike" dirty="0">
                          <a:solidFill>
                            <a:schemeClr val="bg1"/>
                          </a:solidFill>
                          <a:effectLst/>
                          <a:latin typeface="Grandview" panose="020B0502040204020203" pitchFamily="34" charset="0"/>
                        </a:rPr>
                        <a:t>Sig.</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921785595"/>
                  </a:ext>
                </a:extLst>
              </a:tr>
              <a:tr h="249523">
                <a:tc gridSpan="2" vMerge="1">
                  <a:txBody>
                    <a:bodyPr/>
                    <a:lstStyle/>
                    <a:p>
                      <a:endParaRPr lang="en-IN"/>
                    </a:p>
                  </a:txBody>
                  <a:tcPr/>
                </a:tc>
                <a:tc hMerge="1" vMerge="1">
                  <a:txBody>
                    <a:bodyPr/>
                    <a:lstStyle/>
                    <a:p>
                      <a:endParaRPr lang="en-IN"/>
                    </a:p>
                  </a:txBody>
                  <a:tcPr/>
                </a:tc>
                <a:tc>
                  <a:txBody>
                    <a:bodyPr/>
                    <a:lstStyle/>
                    <a:p>
                      <a:pPr algn="ctr" fontAlgn="b"/>
                      <a:r>
                        <a:rPr lang="en-IN" sz="1200" b="1" u="none" strike="noStrike" dirty="0">
                          <a:solidFill>
                            <a:schemeClr val="bg1"/>
                          </a:solidFill>
                          <a:effectLst/>
                          <a:latin typeface="Grandview" panose="020B0502040204020203" pitchFamily="34" charset="0"/>
                        </a:rPr>
                        <a:t>B</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b"/>
                      <a:r>
                        <a:rPr lang="en-IN" sz="1200" b="1" u="none" strike="noStrike" dirty="0">
                          <a:solidFill>
                            <a:schemeClr val="bg1"/>
                          </a:solidFill>
                          <a:effectLst/>
                          <a:latin typeface="Grandview" panose="020B0502040204020203" pitchFamily="34" charset="0"/>
                        </a:rPr>
                        <a:t>Std. Error</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fontAlgn="b"/>
                      <a:r>
                        <a:rPr lang="en-IN" sz="1200" b="1" u="none" strike="noStrike" dirty="0">
                          <a:solidFill>
                            <a:schemeClr val="bg1"/>
                          </a:solidFill>
                          <a:effectLst/>
                          <a:latin typeface="Grandview" panose="020B0502040204020203" pitchFamily="34" charset="0"/>
                        </a:rPr>
                        <a:t>Beta</a:t>
                      </a:r>
                      <a:endParaRPr lang="en-IN" sz="1200" b="1" i="0" u="none" strike="noStrike" dirty="0">
                        <a:solidFill>
                          <a:schemeClr val="bg1"/>
                        </a:solidFill>
                        <a:effectLst/>
                        <a:latin typeface="Grandview" panose="020B0502040204020203"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vMerge="1">
                  <a:txBody>
                    <a:bodyPr/>
                    <a:lstStyle/>
                    <a:p>
                      <a:endParaRPr lang="en-IN"/>
                    </a:p>
                  </a:txBody>
                  <a:tcPr/>
                </a:tc>
                <a:extLst>
                  <a:ext uri="{0D108BD9-81ED-4DB2-BD59-A6C34878D82A}">
                    <a16:rowId xmlns:a16="http://schemas.microsoft.com/office/drawing/2014/main" val="1187962769"/>
                  </a:ext>
                </a:extLst>
              </a:tr>
              <a:tr h="419200">
                <a:tc rowSpan="2">
                  <a:txBody>
                    <a:bodyPr/>
                    <a:lstStyle/>
                    <a:p>
                      <a:pPr algn="ctr" fontAlgn="t"/>
                      <a:r>
                        <a:rPr lang="en-IN" sz="1200" u="none" strike="noStrike" dirty="0">
                          <a:effectLst/>
                          <a:latin typeface="Grandview" panose="020B0502040204020203" pitchFamily="34" charset="0"/>
                        </a:rPr>
                        <a:t>1</a:t>
                      </a:r>
                      <a:endParaRPr lang="en-IN" sz="1200" b="0" i="0" u="none" strike="noStrike" dirty="0">
                        <a:solidFill>
                          <a:srgbClr val="000000"/>
                        </a:solidFill>
                        <a:effectLst/>
                        <a:latin typeface="Grandview" panose="020B0502040204020203" pitchFamily="34" charset="0"/>
                      </a:endParaRP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t"/>
                      <a:r>
                        <a:rPr lang="en-IN" sz="1200" b="0" i="0" u="none" strike="noStrike" dirty="0">
                          <a:solidFill>
                            <a:srgbClr val="000000"/>
                          </a:solidFill>
                          <a:effectLst/>
                          <a:latin typeface="Grandview" panose="020B0502040204020203" pitchFamily="34" charset="0"/>
                        </a:rPr>
                        <a:t>(Constant)</a:t>
                      </a:r>
                    </a:p>
                  </a:txBody>
                  <a:tcPr marL="7620" marR="7620" marT="7620" marB="0" anchor="ctr">
                    <a:lnT w="12700" cap="flat" cmpd="sng" algn="ctr">
                      <a:solidFill>
                        <a:schemeClr val="tx1"/>
                      </a:solidFill>
                      <a:prstDash val="solid"/>
                      <a:round/>
                      <a:headEnd type="none" w="med" len="med"/>
                      <a:tailEnd type="none" w="med" len="med"/>
                    </a:lnT>
                    <a:solidFill>
                      <a:schemeClr val="tx1">
                        <a:lumMod val="10000"/>
                        <a:lumOff val="90000"/>
                      </a:schemeClr>
                    </a:solidFill>
                  </a:tcPr>
                </a:tc>
                <a:tc>
                  <a:txBody>
                    <a:bodyPr/>
                    <a:lstStyle/>
                    <a:p>
                      <a:pPr algn="ctr" fontAlgn="ctr"/>
                      <a:r>
                        <a:rPr lang="en-IN" sz="1200" b="0" i="0" u="none" strike="noStrike" dirty="0">
                          <a:solidFill>
                            <a:srgbClr val="000000"/>
                          </a:solidFill>
                          <a:effectLst/>
                          <a:latin typeface="Grandview" panose="020B0502040204020203" pitchFamily="34" charset="0"/>
                        </a:rPr>
                        <a:t>5.247</a:t>
                      </a: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ctr"/>
                      <a:r>
                        <a:rPr lang="en-IN" sz="1200" b="0" i="0" u="none" strike="noStrike" dirty="0">
                          <a:solidFill>
                            <a:srgbClr val="000000"/>
                          </a:solidFill>
                          <a:effectLst/>
                          <a:latin typeface="Grandview" panose="020B0502040204020203" pitchFamily="34" charset="0"/>
                        </a:rPr>
                        <a:t>.266</a:t>
                      </a: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ctr"/>
                      <a:r>
                        <a:rPr lang="en-IN" sz="1200" b="0" i="0" u="none" strike="noStrike">
                          <a:solidFill>
                            <a:srgbClr val="000000"/>
                          </a:solidFill>
                          <a:effectLst/>
                          <a:latin typeface="Grandview" panose="020B0502040204020203" pitchFamily="34" charset="0"/>
                        </a:rPr>
                        <a:t> </a:t>
                      </a:r>
                    </a:p>
                  </a:txBody>
                  <a:tcPr marL="7620" marR="7620" marT="7620" marB="0" anchor="ctr">
                    <a:lnT w="12700" cap="flat" cmpd="sng" algn="ctr">
                      <a:solidFill>
                        <a:schemeClr val="tx1"/>
                      </a:solidFill>
                      <a:prstDash val="solid"/>
                      <a:round/>
                      <a:headEnd type="none" w="med" len="med"/>
                      <a:tailEnd type="none" w="med" len="med"/>
                    </a:lnT>
                  </a:tcPr>
                </a:tc>
                <a:tc>
                  <a:txBody>
                    <a:bodyPr/>
                    <a:lstStyle/>
                    <a:p>
                      <a:pPr algn="ctr" fontAlgn="ctr"/>
                      <a:r>
                        <a:rPr lang="en-IN" sz="1200" b="0" i="0" u="none" strike="noStrike">
                          <a:solidFill>
                            <a:srgbClr val="000000"/>
                          </a:solidFill>
                          <a:effectLst/>
                          <a:latin typeface="Grandview" panose="020B0502040204020203" pitchFamily="34" charset="0"/>
                        </a:rPr>
                        <a:t>.000</a:t>
                      </a:r>
                    </a:p>
                  </a:txBody>
                  <a:tcPr marL="7620" marR="7620" marT="7620" marB="0"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543281774"/>
                  </a:ext>
                </a:extLst>
              </a:tr>
              <a:tr h="259505">
                <a:tc vMerge="1">
                  <a:txBody>
                    <a:bodyPr/>
                    <a:lstStyle/>
                    <a:p>
                      <a:endParaRPr lang="en-IN"/>
                    </a:p>
                  </a:txBody>
                  <a:tcPr/>
                </a:tc>
                <a:tc>
                  <a:txBody>
                    <a:bodyPr/>
                    <a:lstStyle/>
                    <a:p>
                      <a:pPr algn="ctr" fontAlgn="t"/>
                      <a:r>
                        <a:rPr lang="en-IN" sz="1200" b="0" i="0" u="none" strike="noStrike">
                          <a:solidFill>
                            <a:srgbClr val="000000"/>
                          </a:solidFill>
                          <a:effectLst/>
                          <a:latin typeface="Grandview" panose="020B0502040204020203" pitchFamily="34" charset="0"/>
                        </a:rPr>
                        <a:t>Coping_freq</a:t>
                      </a:r>
                    </a:p>
                  </a:txBody>
                  <a:tcPr marL="7620" marR="7620" marT="7620" marB="0" anchor="ctr">
                    <a:solidFill>
                      <a:schemeClr val="tx1">
                        <a:lumMod val="10000"/>
                        <a:lumOff val="90000"/>
                      </a:schemeClr>
                    </a:solidFill>
                  </a:tcPr>
                </a:tc>
                <a:tc>
                  <a:txBody>
                    <a:bodyPr/>
                    <a:lstStyle/>
                    <a:p>
                      <a:pPr algn="ctr" fontAlgn="ctr"/>
                      <a:r>
                        <a:rPr lang="en-IN" sz="1200" b="0" i="0" u="none" strike="noStrike">
                          <a:solidFill>
                            <a:srgbClr val="000000"/>
                          </a:solidFill>
                          <a:effectLst/>
                          <a:latin typeface="Grandview" panose="020B0502040204020203" pitchFamily="34" charset="0"/>
                        </a:rPr>
                        <a:t>-.795</a:t>
                      </a:r>
                    </a:p>
                  </a:txBody>
                  <a:tcPr marL="7620" marR="7620" marT="7620" marB="0" anchor="ctr"/>
                </a:tc>
                <a:tc>
                  <a:txBody>
                    <a:bodyPr/>
                    <a:lstStyle/>
                    <a:p>
                      <a:pPr algn="ctr" fontAlgn="ctr"/>
                      <a:r>
                        <a:rPr lang="en-IN" sz="1200" b="0" i="0" u="none" strike="noStrike" dirty="0">
                          <a:solidFill>
                            <a:srgbClr val="000000"/>
                          </a:solidFill>
                          <a:effectLst/>
                          <a:latin typeface="Grandview" panose="020B0502040204020203" pitchFamily="34" charset="0"/>
                        </a:rPr>
                        <a:t>.098</a:t>
                      </a:r>
                    </a:p>
                  </a:txBody>
                  <a:tcPr marL="7620" marR="7620" marT="7620" marB="0" anchor="ctr"/>
                </a:tc>
                <a:tc>
                  <a:txBody>
                    <a:bodyPr/>
                    <a:lstStyle/>
                    <a:p>
                      <a:pPr algn="ctr" fontAlgn="ctr"/>
                      <a:r>
                        <a:rPr lang="en-IN" sz="1200" b="0" i="0" u="none" strike="noStrike" dirty="0">
                          <a:solidFill>
                            <a:srgbClr val="000000"/>
                          </a:solidFill>
                          <a:effectLst/>
                          <a:latin typeface="Grandview" panose="020B0502040204020203" pitchFamily="34" charset="0"/>
                        </a:rPr>
                        <a:t>-.616</a:t>
                      </a:r>
                    </a:p>
                  </a:txBody>
                  <a:tcPr marL="7620" marR="7620" marT="7620" marB="0" anchor="ctr"/>
                </a:tc>
                <a:tc>
                  <a:txBody>
                    <a:bodyPr/>
                    <a:lstStyle/>
                    <a:p>
                      <a:pPr algn="ctr" fontAlgn="ctr"/>
                      <a:r>
                        <a:rPr lang="en-IN" sz="1200" b="0" i="0" u="none" strike="noStrike" dirty="0">
                          <a:solidFill>
                            <a:srgbClr val="000000"/>
                          </a:solidFill>
                          <a:effectLst/>
                          <a:latin typeface="Grandview" panose="020B0502040204020203" pitchFamily="34" charset="0"/>
                        </a:rPr>
                        <a:t>.000</a:t>
                      </a:r>
                    </a:p>
                  </a:txBody>
                  <a:tcPr marL="7620" marR="7620" marT="7620" marB="0" anchor="ctr"/>
                </a:tc>
                <a:extLst>
                  <a:ext uri="{0D108BD9-81ED-4DB2-BD59-A6C34878D82A}">
                    <a16:rowId xmlns:a16="http://schemas.microsoft.com/office/drawing/2014/main" val="766889074"/>
                  </a:ext>
                </a:extLst>
              </a:tr>
              <a:tr h="249523">
                <a:tc gridSpan="6">
                  <a:txBody>
                    <a:bodyPr/>
                    <a:lstStyle/>
                    <a:p>
                      <a:pPr algn="l" fontAlgn="t"/>
                      <a:r>
                        <a:rPr lang="en-IN" sz="1200" u="none" strike="noStrike" dirty="0">
                          <a:effectLst/>
                          <a:latin typeface="Grandview" panose="020B0502040204020203" pitchFamily="34" charset="0"/>
                        </a:rPr>
                        <a:t>a. Dependent Variable: </a:t>
                      </a:r>
                      <a:r>
                        <a:rPr lang="en-IN" sz="1200" u="none" strike="noStrike" dirty="0" err="1">
                          <a:effectLst/>
                          <a:latin typeface="Grandview" panose="020B0502040204020203" pitchFamily="34" charset="0"/>
                        </a:rPr>
                        <a:t>ovr_stress</a:t>
                      </a:r>
                      <a:endParaRPr lang="en-IN" sz="1200" b="0" i="0" u="none" strike="noStrike" dirty="0">
                        <a:solidFill>
                          <a:srgbClr val="000000"/>
                        </a:solidFill>
                        <a:effectLst/>
                        <a:latin typeface="Grandview" panose="020B0502040204020203" pitchFamily="34" charset="0"/>
                      </a:endParaRPr>
                    </a:p>
                  </a:txBody>
                  <a:tcPr marL="7620" marR="7620" marT="762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090291686"/>
                  </a:ext>
                </a:extLst>
              </a:tr>
            </a:tbl>
          </a:graphicData>
        </a:graphic>
      </p:graphicFrame>
      <p:grpSp>
        <p:nvGrpSpPr>
          <p:cNvPr id="3" name="Google Shape;1728;p44">
            <a:extLst>
              <a:ext uri="{FF2B5EF4-FFF2-40B4-BE49-F238E27FC236}">
                <a16:creationId xmlns:a16="http://schemas.microsoft.com/office/drawing/2014/main" id="{69B36E5F-CE7C-B552-1077-C17BE8DD3F77}"/>
              </a:ext>
            </a:extLst>
          </p:cNvPr>
          <p:cNvGrpSpPr/>
          <p:nvPr/>
        </p:nvGrpSpPr>
        <p:grpSpPr>
          <a:xfrm>
            <a:off x="8566725" y="3489017"/>
            <a:ext cx="425875" cy="466752"/>
            <a:chOff x="6072409" y="4521978"/>
            <a:chExt cx="436705" cy="478622"/>
          </a:xfrm>
        </p:grpSpPr>
        <p:sp>
          <p:nvSpPr>
            <p:cNvPr id="4" name="Google Shape;1729;p44">
              <a:extLst>
                <a:ext uri="{FF2B5EF4-FFF2-40B4-BE49-F238E27FC236}">
                  <a16:creationId xmlns:a16="http://schemas.microsoft.com/office/drawing/2014/main" id="{2080F555-12C4-EB84-0C49-FCCEF8CBBB2E}"/>
                </a:ext>
              </a:extLst>
            </p:cNvPr>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730;p44">
              <a:extLst>
                <a:ext uri="{FF2B5EF4-FFF2-40B4-BE49-F238E27FC236}">
                  <a16:creationId xmlns:a16="http://schemas.microsoft.com/office/drawing/2014/main" id="{3D552EC5-D428-AEA9-8AA1-CDB6084EE52B}"/>
                </a:ext>
              </a:extLst>
            </p:cNvPr>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731;p44">
              <a:extLst>
                <a:ext uri="{FF2B5EF4-FFF2-40B4-BE49-F238E27FC236}">
                  <a16:creationId xmlns:a16="http://schemas.microsoft.com/office/drawing/2014/main" id="{E6626611-17D5-8D50-D033-CBACE32E62CC}"/>
                </a:ext>
              </a:extLst>
            </p:cNvPr>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32;p44">
              <a:extLst>
                <a:ext uri="{FF2B5EF4-FFF2-40B4-BE49-F238E27FC236}">
                  <a16:creationId xmlns:a16="http://schemas.microsoft.com/office/drawing/2014/main" id="{3AE4F649-39CA-AE61-F1B5-3E2EE9C691FB}"/>
                </a:ext>
              </a:extLst>
            </p:cNvPr>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1733;p44">
              <a:extLst>
                <a:ext uri="{FF2B5EF4-FFF2-40B4-BE49-F238E27FC236}">
                  <a16:creationId xmlns:a16="http://schemas.microsoft.com/office/drawing/2014/main" id="{6E46C721-083A-7AC3-8750-E93696945589}"/>
                </a:ext>
              </a:extLst>
            </p:cNvPr>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34;p44">
              <a:extLst>
                <a:ext uri="{FF2B5EF4-FFF2-40B4-BE49-F238E27FC236}">
                  <a16:creationId xmlns:a16="http://schemas.microsoft.com/office/drawing/2014/main" id="{FE8E3614-6518-FC05-25A2-BC4A2FF1A6C0}"/>
                </a:ext>
              </a:extLst>
            </p:cNvPr>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35;p44">
              <a:extLst>
                <a:ext uri="{FF2B5EF4-FFF2-40B4-BE49-F238E27FC236}">
                  <a16:creationId xmlns:a16="http://schemas.microsoft.com/office/drawing/2014/main" id="{07E548A6-8391-2A8A-F9BC-907AAF6EFF45}"/>
                </a:ext>
              </a:extLst>
            </p:cNvPr>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36;p44">
              <a:extLst>
                <a:ext uri="{FF2B5EF4-FFF2-40B4-BE49-F238E27FC236}">
                  <a16:creationId xmlns:a16="http://schemas.microsoft.com/office/drawing/2014/main" id="{FC82C9CF-2A71-597C-4FD7-16668E581259}"/>
                </a:ext>
              </a:extLst>
            </p:cNvPr>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737;p44">
              <a:extLst>
                <a:ext uri="{FF2B5EF4-FFF2-40B4-BE49-F238E27FC236}">
                  <a16:creationId xmlns:a16="http://schemas.microsoft.com/office/drawing/2014/main" id="{5E0BCADE-973D-D6FA-3B36-7D1AEBE16DD2}"/>
                </a:ext>
              </a:extLst>
            </p:cNvPr>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TextBox 6">
            <a:extLst>
              <a:ext uri="{FF2B5EF4-FFF2-40B4-BE49-F238E27FC236}">
                <a16:creationId xmlns:a16="http://schemas.microsoft.com/office/drawing/2014/main" id="{7D9B5D06-DE29-24BF-0115-56C7276DE42A}"/>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32</a:t>
            </a:r>
            <a:endParaRPr lang="en-IN" dirty="0">
              <a:solidFill>
                <a:sysClr val="windowText" lastClr="000000"/>
              </a:solidFill>
            </a:endParaRPr>
          </a:p>
        </p:txBody>
      </p:sp>
    </p:spTree>
    <p:extLst>
      <p:ext uri="{BB962C8B-B14F-4D97-AF65-F5344CB8AC3E}">
        <p14:creationId xmlns:p14="http://schemas.microsoft.com/office/powerpoint/2010/main" val="3460635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12"/>
        <p:cNvGrpSpPr/>
        <p:nvPr/>
      </p:nvGrpSpPr>
      <p:grpSpPr>
        <a:xfrm>
          <a:off x="0" y="0"/>
          <a:ext cx="0" cy="0"/>
          <a:chOff x="0" y="0"/>
          <a:chExt cx="0" cy="0"/>
        </a:xfrm>
      </p:grpSpPr>
      <p:sp>
        <p:nvSpPr>
          <p:cNvPr id="57" name="Rectangle: Rounded Corners 56">
            <a:extLst>
              <a:ext uri="{FF2B5EF4-FFF2-40B4-BE49-F238E27FC236}">
                <a16:creationId xmlns:a16="http://schemas.microsoft.com/office/drawing/2014/main" id="{B9A78047-E29B-2878-C2DB-68F4B82DEDD9}"/>
              </a:ext>
            </a:extLst>
          </p:cNvPr>
          <p:cNvSpPr/>
          <p:nvPr/>
        </p:nvSpPr>
        <p:spPr>
          <a:xfrm>
            <a:off x="188686" y="986971"/>
            <a:ext cx="8817428" cy="351971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990C69ED-4047-6105-7405-A164CBF16635}"/>
              </a:ext>
            </a:extLst>
          </p:cNvPr>
          <p:cNvSpPr/>
          <p:nvPr/>
        </p:nvSpPr>
        <p:spPr>
          <a:xfrm>
            <a:off x="1792514" y="186066"/>
            <a:ext cx="5558970" cy="54528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13" name="Google Shape;1713;p43"/>
          <p:cNvSpPr txBox="1">
            <a:spLocks noGrp="1"/>
          </p:cNvSpPr>
          <p:nvPr>
            <p:ph type="body" idx="1"/>
          </p:nvPr>
        </p:nvSpPr>
        <p:spPr>
          <a:xfrm>
            <a:off x="1390474" y="186066"/>
            <a:ext cx="6363051" cy="422013"/>
          </a:xfrm>
          <a:prstGeom prst="rect">
            <a:avLst/>
          </a:prstGeom>
        </p:spPr>
        <p:txBody>
          <a:bodyPr spcFirstLastPara="1" wrap="square" lIns="91425" tIns="91425" rIns="91425" bIns="91425" anchor="t" anchorCtr="0">
            <a:noAutofit/>
          </a:bodyPr>
          <a:lstStyle/>
          <a:p>
            <a:pPr marL="0" indent="0" algn="ctr">
              <a:buNone/>
            </a:pPr>
            <a:r>
              <a:rPr lang="en-US" sz="2000" b="1" u="sng" dirty="0">
                <a:solidFill>
                  <a:schemeClr val="accent3">
                    <a:lumMod val="60000"/>
                    <a:lumOff val="40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SOME COPING MECHANISMS !</a:t>
            </a:r>
          </a:p>
        </p:txBody>
      </p:sp>
      <p:sp>
        <p:nvSpPr>
          <p:cNvPr id="5" name="Google Shape;2206;p54">
            <a:extLst>
              <a:ext uri="{FF2B5EF4-FFF2-40B4-BE49-F238E27FC236}">
                <a16:creationId xmlns:a16="http://schemas.microsoft.com/office/drawing/2014/main" id="{69A5FD60-D835-9D43-CC3B-E565BB7F258E}"/>
              </a:ext>
            </a:extLst>
          </p:cNvPr>
          <p:cNvSpPr/>
          <p:nvPr/>
        </p:nvSpPr>
        <p:spPr>
          <a:xfrm>
            <a:off x="3558903" y="1597577"/>
            <a:ext cx="2225040" cy="2171999"/>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TextBox 1">
            <a:extLst>
              <a:ext uri="{FF2B5EF4-FFF2-40B4-BE49-F238E27FC236}">
                <a16:creationId xmlns:a16="http://schemas.microsoft.com/office/drawing/2014/main" id="{74EB7828-92D3-C0EA-DB7F-C81504414B65}"/>
              </a:ext>
            </a:extLst>
          </p:cNvPr>
          <p:cNvSpPr txBox="1"/>
          <p:nvPr/>
        </p:nvSpPr>
        <p:spPr>
          <a:xfrm>
            <a:off x="6419096" y="1562506"/>
            <a:ext cx="2218877"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dirty="0">
                <a:solidFill>
                  <a:schemeClr val="tx1"/>
                </a:solidFill>
                <a:latin typeface="Grandview" panose="020B0502040204020203" pitchFamily="34" charset="0"/>
              </a:rPr>
              <a:t>Talking to a friend/family</a:t>
            </a:r>
          </a:p>
        </p:txBody>
      </p:sp>
      <p:sp>
        <p:nvSpPr>
          <p:cNvPr id="3" name="TextBox 2">
            <a:extLst>
              <a:ext uri="{FF2B5EF4-FFF2-40B4-BE49-F238E27FC236}">
                <a16:creationId xmlns:a16="http://schemas.microsoft.com/office/drawing/2014/main" id="{6900093E-A601-E8AC-1576-506FA0D953B6}"/>
              </a:ext>
            </a:extLst>
          </p:cNvPr>
          <p:cNvSpPr txBox="1"/>
          <p:nvPr/>
        </p:nvSpPr>
        <p:spPr>
          <a:xfrm>
            <a:off x="1498938" y="3784337"/>
            <a:ext cx="1816523"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dirty="0">
                <a:solidFill>
                  <a:schemeClr val="tx1"/>
                </a:solidFill>
                <a:latin typeface="Grandview" panose="020B0502040204020203" pitchFamily="34" charset="0"/>
              </a:rPr>
              <a:t>Family Expectations</a:t>
            </a:r>
          </a:p>
        </p:txBody>
      </p:sp>
      <p:sp>
        <p:nvSpPr>
          <p:cNvPr id="4" name="TextBox 3">
            <a:extLst>
              <a:ext uri="{FF2B5EF4-FFF2-40B4-BE49-F238E27FC236}">
                <a16:creationId xmlns:a16="http://schemas.microsoft.com/office/drawing/2014/main" id="{448AE918-7075-F329-BDB1-6CD7092C4850}"/>
              </a:ext>
            </a:extLst>
          </p:cNvPr>
          <p:cNvSpPr txBox="1"/>
          <p:nvPr/>
        </p:nvSpPr>
        <p:spPr>
          <a:xfrm>
            <a:off x="6931920" y="2529687"/>
            <a:ext cx="1661032"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dirty="0">
                <a:solidFill>
                  <a:schemeClr val="tx1"/>
                </a:solidFill>
                <a:latin typeface="Grandview" panose="020B0502040204020203" pitchFamily="34" charset="0"/>
              </a:rPr>
              <a:t>Listening to music</a:t>
            </a:r>
          </a:p>
        </p:txBody>
      </p:sp>
      <p:sp>
        <p:nvSpPr>
          <p:cNvPr id="32" name="TextBox 31">
            <a:extLst>
              <a:ext uri="{FF2B5EF4-FFF2-40B4-BE49-F238E27FC236}">
                <a16:creationId xmlns:a16="http://schemas.microsoft.com/office/drawing/2014/main" id="{81FBF42B-2DCD-A5B6-1D41-B70CDE72E534}"/>
              </a:ext>
            </a:extLst>
          </p:cNvPr>
          <p:cNvSpPr txBox="1"/>
          <p:nvPr/>
        </p:nvSpPr>
        <p:spPr>
          <a:xfrm>
            <a:off x="5894262" y="3784336"/>
            <a:ext cx="175080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dirty="0">
                <a:solidFill>
                  <a:schemeClr val="tx1"/>
                </a:solidFill>
                <a:latin typeface="Grandview" panose="020B0502040204020203" pitchFamily="34" charset="0"/>
              </a:rPr>
              <a:t>Meditation / Prayer</a:t>
            </a:r>
          </a:p>
        </p:txBody>
      </p:sp>
      <p:sp>
        <p:nvSpPr>
          <p:cNvPr id="34" name="TextBox 33">
            <a:extLst>
              <a:ext uri="{FF2B5EF4-FFF2-40B4-BE49-F238E27FC236}">
                <a16:creationId xmlns:a16="http://schemas.microsoft.com/office/drawing/2014/main" id="{75F2A6A6-F0D4-11ED-9343-86EACA9BE7C5}"/>
              </a:ext>
            </a:extLst>
          </p:cNvPr>
          <p:cNvSpPr txBox="1"/>
          <p:nvPr/>
        </p:nvSpPr>
        <p:spPr>
          <a:xfrm>
            <a:off x="1111084" y="1562506"/>
            <a:ext cx="1600118"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r>
              <a:rPr lang="en-IN" dirty="0">
                <a:solidFill>
                  <a:schemeClr val="tx1"/>
                </a:solidFill>
                <a:latin typeface="Grandview" panose="020B0502040204020203" pitchFamily="34" charset="0"/>
              </a:rPr>
              <a:t>Physical Exercise</a:t>
            </a:r>
          </a:p>
        </p:txBody>
      </p:sp>
      <p:sp>
        <p:nvSpPr>
          <p:cNvPr id="35" name="TextBox 34">
            <a:extLst>
              <a:ext uri="{FF2B5EF4-FFF2-40B4-BE49-F238E27FC236}">
                <a16:creationId xmlns:a16="http://schemas.microsoft.com/office/drawing/2014/main" id="{3D086D51-F95F-E8CE-205A-2A61C22A4545}"/>
              </a:ext>
            </a:extLst>
          </p:cNvPr>
          <p:cNvSpPr txBox="1"/>
          <p:nvPr/>
        </p:nvSpPr>
        <p:spPr>
          <a:xfrm>
            <a:off x="559958" y="2421966"/>
            <a:ext cx="1661032" cy="52322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none" rtlCol="0">
            <a:spAutoFit/>
          </a:bodyPr>
          <a:lstStyle/>
          <a:p>
            <a:pPr algn="ctr"/>
            <a:r>
              <a:rPr lang="en-IN" dirty="0">
                <a:solidFill>
                  <a:schemeClr val="tx1"/>
                </a:solidFill>
                <a:latin typeface="Grandview" panose="020B0502040204020203" pitchFamily="34" charset="0"/>
              </a:rPr>
              <a:t>Time Management</a:t>
            </a:r>
          </a:p>
          <a:p>
            <a:pPr algn="ctr"/>
            <a:r>
              <a:rPr lang="en-IN" dirty="0">
                <a:solidFill>
                  <a:schemeClr val="tx1"/>
                </a:solidFill>
                <a:latin typeface="Grandview" panose="020B0502040204020203" pitchFamily="34" charset="0"/>
              </a:rPr>
              <a:t>Strategies </a:t>
            </a:r>
          </a:p>
        </p:txBody>
      </p:sp>
      <p:pic>
        <p:nvPicPr>
          <p:cNvPr id="38" name="Picture 37">
            <a:extLst>
              <a:ext uri="{FF2B5EF4-FFF2-40B4-BE49-F238E27FC236}">
                <a16:creationId xmlns:a16="http://schemas.microsoft.com/office/drawing/2014/main" id="{772BD6F5-26C8-0435-883D-92C4BFA8220C}"/>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3743907" y="1848281"/>
            <a:ext cx="1793490" cy="1834562"/>
          </a:xfrm>
          <a:prstGeom prst="ellipse">
            <a:avLst/>
          </a:prstGeom>
        </p:spPr>
      </p:pic>
      <p:grpSp>
        <p:nvGrpSpPr>
          <p:cNvPr id="22" name="Google Shape;2263;p54">
            <a:extLst>
              <a:ext uri="{FF2B5EF4-FFF2-40B4-BE49-F238E27FC236}">
                <a16:creationId xmlns:a16="http://schemas.microsoft.com/office/drawing/2014/main" id="{4EF0F77D-A8D2-3B18-6882-51B87C9B841B}"/>
              </a:ext>
            </a:extLst>
          </p:cNvPr>
          <p:cNvGrpSpPr/>
          <p:nvPr/>
        </p:nvGrpSpPr>
        <p:grpSpPr>
          <a:xfrm>
            <a:off x="3626778" y="1760073"/>
            <a:ext cx="414318" cy="429915"/>
            <a:chOff x="6072409" y="4521978"/>
            <a:chExt cx="436705" cy="478622"/>
          </a:xfrm>
          <a:solidFill>
            <a:schemeClr val="accent3">
              <a:lumMod val="75000"/>
            </a:schemeClr>
          </a:solidFill>
        </p:grpSpPr>
        <p:sp>
          <p:nvSpPr>
            <p:cNvPr id="23" name="Google Shape;2264;p54">
              <a:extLst>
                <a:ext uri="{FF2B5EF4-FFF2-40B4-BE49-F238E27FC236}">
                  <a16:creationId xmlns:a16="http://schemas.microsoft.com/office/drawing/2014/main" id="{4184B7BC-825C-2AD4-B72C-D0D09B6CD027}"/>
                </a:ext>
              </a:extLst>
            </p:cNvPr>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265;p54">
              <a:extLst>
                <a:ext uri="{FF2B5EF4-FFF2-40B4-BE49-F238E27FC236}">
                  <a16:creationId xmlns:a16="http://schemas.microsoft.com/office/drawing/2014/main" id="{A2CEC4EA-BB87-D2D4-EC61-B12858712BB4}"/>
                </a:ext>
              </a:extLst>
            </p:cNvPr>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266;p54">
              <a:extLst>
                <a:ext uri="{FF2B5EF4-FFF2-40B4-BE49-F238E27FC236}">
                  <a16:creationId xmlns:a16="http://schemas.microsoft.com/office/drawing/2014/main" id="{3AE9D2AF-1BC0-B5DA-2C71-93AA26DB47DD}"/>
                </a:ext>
              </a:extLst>
            </p:cNvPr>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267;p54">
              <a:extLst>
                <a:ext uri="{FF2B5EF4-FFF2-40B4-BE49-F238E27FC236}">
                  <a16:creationId xmlns:a16="http://schemas.microsoft.com/office/drawing/2014/main" id="{F0E9A95F-A5E4-7552-C14C-63FFB467E7D5}"/>
                </a:ext>
              </a:extLst>
            </p:cNvPr>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268;p54">
              <a:extLst>
                <a:ext uri="{FF2B5EF4-FFF2-40B4-BE49-F238E27FC236}">
                  <a16:creationId xmlns:a16="http://schemas.microsoft.com/office/drawing/2014/main" id="{F46F9EDC-D78C-8604-7A29-ABD9296666A2}"/>
                </a:ext>
              </a:extLst>
            </p:cNvPr>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8" name="Google Shape;2269;p54">
              <a:extLst>
                <a:ext uri="{FF2B5EF4-FFF2-40B4-BE49-F238E27FC236}">
                  <a16:creationId xmlns:a16="http://schemas.microsoft.com/office/drawing/2014/main" id="{383927AE-2CDD-C9E0-3E93-103EA3EAB7A8}"/>
                </a:ext>
              </a:extLst>
            </p:cNvPr>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270;p54">
              <a:extLst>
                <a:ext uri="{FF2B5EF4-FFF2-40B4-BE49-F238E27FC236}">
                  <a16:creationId xmlns:a16="http://schemas.microsoft.com/office/drawing/2014/main" id="{6CF68FA0-ED95-2BD5-6988-BFC64A39DD4C}"/>
                </a:ext>
              </a:extLst>
            </p:cNvPr>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271;p54">
              <a:extLst>
                <a:ext uri="{FF2B5EF4-FFF2-40B4-BE49-F238E27FC236}">
                  <a16:creationId xmlns:a16="http://schemas.microsoft.com/office/drawing/2014/main" id="{735F61BD-D0A9-5854-6BD4-C409B0BC2BA0}"/>
                </a:ext>
              </a:extLst>
            </p:cNvPr>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272;p54">
              <a:extLst>
                <a:ext uri="{FF2B5EF4-FFF2-40B4-BE49-F238E27FC236}">
                  <a16:creationId xmlns:a16="http://schemas.microsoft.com/office/drawing/2014/main" id="{58AAF32F-012C-1C00-4144-511058C08778}"/>
                </a:ext>
              </a:extLst>
            </p:cNvPr>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oogle Shape;2207;p54">
            <a:extLst>
              <a:ext uri="{FF2B5EF4-FFF2-40B4-BE49-F238E27FC236}">
                <a16:creationId xmlns:a16="http://schemas.microsoft.com/office/drawing/2014/main" id="{98156BF0-0027-CB1E-E509-F9677C67F88D}"/>
              </a:ext>
            </a:extLst>
          </p:cNvPr>
          <p:cNvGrpSpPr/>
          <p:nvPr/>
        </p:nvGrpSpPr>
        <p:grpSpPr>
          <a:xfrm>
            <a:off x="5174177" y="3388132"/>
            <a:ext cx="444914" cy="343294"/>
            <a:chOff x="5055851" y="4604108"/>
            <a:chExt cx="602024" cy="466733"/>
          </a:xfrm>
          <a:solidFill>
            <a:schemeClr val="accent1"/>
          </a:solidFill>
        </p:grpSpPr>
        <p:sp>
          <p:nvSpPr>
            <p:cNvPr id="7" name="Google Shape;2208;p54">
              <a:extLst>
                <a:ext uri="{FF2B5EF4-FFF2-40B4-BE49-F238E27FC236}">
                  <a16:creationId xmlns:a16="http://schemas.microsoft.com/office/drawing/2014/main" id="{377F0BDE-B995-E39D-9F5E-E798BBFA3184}"/>
                </a:ext>
              </a:extLst>
            </p:cNvPr>
            <p:cNvSpPr/>
            <p:nvPr/>
          </p:nvSpPr>
          <p:spPr>
            <a:xfrm rot="5400000">
              <a:off x="5584449" y="4603989"/>
              <a:ext cx="73307" cy="73544"/>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209;p54">
              <a:extLst>
                <a:ext uri="{FF2B5EF4-FFF2-40B4-BE49-F238E27FC236}">
                  <a16:creationId xmlns:a16="http://schemas.microsoft.com/office/drawing/2014/main" id="{40EE1521-F957-FAC2-0963-B8E1DB00C9F2}"/>
                </a:ext>
              </a:extLst>
            </p:cNvPr>
            <p:cNvSpPr/>
            <p:nvPr/>
          </p:nvSpPr>
          <p:spPr>
            <a:xfrm rot="5400000">
              <a:off x="5584340" y="4800702"/>
              <a:ext cx="73524" cy="73544"/>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210;p54">
              <a:extLst>
                <a:ext uri="{FF2B5EF4-FFF2-40B4-BE49-F238E27FC236}">
                  <a16:creationId xmlns:a16="http://schemas.microsoft.com/office/drawing/2014/main" id="{0861647C-7A0F-5E40-F290-6DD78BAECC94}"/>
                </a:ext>
              </a:extLst>
            </p:cNvPr>
            <p:cNvSpPr/>
            <p:nvPr/>
          </p:nvSpPr>
          <p:spPr>
            <a:xfrm rot="5400000">
              <a:off x="5584449" y="4997415"/>
              <a:ext cx="73307" cy="73544"/>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211;p54">
              <a:extLst>
                <a:ext uri="{FF2B5EF4-FFF2-40B4-BE49-F238E27FC236}">
                  <a16:creationId xmlns:a16="http://schemas.microsoft.com/office/drawing/2014/main" id="{69E3ADF8-4F1C-8133-1B50-61E878037F14}"/>
                </a:ext>
              </a:extLst>
            </p:cNvPr>
            <p:cNvSpPr/>
            <p:nvPr/>
          </p:nvSpPr>
          <p:spPr>
            <a:xfrm rot="5400000">
              <a:off x="5408292" y="4603999"/>
              <a:ext cx="73307" cy="73524"/>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212;p54">
              <a:extLst>
                <a:ext uri="{FF2B5EF4-FFF2-40B4-BE49-F238E27FC236}">
                  <a16:creationId xmlns:a16="http://schemas.microsoft.com/office/drawing/2014/main" id="{06DD5153-3A74-D14B-62C0-404025586F3B}"/>
                </a:ext>
              </a:extLst>
            </p:cNvPr>
            <p:cNvSpPr/>
            <p:nvPr/>
          </p:nvSpPr>
          <p:spPr>
            <a:xfrm rot="5400000">
              <a:off x="5408184" y="4800712"/>
              <a:ext cx="73524" cy="73524"/>
            </a:xfrm>
            <a:custGeom>
              <a:avLst/>
              <a:gdLst/>
              <a:ahLst/>
              <a:cxnLst/>
              <a:rect l="l" t="t" r="r" b="b"/>
              <a:pathLst>
                <a:path w="3727" h="3727" extrusionOk="0">
                  <a:moveTo>
                    <a:pt x="1857" y="0"/>
                  </a:moveTo>
                  <a:cubicBezTo>
                    <a:pt x="834" y="0"/>
                    <a:pt x="0" y="834"/>
                    <a:pt x="0" y="1858"/>
                  </a:cubicBezTo>
                  <a:cubicBezTo>
                    <a:pt x="0" y="2893"/>
                    <a:pt x="834" y="3727"/>
                    <a:pt x="1857" y="3727"/>
                  </a:cubicBezTo>
                  <a:cubicBezTo>
                    <a:pt x="2893" y="3727"/>
                    <a:pt x="3727" y="2893"/>
                    <a:pt x="3727" y="1858"/>
                  </a:cubicBezTo>
                  <a:cubicBezTo>
                    <a:pt x="3727" y="834"/>
                    <a:pt x="2893" y="0"/>
                    <a:pt x="18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213;p54">
              <a:extLst>
                <a:ext uri="{FF2B5EF4-FFF2-40B4-BE49-F238E27FC236}">
                  <a16:creationId xmlns:a16="http://schemas.microsoft.com/office/drawing/2014/main" id="{DDF1D5FA-3B1D-7B74-61B0-F692A44C5E94}"/>
                </a:ext>
              </a:extLst>
            </p:cNvPr>
            <p:cNvSpPr/>
            <p:nvPr/>
          </p:nvSpPr>
          <p:spPr>
            <a:xfrm rot="5400000">
              <a:off x="5408292" y="4997425"/>
              <a:ext cx="73307" cy="73524"/>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214;p54">
              <a:extLst>
                <a:ext uri="{FF2B5EF4-FFF2-40B4-BE49-F238E27FC236}">
                  <a16:creationId xmlns:a16="http://schemas.microsoft.com/office/drawing/2014/main" id="{4C92D0B8-D807-254C-80FF-B3F05ABCF0EA}"/>
                </a:ext>
              </a:extLst>
            </p:cNvPr>
            <p:cNvSpPr/>
            <p:nvPr/>
          </p:nvSpPr>
          <p:spPr>
            <a:xfrm rot="5400000">
              <a:off x="5232136" y="4603989"/>
              <a:ext cx="73307" cy="73544"/>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215;p54">
              <a:extLst>
                <a:ext uri="{FF2B5EF4-FFF2-40B4-BE49-F238E27FC236}">
                  <a16:creationId xmlns:a16="http://schemas.microsoft.com/office/drawing/2014/main" id="{A38AF451-3DC6-F19D-3A39-165EDB74523D}"/>
                </a:ext>
              </a:extLst>
            </p:cNvPr>
            <p:cNvSpPr/>
            <p:nvPr/>
          </p:nvSpPr>
          <p:spPr>
            <a:xfrm rot="5400000">
              <a:off x="5232027" y="4800702"/>
              <a:ext cx="73524" cy="73544"/>
            </a:xfrm>
            <a:custGeom>
              <a:avLst/>
              <a:gdLst/>
              <a:ahLst/>
              <a:cxnLst/>
              <a:rect l="l" t="t" r="r" b="b"/>
              <a:pathLst>
                <a:path w="3727" h="3728" extrusionOk="0">
                  <a:moveTo>
                    <a:pt x="1857" y="1"/>
                  </a:moveTo>
                  <a:cubicBezTo>
                    <a:pt x="834" y="1"/>
                    <a:pt x="0" y="834"/>
                    <a:pt x="0" y="1858"/>
                  </a:cubicBezTo>
                  <a:cubicBezTo>
                    <a:pt x="0" y="2894"/>
                    <a:pt x="834" y="3727"/>
                    <a:pt x="1857" y="3727"/>
                  </a:cubicBezTo>
                  <a:cubicBezTo>
                    <a:pt x="2893" y="3727"/>
                    <a:pt x="3727" y="2894"/>
                    <a:pt x="3727" y="1858"/>
                  </a:cubicBezTo>
                  <a:cubicBezTo>
                    <a:pt x="3727" y="834"/>
                    <a:pt x="2893" y="1"/>
                    <a:pt x="185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216;p54">
              <a:extLst>
                <a:ext uri="{FF2B5EF4-FFF2-40B4-BE49-F238E27FC236}">
                  <a16:creationId xmlns:a16="http://schemas.microsoft.com/office/drawing/2014/main" id="{11819D8D-4356-1F2C-550C-2FDABFE48C34}"/>
                </a:ext>
              </a:extLst>
            </p:cNvPr>
            <p:cNvSpPr/>
            <p:nvPr/>
          </p:nvSpPr>
          <p:spPr>
            <a:xfrm rot="5400000">
              <a:off x="5232136" y="4997415"/>
              <a:ext cx="73307" cy="73544"/>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217;p54">
              <a:extLst>
                <a:ext uri="{FF2B5EF4-FFF2-40B4-BE49-F238E27FC236}">
                  <a16:creationId xmlns:a16="http://schemas.microsoft.com/office/drawing/2014/main" id="{304970B9-C8F8-C1AD-2EBB-45164C68CAB9}"/>
                </a:ext>
              </a:extLst>
            </p:cNvPr>
            <p:cNvSpPr/>
            <p:nvPr/>
          </p:nvSpPr>
          <p:spPr>
            <a:xfrm rot="5400000">
              <a:off x="5055969" y="4603989"/>
              <a:ext cx="73307" cy="73544"/>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218;p54">
              <a:extLst>
                <a:ext uri="{FF2B5EF4-FFF2-40B4-BE49-F238E27FC236}">
                  <a16:creationId xmlns:a16="http://schemas.microsoft.com/office/drawing/2014/main" id="{6C8C7E48-0025-EAA2-A08C-B944CF0089F2}"/>
                </a:ext>
              </a:extLst>
            </p:cNvPr>
            <p:cNvSpPr/>
            <p:nvPr/>
          </p:nvSpPr>
          <p:spPr>
            <a:xfrm rot="5400000">
              <a:off x="5055861" y="4800702"/>
              <a:ext cx="73524" cy="73544"/>
            </a:xfrm>
            <a:custGeom>
              <a:avLst/>
              <a:gdLst/>
              <a:ahLst/>
              <a:cxnLst/>
              <a:rect l="l" t="t" r="r" b="b"/>
              <a:pathLst>
                <a:path w="3727" h="3728" extrusionOk="0">
                  <a:moveTo>
                    <a:pt x="1857" y="0"/>
                  </a:moveTo>
                  <a:cubicBezTo>
                    <a:pt x="834" y="0"/>
                    <a:pt x="0" y="834"/>
                    <a:pt x="0" y="1858"/>
                  </a:cubicBezTo>
                  <a:cubicBezTo>
                    <a:pt x="0" y="2894"/>
                    <a:pt x="834" y="3727"/>
                    <a:pt x="1857" y="3727"/>
                  </a:cubicBezTo>
                  <a:cubicBezTo>
                    <a:pt x="2893" y="3727"/>
                    <a:pt x="3727" y="2894"/>
                    <a:pt x="3727" y="1858"/>
                  </a:cubicBezTo>
                  <a:cubicBezTo>
                    <a:pt x="3727" y="834"/>
                    <a:pt x="2893" y="0"/>
                    <a:pt x="185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219;p54">
              <a:extLst>
                <a:ext uri="{FF2B5EF4-FFF2-40B4-BE49-F238E27FC236}">
                  <a16:creationId xmlns:a16="http://schemas.microsoft.com/office/drawing/2014/main" id="{1ED0D216-55E4-83FF-A9D4-D1B14892B289}"/>
                </a:ext>
              </a:extLst>
            </p:cNvPr>
            <p:cNvSpPr/>
            <p:nvPr/>
          </p:nvSpPr>
          <p:spPr>
            <a:xfrm rot="5400000">
              <a:off x="5055969" y="4997415"/>
              <a:ext cx="73307" cy="73544"/>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 name="Connector: Elbow 39">
            <a:extLst>
              <a:ext uri="{FF2B5EF4-FFF2-40B4-BE49-F238E27FC236}">
                <a16:creationId xmlns:a16="http://schemas.microsoft.com/office/drawing/2014/main" id="{A1F461F1-A039-DA22-E8FC-C87FC86DCF2A}"/>
              </a:ext>
            </a:extLst>
          </p:cNvPr>
          <p:cNvCxnSpPr>
            <a:stCxn id="5" idx="2"/>
            <a:endCxn id="34" idx="3"/>
          </p:cNvCxnSpPr>
          <p:nvPr/>
        </p:nvCxnSpPr>
        <p:spPr>
          <a:xfrm rot="10800000">
            <a:off x="2711203" y="1716395"/>
            <a:ext cx="847701" cy="967182"/>
          </a:xfrm>
          <a:prstGeom prst="bentConnector3">
            <a:avLst>
              <a:gd name="adj1" fmla="val 149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952E52D7-6193-C52B-8753-9E8D59591454}"/>
              </a:ext>
            </a:extLst>
          </p:cNvPr>
          <p:cNvCxnSpPr>
            <a:stCxn id="5" idx="2"/>
            <a:endCxn id="35" idx="3"/>
          </p:cNvCxnSpPr>
          <p:nvPr/>
        </p:nvCxnSpPr>
        <p:spPr>
          <a:xfrm rot="10800000">
            <a:off x="2220991" y="2683577"/>
            <a:ext cx="1337913"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50A3D574-A57A-A97E-0FE2-F4C777AD82C3}"/>
              </a:ext>
            </a:extLst>
          </p:cNvPr>
          <p:cNvCxnSpPr>
            <a:stCxn id="5" idx="2"/>
            <a:endCxn id="3" idx="3"/>
          </p:cNvCxnSpPr>
          <p:nvPr/>
        </p:nvCxnSpPr>
        <p:spPr>
          <a:xfrm rot="10800000" flipV="1">
            <a:off x="3315461" y="2683576"/>
            <a:ext cx="243442" cy="1254649"/>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22336A80-F5B5-2BCA-88CE-79D9C276F3C9}"/>
              </a:ext>
            </a:extLst>
          </p:cNvPr>
          <p:cNvCxnSpPr>
            <a:stCxn id="5" idx="6"/>
            <a:endCxn id="2" idx="1"/>
          </p:cNvCxnSpPr>
          <p:nvPr/>
        </p:nvCxnSpPr>
        <p:spPr>
          <a:xfrm flipV="1">
            <a:off x="5783943" y="1716395"/>
            <a:ext cx="635153" cy="967182"/>
          </a:xfrm>
          <a:prstGeom prst="bentConnector3">
            <a:avLst>
              <a:gd name="adj1" fmla="val 886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2C0D49ED-EF61-C9E1-5699-43F45FB46C47}"/>
              </a:ext>
            </a:extLst>
          </p:cNvPr>
          <p:cNvCxnSpPr>
            <a:stCxn id="5" idx="6"/>
            <a:endCxn id="4" idx="1"/>
          </p:cNvCxnSpPr>
          <p:nvPr/>
        </p:nvCxnSpPr>
        <p:spPr>
          <a:xfrm flipV="1">
            <a:off x="5783943" y="2683576"/>
            <a:ext cx="1147977" cy="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B5E0172E-DAD8-36B7-320F-9574B36A9989}"/>
              </a:ext>
            </a:extLst>
          </p:cNvPr>
          <p:cNvCxnSpPr>
            <a:stCxn id="5" idx="6"/>
            <a:endCxn id="32" idx="1"/>
          </p:cNvCxnSpPr>
          <p:nvPr/>
        </p:nvCxnSpPr>
        <p:spPr>
          <a:xfrm>
            <a:off x="5783943" y="2683577"/>
            <a:ext cx="110319" cy="12546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B6BB776-10A0-DFFF-EFBB-52B58353EEA3}"/>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33</a:t>
            </a:r>
            <a:endParaRPr lang="en-IN" dirty="0">
              <a:solidFill>
                <a:sysClr val="windowText" lastClr="000000"/>
              </a:solidFill>
            </a:endParaRPr>
          </a:p>
        </p:txBody>
      </p:sp>
    </p:spTree>
    <p:extLst>
      <p:ext uri="{BB962C8B-B14F-4D97-AF65-F5344CB8AC3E}">
        <p14:creationId xmlns:p14="http://schemas.microsoft.com/office/powerpoint/2010/main" val="3222475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73EC57-0AD2-3CC8-DCD6-FF3827CD4431}"/>
              </a:ext>
            </a:extLst>
          </p:cNvPr>
          <p:cNvSpPr>
            <a:spLocks noGrp="1"/>
          </p:cNvSpPr>
          <p:nvPr>
            <p:ph type="body" idx="1"/>
          </p:nvPr>
        </p:nvSpPr>
        <p:spPr/>
        <p:txBody>
          <a:bodyPr/>
          <a:lstStyle/>
          <a:p>
            <a:pPr marL="152400" indent="0">
              <a:buNone/>
            </a:pPr>
            <a:r>
              <a:rPr lang="en-IN" dirty="0">
                <a:latin typeface="Times New Roman" panose="02020603050405020304" pitchFamily="18" charset="0"/>
                <a:cs typeface="Times New Roman" panose="02020603050405020304" pitchFamily="18" charset="0"/>
              </a:rPr>
              <a:t>[1] </a:t>
            </a:r>
            <a:r>
              <a:rPr lang="en-US" b="0" i="0" dirty="0" err="1">
                <a:solidFill>
                  <a:srgbClr val="374151"/>
                </a:solidFill>
                <a:effectLst/>
                <a:latin typeface="Times New Roman" panose="02020603050405020304" pitchFamily="18" charset="0"/>
                <a:cs typeface="Times New Roman" panose="02020603050405020304" pitchFamily="18" charset="0"/>
              </a:rPr>
              <a:t>Akgün</a:t>
            </a:r>
            <a:r>
              <a:rPr lang="en-US" b="0" i="0" dirty="0">
                <a:solidFill>
                  <a:srgbClr val="374151"/>
                </a:solidFill>
                <a:effectLst/>
                <a:latin typeface="Times New Roman" panose="02020603050405020304" pitchFamily="18" charset="0"/>
                <a:cs typeface="Times New Roman" panose="02020603050405020304" pitchFamily="18" charset="0"/>
              </a:rPr>
              <a:t>, S., &amp; </a:t>
            </a:r>
            <a:r>
              <a:rPr lang="en-US" b="0" i="0" dirty="0" err="1">
                <a:solidFill>
                  <a:srgbClr val="374151"/>
                </a:solidFill>
                <a:effectLst/>
                <a:latin typeface="Times New Roman" panose="02020603050405020304" pitchFamily="18" charset="0"/>
                <a:cs typeface="Times New Roman" panose="02020603050405020304" pitchFamily="18" charset="0"/>
              </a:rPr>
              <a:t>Ciarrochi</a:t>
            </a:r>
            <a:r>
              <a:rPr lang="en-US" b="0" i="0" dirty="0">
                <a:solidFill>
                  <a:srgbClr val="374151"/>
                </a:solidFill>
                <a:effectLst/>
                <a:latin typeface="Times New Roman" panose="02020603050405020304" pitchFamily="18" charset="0"/>
                <a:cs typeface="Times New Roman" panose="02020603050405020304" pitchFamily="18" charset="0"/>
              </a:rPr>
              <a:t>, J. (2003). Learned Resourcefulness Moderates the Relationship Between Academic Stress and Academic Performance. </a:t>
            </a:r>
            <a:r>
              <a:rPr lang="en-US" b="0" i="1" dirty="0">
                <a:solidFill>
                  <a:srgbClr val="374151"/>
                </a:solidFill>
                <a:effectLst/>
                <a:latin typeface="Times New Roman" panose="02020603050405020304" pitchFamily="18" charset="0"/>
                <a:cs typeface="Times New Roman" panose="02020603050405020304" pitchFamily="18" charset="0"/>
              </a:rPr>
              <a:t>Educational Psychology, 23</a:t>
            </a:r>
            <a:r>
              <a:rPr lang="en-US" b="0" i="0" dirty="0">
                <a:solidFill>
                  <a:srgbClr val="374151"/>
                </a:solidFill>
                <a:effectLst/>
                <a:latin typeface="Times New Roman" panose="02020603050405020304" pitchFamily="18" charset="0"/>
                <a:cs typeface="Times New Roman" panose="02020603050405020304" pitchFamily="18" charset="0"/>
              </a:rPr>
              <a:t>, 287-294. </a:t>
            </a:r>
            <a:r>
              <a:rPr lang="en-US" b="0" i="0" u="none" strike="noStrike" dirty="0">
                <a:effectLst/>
                <a:latin typeface="Times New Roman" panose="02020603050405020304" pitchFamily="18" charset="0"/>
                <a:cs typeface="Times New Roman" panose="02020603050405020304" pitchFamily="18" charset="0"/>
                <a:hlinkClick r:id="rId2"/>
              </a:rPr>
              <a:t>https://doi.org/10.1080/0144341032000060129</a:t>
            </a:r>
            <a:endParaRPr lang="en-US" b="0" i="0" u="none" strike="noStrike" dirty="0">
              <a:effectLst/>
              <a:latin typeface="Times New Roman" panose="02020603050405020304" pitchFamily="18" charset="0"/>
              <a:cs typeface="Times New Roman" panose="02020603050405020304" pitchFamily="18" charset="0"/>
            </a:endParaRPr>
          </a:p>
          <a:p>
            <a:pPr marL="152400" indent="0">
              <a:buNone/>
            </a:pPr>
            <a:endParaRPr lang="en-US" dirty="0">
              <a:latin typeface="Times New Roman" panose="02020603050405020304" pitchFamily="18" charset="0"/>
              <a:cs typeface="Times New Roman" panose="02020603050405020304" pitchFamily="18" charset="0"/>
            </a:endParaRPr>
          </a:p>
          <a:p>
            <a:pPr marL="152400" indent="0">
              <a:buNone/>
            </a:pPr>
            <a:r>
              <a:rPr lang="en-US" dirty="0">
                <a:latin typeface="Times New Roman" panose="02020603050405020304" pitchFamily="18" charset="0"/>
                <a:cs typeface="Times New Roman" panose="02020603050405020304" pitchFamily="18" charset="0"/>
              </a:rPr>
              <a:t>[2] </a:t>
            </a:r>
            <a:r>
              <a:rPr lang="en-US" b="0" i="0" dirty="0" err="1">
                <a:solidFill>
                  <a:srgbClr val="374151"/>
                </a:solidFill>
                <a:effectLst/>
                <a:latin typeface="Times New Roman" panose="02020603050405020304" pitchFamily="18" charset="0"/>
                <a:cs typeface="Times New Roman" panose="02020603050405020304" pitchFamily="18" charset="0"/>
              </a:rPr>
              <a:t>Aldwin</a:t>
            </a:r>
            <a:r>
              <a:rPr lang="en-US" b="0" i="0" dirty="0">
                <a:solidFill>
                  <a:srgbClr val="374151"/>
                </a:solidFill>
                <a:effectLst/>
                <a:latin typeface="Times New Roman" panose="02020603050405020304" pitchFamily="18" charset="0"/>
                <a:cs typeface="Times New Roman" panose="02020603050405020304" pitchFamily="18" charset="0"/>
              </a:rPr>
              <a:t>, C., &amp; Greenberger, E. (1987). Cultural differences in the predictors of depression. </a:t>
            </a:r>
            <a:r>
              <a:rPr lang="en-US" b="0" i="1" dirty="0">
                <a:solidFill>
                  <a:srgbClr val="374151"/>
                </a:solidFill>
                <a:effectLst/>
                <a:latin typeface="Times New Roman" panose="02020603050405020304" pitchFamily="18" charset="0"/>
                <a:cs typeface="Times New Roman" panose="02020603050405020304" pitchFamily="18" charset="0"/>
              </a:rPr>
              <a:t>American Journal of Community Psychology, 15</a:t>
            </a:r>
            <a:r>
              <a:rPr lang="en-US" b="0" i="0" dirty="0">
                <a:solidFill>
                  <a:srgbClr val="374151"/>
                </a:solidFill>
                <a:effectLst/>
                <a:latin typeface="Times New Roman" panose="02020603050405020304" pitchFamily="18" charset="0"/>
                <a:cs typeface="Times New Roman" panose="02020603050405020304" pitchFamily="18" charset="0"/>
              </a:rPr>
              <a:t>(6), 789–813. </a:t>
            </a:r>
            <a:r>
              <a:rPr lang="en-US" b="0" i="0" u="none" strike="noStrike" dirty="0">
                <a:effectLst/>
                <a:latin typeface="Times New Roman" panose="02020603050405020304" pitchFamily="18" charset="0"/>
                <a:cs typeface="Times New Roman" panose="02020603050405020304" pitchFamily="18" charset="0"/>
                <a:hlinkClick r:id="rId3"/>
              </a:rPr>
              <a:t>https://doi.org/10.1007/bf00919803</a:t>
            </a:r>
            <a:endParaRPr lang="en-US" b="0" i="0" u="none" strike="noStrike" dirty="0">
              <a:effectLst/>
              <a:latin typeface="Times New Roman" panose="02020603050405020304" pitchFamily="18" charset="0"/>
              <a:cs typeface="Times New Roman" panose="02020603050405020304" pitchFamily="18" charset="0"/>
            </a:endParaRPr>
          </a:p>
          <a:p>
            <a:pPr marL="152400" indent="0">
              <a:buNone/>
            </a:pPr>
            <a:endParaRPr lang="en-US" dirty="0">
              <a:latin typeface="Times New Roman" panose="02020603050405020304" pitchFamily="18" charset="0"/>
              <a:cs typeface="Times New Roman" panose="02020603050405020304" pitchFamily="18" charset="0"/>
            </a:endParaRPr>
          </a:p>
          <a:p>
            <a:pPr marL="152400" indent="0">
              <a:buNone/>
            </a:pPr>
            <a:r>
              <a:rPr lang="en-US" dirty="0">
                <a:latin typeface="Times New Roman" panose="02020603050405020304" pitchFamily="18" charset="0"/>
                <a:cs typeface="Times New Roman" panose="02020603050405020304" pitchFamily="18" charset="0"/>
              </a:rPr>
              <a:t>[3] </a:t>
            </a:r>
            <a:r>
              <a:rPr lang="en-US" b="0" i="0" dirty="0">
                <a:solidFill>
                  <a:srgbClr val="374151"/>
                </a:solidFill>
                <a:effectLst/>
                <a:latin typeface="Times New Roman" panose="02020603050405020304" pitchFamily="18" charset="0"/>
                <a:cs typeface="Times New Roman" panose="02020603050405020304" pitchFamily="18" charset="0"/>
              </a:rPr>
              <a:t>Banks, J., &amp; Smyth, E. (2015). 'Your whole life depends on it': Academic stress and high-stakes testing in Ireland. </a:t>
            </a:r>
            <a:r>
              <a:rPr lang="en-US" b="0" i="1" dirty="0">
                <a:solidFill>
                  <a:srgbClr val="374151"/>
                </a:solidFill>
                <a:effectLst/>
                <a:latin typeface="Times New Roman" panose="02020603050405020304" pitchFamily="18" charset="0"/>
                <a:cs typeface="Times New Roman" panose="02020603050405020304" pitchFamily="18" charset="0"/>
              </a:rPr>
              <a:t>Journal of Youth Studies, 18</a:t>
            </a:r>
            <a:r>
              <a:rPr lang="en-US" b="0" i="0" dirty="0">
                <a:solidFill>
                  <a:srgbClr val="374151"/>
                </a:solidFill>
                <a:effectLst/>
                <a:latin typeface="Times New Roman" panose="02020603050405020304" pitchFamily="18" charset="0"/>
                <a:cs typeface="Times New Roman" panose="02020603050405020304" pitchFamily="18" charset="0"/>
              </a:rPr>
              <a:t>(5), 598-616. </a:t>
            </a:r>
            <a:r>
              <a:rPr lang="en-US" b="0" i="0" u="none" strike="noStrike" dirty="0">
                <a:effectLst/>
                <a:latin typeface="Times New Roman" panose="02020603050405020304" pitchFamily="18" charset="0"/>
                <a:cs typeface="Times New Roman" panose="02020603050405020304" pitchFamily="18" charset="0"/>
                <a:hlinkClick r:id="rId4"/>
              </a:rPr>
              <a:t>https://doi.org/10.1080/13676261.2014.992317</a:t>
            </a:r>
            <a:endParaRPr lang="en-US" b="0" i="0" u="none" strike="noStrike" dirty="0">
              <a:effectLst/>
              <a:latin typeface="Times New Roman" panose="02020603050405020304" pitchFamily="18" charset="0"/>
              <a:cs typeface="Times New Roman" panose="02020603050405020304" pitchFamily="18" charset="0"/>
            </a:endParaRPr>
          </a:p>
          <a:p>
            <a:pPr marL="152400" indent="0">
              <a:buNone/>
            </a:pPr>
            <a:endParaRPr lang="en-US" dirty="0">
              <a:latin typeface="Times New Roman" panose="02020603050405020304" pitchFamily="18" charset="0"/>
              <a:cs typeface="Times New Roman" panose="02020603050405020304" pitchFamily="18" charset="0"/>
            </a:endParaRPr>
          </a:p>
          <a:p>
            <a:pPr marL="152400" indent="0">
              <a:buNone/>
            </a:pPr>
            <a:r>
              <a:rPr lang="en-US" dirty="0">
                <a:latin typeface="Times New Roman" panose="02020603050405020304" pitchFamily="18" charset="0"/>
                <a:cs typeface="Times New Roman" panose="02020603050405020304" pitchFamily="18" charset="0"/>
              </a:rPr>
              <a:t>[4] </a:t>
            </a:r>
            <a:r>
              <a:rPr lang="en-US" b="0" i="0" dirty="0">
                <a:solidFill>
                  <a:srgbClr val="343541"/>
                </a:solidFill>
                <a:effectLst/>
                <a:latin typeface="Times New Roman" panose="02020603050405020304" pitchFamily="18" charset="0"/>
                <a:cs typeface="Times New Roman" panose="02020603050405020304" pitchFamily="18" charset="0"/>
              </a:rPr>
              <a:t>Ji, H., &amp; Zhang, L. (2011). Research on college students' stresses and coping strategies. Asian Social Science, 7(10), 30.</a:t>
            </a:r>
          </a:p>
          <a:p>
            <a:pPr marL="152400" indent="0">
              <a:buNone/>
            </a:pPr>
            <a:r>
              <a:rPr lang="en-IN" dirty="0">
                <a:latin typeface="Times New Roman" panose="02020603050405020304" pitchFamily="18" charset="0"/>
                <a:cs typeface="Times New Roman" panose="02020603050405020304" pitchFamily="18" charset="0"/>
                <a:hlinkClick r:id="rId5"/>
              </a:rPr>
              <a:t>https://www.ccsenet.org/journal/index.php/ass/article/view/12451</a:t>
            </a:r>
            <a:r>
              <a:rPr lang="en-US" dirty="0">
                <a:solidFill>
                  <a:srgbClr val="343541"/>
                </a:solidFill>
                <a:latin typeface="Times New Roman" panose="02020603050405020304" pitchFamily="18" charset="0"/>
                <a:cs typeface="Times New Roman" panose="02020603050405020304" pitchFamily="18" charset="0"/>
                <a:hlinkClick r:id="rId5"/>
              </a:rPr>
              <a:t>\</a:t>
            </a:r>
            <a:endParaRPr lang="en-US" dirty="0">
              <a:solidFill>
                <a:srgbClr val="343541"/>
              </a:solidFill>
              <a:latin typeface="Times New Roman" panose="02020603050405020304" pitchFamily="18" charset="0"/>
              <a:cs typeface="Times New Roman" panose="02020603050405020304" pitchFamily="18" charset="0"/>
            </a:endParaRPr>
          </a:p>
          <a:p>
            <a:pPr marL="152400" indent="0">
              <a:buNone/>
            </a:pPr>
            <a:endParaRPr lang="en-US" dirty="0">
              <a:solidFill>
                <a:srgbClr val="343541"/>
              </a:solidFill>
              <a:latin typeface="Times New Roman" panose="02020603050405020304" pitchFamily="18" charset="0"/>
              <a:cs typeface="Times New Roman" panose="02020603050405020304" pitchFamily="18" charset="0"/>
            </a:endParaRPr>
          </a:p>
          <a:p>
            <a:pPr marL="152400" indent="0">
              <a:buNone/>
            </a:pPr>
            <a:r>
              <a:rPr lang="en-US" dirty="0">
                <a:solidFill>
                  <a:srgbClr val="343541"/>
                </a:solidFill>
                <a:latin typeface="Times New Roman" panose="02020603050405020304" pitchFamily="18" charset="0"/>
                <a:cs typeface="Times New Roman" panose="02020603050405020304" pitchFamily="18" charset="0"/>
              </a:rPr>
              <a:t>[5] </a:t>
            </a:r>
            <a:r>
              <a:rPr lang="en-US" b="0" i="0" dirty="0">
                <a:solidFill>
                  <a:srgbClr val="222222"/>
                </a:solidFill>
                <a:effectLst/>
                <a:latin typeface="Times New Roman" panose="02020603050405020304" pitchFamily="18" charset="0"/>
                <a:cs typeface="Times New Roman" panose="02020603050405020304" pitchFamily="18" charset="0"/>
              </a:rPr>
              <a:t>Kai-Wen, Cheng. "A study of stress sources among college students in Taiwan." </a:t>
            </a:r>
            <a:r>
              <a:rPr lang="en-US" b="0" i="1" dirty="0">
                <a:solidFill>
                  <a:srgbClr val="222222"/>
                </a:solidFill>
                <a:effectLst/>
                <a:latin typeface="Times New Roman" panose="02020603050405020304" pitchFamily="18" charset="0"/>
                <a:cs typeface="Times New Roman" panose="02020603050405020304" pitchFamily="18" charset="0"/>
              </a:rPr>
              <a:t>Journal of Academic and Business Ethics</a:t>
            </a:r>
            <a:r>
              <a:rPr lang="en-US" b="0" i="0" dirty="0">
                <a:solidFill>
                  <a:srgbClr val="222222"/>
                </a:solidFill>
                <a:effectLst/>
                <a:latin typeface="Times New Roman" panose="02020603050405020304" pitchFamily="18" charset="0"/>
                <a:cs typeface="Times New Roman" panose="02020603050405020304" pitchFamily="18" charset="0"/>
              </a:rPr>
              <a:t> 2 (2009): 1. </a:t>
            </a:r>
            <a:r>
              <a:rPr lang="en-US" b="0" i="0" u="sng" dirty="0">
                <a:solidFill>
                  <a:srgbClr val="222222"/>
                </a:solidFill>
                <a:effectLst/>
                <a:latin typeface="Times New Roman" panose="02020603050405020304" pitchFamily="18" charset="0"/>
                <a:cs typeface="Times New Roman" panose="02020603050405020304" pitchFamily="18" charset="0"/>
              </a:rPr>
              <a:t>https://citeseerx.ist.psu.edu/document?repid=rep1&amp;type=pdf&amp;doi=725729d04cde923ea09dca38d8702c52250a7342</a:t>
            </a:r>
            <a:endParaRPr lang="en-IN" u="sng"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BB52232-1795-29F6-6D8F-54A53007C28D}"/>
              </a:ext>
            </a:extLst>
          </p:cNvPr>
          <p:cNvSpPr>
            <a:spLocks noGrp="1"/>
          </p:cNvSpPr>
          <p:nvPr>
            <p:ph type="title"/>
          </p:nvPr>
        </p:nvSpPr>
        <p:spPr/>
        <p:txBody>
          <a:bodyPr/>
          <a:lstStyle/>
          <a:p>
            <a:r>
              <a:rPr lang="en-IN" dirty="0"/>
              <a:t>References:</a:t>
            </a:r>
          </a:p>
        </p:txBody>
      </p:sp>
      <p:sp>
        <p:nvSpPr>
          <p:cNvPr id="4" name="TextBox 3">
            <a:extLst>
              <a:ext uri="{FF2B5EF4-FFF2-40B4-BE49-F238E27FC236}">
                <a16:creationId xmlns:a16="http://schemas.microsoft.com/office/drawing/2014/main" id="{90AC7ACF-8192-7410-4884-684E4E2052A3}"/>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34</a:t>
            </a:r>
            <a:endParaRPr lang="en-IN" dirty="0">
              <a:solidFill>
                <a:sysClr val="windowText" lastClr="000000"/>
              </a:solidFill>
            </a:endParaRPr>
          </a:p>
        </p:txBody>
      </p:sp>
    </p:spTree>
    <p:extLst>
      <p:ext uri="{BB962C8B-B14F-4D97-AF65-F5344CB8AC3E}">
        <p14:creationId xmlns:p14="http://schemas.microsoft.com/office/powerpoint/2010/main" val="19837028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73EC57-0AD2-3CC8-DCD6-FF3827CD4431}"/>
              </a:ext>
            </a:extLst>
          </p:cNvPr>
          <p:cNvSpPr>
            <a:spLocks noGrp="1"/>
          </p:cNvSpPr>
          <p:nvPr>
            <p:ph type="body" idx="1"/>
          </p:nvPr>
        </p:nvSpPr>
        <p:spPr/>
        <p:txBody>
          <a:bodyPr/>
          <a:lstStyle/>
          <a:p>
            <a:pPr marL="152400" indent="0">
              <a:buNone/>
            </a:pPr>
            <a:r>
              <a:rPr lang="en-IN" dirty="0">
                <a:latin typeface="Times New Roman" panose="02020603050405020304" pitchFamily="18" charset="0"/>
                <a:cs typeface="Times New Roman" panose="02020603050405020304" pitchFamily="18" charset="0"/>
              </a:rPr>
              <a:t>[6] </a:t>
            </a:r>
            <a:r>
              <a:rPr lang="en-US" b="0" i="0" dirty="0" err="1">
                <a:solidFill>
                  <a:srgbClr val="374151"/>
                </a:solidFill>
                <a:effectLst/>
                <a:latin typeface="Times New Roman" panose="02020603050405020304" pitchFamily="18" charset="0"/>
                <a:cs typeface="Times New Roman" panose="02020603050405020304" pitchFamily="18" charset="0"/>
              </a:rPr>
              <a:t>Robotham</a:t>
            </a:r>
            <a:r>
              <a:rPr lang="en-US" b="0" i="0" dirty="0">
                <a:solidFill>
                  <a:srgbClr val="374151"/>
                </a:solidFill>
                <a:effectLst/>
                <a:latin typeface="Times New Roman" panose="02020603050405020304" pitchFamily="18" charset="0"/>
                <a:cs typeface="Times New Roman" panose="02020603050405020304" pitchFamily="18" charset="0"/>
              </a:rPr>
              <a:t>, D. (2008). Stress among higher education students: Towards a research agenda. </a:t>
            </a:r>
            <a:r>
              <a:rPr lang="en-US" b="0" i="1" dirty="0">
                <a:solidFill>
                  <a:srgbClr val="374151"/>
                </a:solidFill>
                <a:effectLst/>
                <a:latin typeface="Times New Roman" panose="02020603050405020304" pitchFamily="18" charset="0"/>
                <a:cs typeface="Times New Roman" panose="02020603050405020304" pitchFamily="18" charset="0"/>
              </a:rPr>
              <a:t>Higher Education, 56</a:t>
            </a:r>
            <a:r>
              <a:rPr lang="en-US" b="0" i="0" dirty="0">
                <a:solidFill>
                  <a:srgbClr val="374151"/>
                </a:solidFill>
                <a:effectLst/>
                <a:latin typeface="Times New Roman" panose="02020603050405020304" pitchFamily="18" charset="0"/>
                <a:cs typeface="Times New Roman" panose="02020603050405020304" pitchFamily="18" charset="0"/>
              </a:rPr>
              <a:t>(6), 735-746. </a:t>
            </a:r>
            <a:r>
              <a:rPr lang="en-US" b="0" i="0" u="none" strike="noStrike" dirty="0">
                <a:effectLst/>
                <a:latin typeface="Times New Roman" panose="02020603050405020304" pitchFamily="18" charset="0"/>
                <a:cs typeface="Times New Roman" panose="02020603050405020304" pitchFamily="18" charset="0"/>
                <a:hlinkClick r:id="rId2"/>
              </a:rPr>
              <a:t>https://doi.org/10.1007/s10734-008-9137-1</a:t>
            </a:r>
            <a:endParaRPr lang="en-IN" dirty="0">
              <a:latin typeface="Times New Roman" panose="02020603050405020304" pitchFamily="18" charset="0"/>
              <a:cs typeface="Times New Roman" panose="02020603050405020304" pitchFamily="18" charset="0"/>
            </a:endParaRPr>
          </a:p>
          <a:p>
            <a:pPr marL="152400" indent="0">
              <a:buNone/>
            </a:pPr>
            <a:endParaRPr lang="en-US" dirty="0">
              <a:latin typeface="Times New Roman" panose="02020603050405020304" pitchFamily="18" charset="0"/>
              <a:cs typeface="Times New Roman" panose="02020603050405020304" pitchFamily="18" charset="0"/>
            </a:endParaRPr>
          </a:p>
          <a:p>
            <a:pPr marL="152400" indent="0">
              <a:buNone/>
            </a:pPr>
            <a:r>
              <a:rPr lang="en-US" dirty="0">
                <a:latin typeface="Times New Roman" panose="02020603050405020304" pitchFamily="18" charset="0"/>
                <a:cs typeface="Times New Roman" panose="02020603050405020304" pitchFamily="18" charset="0"/>
              </a:rPr>
              <a:t>[7] </a:t>
            </a:r>
            <a:r>
              <a:rPr lang="en-US" b="0" i="0" dirty="0" err="1">
                <a:solidFill>
                  <a:srgbClr val="374151"/>
                </a:solidFill>
                <a:effectLst/>
                <a:latin typeface="Times New Roman" panose="02020603050405020304" pitchFamily="18" charset="0"/>
                <a:cs typeface="Times New Roman" panose="02020603050405020304" pitchFamily="18" charset="0"/>
              </a:rPr>
              <a:t>Sarros</a:t>
            </a:r>
            <a:r>
              <a:rPr lang="en-US" b="0" i="0" dirty="0">
                <a:solidFill>
                  <a:srgbClr val="374151"/>
                </a:solidFill>
                <a:effectLst/>
                <a:latin typeface="Times New Roman" panose="02020603050405020304" pitchFamily="18" charset="0"/>
                <a:cs typeface="Times New Roman" panose="02020603050405020304" pitchFamily="18" charset="0"/>
              </a:rPr>
              <a:t>, J. C., &amp; </a:t>
            </a:r>
            <a:r>
              <a:rPr lang="en-US" b="0" i="0" dirty="0" err="1">
                <a:solidFill>
                  <a:srgbClr val="374151"/>
                </a:solidFill>
                <a:effectLst/>
                <a:latin typeface="Times New Roman" panose="02020603050405020304" pitchFamily="18" charset="0"/>
                <a:cs typeface="Times New Roman" panose="02020603050405020304" pitchFamily="18" charset="0"/>
              </a:rPr>
              <a:t>Densten</a:t>
            </a:r>
            <a:r>
              <a:rPr lang="en-US" b="0" i="0" dirty="0">
                <a:solidFill>
                  <a:srgbClr val="374151"/>
                </a:solidFill>
                <a:effectLst/>
                <a:latin typeface="Times New Roman" panose="02020603050405020304" pitchFamily="18" charset="0"/>
                <a:cs typeface="Times New Roman" panose="02020603050405020304" pitchFamily="18" charset="0"/>
              </a:rPr>
              <a:t>, I. L. (1989). Undergraduate student stress and coping strategies. </a:t>
            </a:r>
            <a:r>
              <a:rPr lang="en-US" b="0" i="1" dirty="0">
                <a:solidFill>
                  <a:srgbClr val="374151"/>
                </a:solidFill>
                <a:effectLst/>
                <a:latin typeface="Times New Roman" panose="02020603050405020304" pitchFamily="18" charset="0"/>
                <a:cs typeface="Times New Roman" panose="02020603050405020304" pitchFamily="18" charset="0"/>
              </a:rPr>
              <a:t>Higher Education Research &amp; Development, 8</a:t>
            </a:r>
            <a:r>
              <a:rPr lang="en-US" b="0" i="0" dirty="0">
                <a:solidFill>
                  <a:srgbClr val="374151"/>
                </a:solidFill>
                <a:effectLst/>
                <a:latin typeface="Times New Roman" panose="02020603050405020304" pitchFamily="18" charset="0"/>
                <a:cs typeface="Times New Roman" panose="02020603050405020304" pitchFamily="18" charset="0"/>
              </a:rPr>
              <a:t>(1), 47-57. </a:t>
            </a:r>
            <a:r>
              <a:rPr lang="en-US" b="0" i="0" u="none" strike="noStrike" dirty="0">
                <a:effectLst/>
                <a:latin typeface="Times New Roman" panose="02020603050405020304" pitchFamily="18" charset="0"/>
                <a:cs typeface="Times New Roman" panose="02020603050405020304" pitchFamily="18" charset="0"/>
                <a:hlinkClick r:id="rId3"/>
              </a:rPr>
              <a:t>https://doi.org/10.1080/0729436890080105</a:t>
            </a:r>
            <a:endParaRPr lang="en-US" b="0" i="0" u="none" strike="noStrike" dirty="0">
              <a:effectLst/>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BBB52232-1795-29F6-6D8F-54A53007C28D}"/>
              </a:ext>
            </a:extLst>
          </p:cNvPr>
          <p:cNvSpPr>
            <a:spLocks noGrp="1"/>
          </p:cNvSpPr>
          <p:nvPr>
            <p:ph type="title"/>
          </p:nvPr>
        </p:nvSpPr>
        <p:spPr/>
        <p:txBody>
          <a:bodyPr/>
          <a:lstStyle/>
          <a:p>
            <a:r>
              <a:rPr lang="en-IN" dirty="0"/>
              <a:t>References:</a:t>
            </a:r>
          </a:p>
        </p:txBody>
      </p:sp>
      <p:sp>
        <p:nvSpPr>
          <p:cNvPr id="4" name="TextBox 3">
            <a:extLst>
              <a:ext uri="{FF2B5EF4-FFF2-40B4-BE49-F238E27FC236}">
                <a16:creationId xmlns:a16="http://schemas.microsoft.com/office/drawing/2014/main" id="{F029F531-3A20-8DB4-8E37-1BB61CEF12C9}"/>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35</a:t>
            </a:r>
            <a:endParaRPr lang="en-IN" dirty="0">
              <a:solidFill>
                <a:sysClr val="windowText" lastClr="000000"/>
              </a:solidFill>
            </a:endParaRPr>
          </a:p>
        </p:txBody>
      </p:sp>
    </p:spTree>
    <p:extLst>
      <p:ext uri="{BB962C8B-B14F-4D97-AF65-F5344CB8AC3E}">
        <p14:creationId xmlns:p14="http://schemas.microsoft.com/office/powerpoint/2010/main" val="8367813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70"/>
        <p:cNvGrpSpPr/>
        <p:nvPr/>
      </p:nvGrpSpPr>
      <p:grpSpPr>
        <a:xfrm>
          <a:off x="0" y="0"/>
          <a:ext cx="0" cy="0"/>
          <a:chOff x="0" y="0"/>
          <a:chExt cx="0" cy="0"/>
        </a:xfrm>
      </p:grpSpPr>
      <p:sp>
        <p:nvSpPr>
          <p:cNvPr id="1971" name="Google Shape;1971;p48"/>
          <p:cNvSpPr txBox="1">
            <a:spLocks noGrp="1"/>
          </p:cNvSpPr>
          <p:nvPr>
            <p:ph type="title"/>
          </p:nvPr>
        </p:nvSpPr>
        <p:spPr>
          <a:xfrm>
            <a:off x="2087250" y="1584300"/>
            <a:ext cx="4969500" cy="1974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IN" dirty="0">
                <a:latin typeface="Open Sans ExtraBold" panose="020B0906030804020204" pitchFamily="34" charset="0"/>
                <a:ea typeface="Open Sans ExtraBold" panose="020B0906030804020204" pitchFamily="34" charset="0"/>
                <a:cs typeface="Open Sans ExtraBold" panose="020B0906030804020204" pitchFamily="34" charset="0"/>
              </a:rPr>
              <a:t>THANK YOU!</a:t>
            </a:r>
            <a:endParaRPr dirty="0">
              <a:latin typeface="Open Sans ExtraBold" panose="020B0906030804020204" pitchFamily="34" charset="0"/>
              <a:ea typeface="Open Sans ExtraBold" panose="020B0906030804020204" pitchFamily="34" charset="0"/>
              <a:cs typeface="Open Sans ExtraBold" panose="020B0906030804020204" pitchFamily="34" charset="0"/>
            </a:endParaRPr>
          </a:p>
        </p:txBody>
      </p:sp>
      <p:grpSp>
        <p:nvGrpSpPr>
          <p:cNvPr id="1972" name="Google Shape;1972;p48"/>
          <p:cNvGrpSpPr/>
          <p:nvPr/>
        </p:nvGrpSpPr>
        <p:grpSpPr>
          <a:xfrm>
            <a:off x="517907" y="353944"/>
            <a:ext cx="804847" cy="882052"/>
            <a:chOff x="6072409" y="4521978"/>
            <a:chExt cx="436705" cy="478622"/>
          </a:xfrm>
        </p:grpSpPr>
        <p:sp>
          <p:nvSpPr>
            <p:cNvPr id="1973" name="Google Shape;1973;p48"/>
            <p:cNvSpPr/>
            <p:nvPr/>
          </p:nvSpPr>
          <p:spPr>
            <a:xfrm rot="5400000">
              <a:off x="6433818" y="4521857"/>
              <a:ext cx="75175" cy="75417"/>
            </a:xfrm>
            <a:custGeom>
              <a:avLst/>
              <a:gdLst/>
              <a:ahLst/>
              <a:cxnLst/>
              <a:rect l="l" t="t" r="r" b="b"/>
              <a:pathLst>
                <a:path w="3716" h="3728" extrusionOk="0">
                  <a:moveTo>
                    <a:pt x="1858" y="0"/>
                  </a:moveTo>
                  <a:cubicBezTo>
                    <a:pt x="822" y="0"/>
                    <a:pt x="1" y="834"/>
                    <a:pt x="1" y="1858"/>
                  </a:cubicBezTo>
                  <a:cubicBezTo>
                    <a:pt x="1"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48"/>
            <p:cNvSpPr/>
            <p:nvPr/>
          </p:nvSpPr>
          <p:spPr>
            <a:xfrm rot="5400000">
              <a:off x="6433707" y="4723580"/>
              <a:ext cx="75397" cy="75417"/>
            </a:xfrm>
            <a:custGeom>
              <a:avLst/>
              <a:gdLst/>
              <a:ahLst/>
              <a:cxnLst/>
              <a:rect l="l" t="t" r="r" b="b"/>
              <a:pathLst>
                <a:path w="3727" h="3728" extrusionOk="0">
                  <a:moveTo>
                    <a:pt x="1857" y="0"/>
                  </a:moveTo>
                  <a:cubicBezTo>
                    <a:pt x="833" y="0"/>
                    <a:pt x="0" y="834"/>
                    <a:pt x="0" y="1858"/>
                  </a:cubicBezTo>
                  <a:cubicBezTo>
                    <a:pt x="0" y="2894"/>
                    <a:pt x="833" y="3727"/>
                    <a:pt x="1857" y="3727"/>
                  </a:cubicBezTo>
                  <a:cubicBezTo>
                    <a:pt x="2893" y="3727"/>
                    <a:pt x="3727" y="2894"/>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48"/>
            <p:cNvSpPr/>
            <p:nvPr/>
          </p:nvSpPr>
          <p:spPr>
            <a:xfrm rot="5400000">
              <a:off x="6433818" y="4925304"/>
              <a:ext cx="75175" cy="75417"/>
            </a:xfrm>
            <a:custGeom>
              <a:avLst/>
              <a:gdLst/>
              <a:ahLst/>
              <a:cxnLst/>
              <a:rect l="l" t="t" r="r" b="b"/>
              <a:pathLst>
                <a:path w="3716" h="3728" extrusionOk="0">
                  <a:moveTo>
                    <a:pt x="1858" y="0"/>
                  </a:moveTo>
                  <a:cubicBezTo>
                    <a:pt x="822" y="0"/>
                    <a:pt x="0" y="834"/>
                    <a:pt x="0" y="1858"/>
                  </a:cubicBezTo>
                  <a:cubicBezTo>
                    <a:pt x="0" y="2894"/>
                    <a:pt x="822" y="3727"/>
                    <a:pt x="1858" y="3727"/>
                  </a:cubicBezTo>
                  <a:cubicBezTo>
                    <a:pt x="2882" y="3727"/>
                    <a:pt x="3715" y="2894"/>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48"/>
            <p:cNvSpPr/>
            <p:nvPr/>
          </p:nvSpPr>
          <p:spPr>
            <a:xfrm rot="5400000">
              <a:off x="6253174" y="4521867"/>
              <a:ext cx="75175" cy="75397"/>
            </a:xfrm>
            <a:custGeom>
              <a:avLst/>
              <a:gdLst/>
              <a:ahLst/>
              <a:cxnLst/>
              <a:rect l="l" t="t" r="r" b="b"/>
              <a:pathLst>
                <a:path w="3716" h="3727" extrusionOk="0">
                  <a:moveTo>
                    <a:pt x="1858" y="0"/>
                  </a:moveTo>
                  <a:cubicBezTo>
                    <a:pt x="822" y="0"/>
                    <a:pt x="1" y="834"/>
                    <a:pt x="1" y="1858"/>
                  </a:cubicBezTo>
                  <a:cubicBezTo>
                    <a:pt x="1"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48"/>
            <p:cNvSpPr/>
            <p:nvPr/>
          </p:nvSpPr>
          <p:spPr>
            <a:xfrm rot="5400000">
              <a:off x="6253063" y="4723591"/>
              <a:ext cx="75397" cy="75397"/>
            </a:xfrm>
            <a:custGeom>
              <a:avLst/>
              <a:gdLst/>
              <a:ahLst/>
              <a:cxnLst/>
              <a:rect l="l" t="t" r="r" b="b"/>
              <a:pathLst>
                <a:path w="3727" h="3727" extrusionOk="0">
                  <a:moveTo>
                    <a:pt x="1857" y="0"/>
                  </a:moveTo>
                  <a:cubicBezTo>
                    <a:pt x="833" y="0"/>
                    <a:pt x="0" y="834"/>
                    <a:pt x="0" y="1858"/>
                  </a:cubicBezTo>
                  <a:cubicBezTo>
                    <a:pt x="0" y="2893"/>
                    <a:pt x="833" y="3727"/>
                    <a:pt x="1857" y="3727"/>
                  </a:cubicBezTo>
                  <a:cubicBezTo>
                    <a:pt x="2893" y="3727"/>
                    <a:pt x="3727" y="2893"/>
                    <a:pt x="3727" y="1858"/>
                  </a:cubicBezTo>
                  <a:cubicBezTo>
                    <a:pt x="3727" y="834"/>
                    <a:pt x="2893" y="0"/>
                    <a:pt x="18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48"/>
            <p:cNvSpPr/>
            <p:nvPr/>
          </p:nvSpPr>
          <p:spPr>
            <a:xfrm rot="5400000">
              <a:off x="6253174" y="4925314"/>
              <a:ext cx="75175" cy="75397"/>
            </a:xfrm>
            <a:custGeom>
              <a:avLst/>
              <a:gdLst/>
              <a:ahLst/>
              <a:cxnLst/>
              <a:rect l="l" t="t" r="r" b="b"/>
              <a:pathLst>
                <a:path w="3716" h="3727" extrusionOk="0">
                  <a:moveTo>
                    <a:pt x="1858" y="0"/>
                  </a:moveTo>
                  <a:cubicBezTo>
                    <a:pt x="822" y="0"/>
                    <a:pt x="0" y="834"/>
                    <a:pt x="0" y="1858"/>
                  </a:cubicBezTo>
                  <a:cubicBezTo>
                    <a:pt x="0" y="2893"/>
                    <a:pt x="822" y="3727"/>
                    <a:pt x="1858" y="3727"/>
                  </a:cubicBezTo>
                  <a:cubicBezTo>
                    <a:pt x="2882" y="3727"/>
                    <a:pt x="3715" y="2893"/>
                    <a:pt x="3715" y="1858"/>
                  </a:cubicBezTo>
                  <a:cubicBezTo>
                    <a:pt x="3715" y="834"/>
                    <a:pt x="2882" y="0"/>
                    <a:pt x="185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48"/>
            <p:cNvSpPr/>
            <p:nvPr/>
          </p:nvSpPr>
          <p:spPr>
            <a:xfrm rot="5400000">
              <a:off x="6072531" y="4521857"/>
              <a:ext cx="75175" cy="75417"/>
            </a:xfrm>
            <a:custGeom>
              <a:avLst/>
              <a:gdLst/>
              <a:ahLst/>
              <a:cxnLst/>
              <a:rect l="l" t="t" r="r" b="b"/>
              <a:pathLst>
                <a:path w="3716" h="3728" extrusionOk="0">
                  <a:moveTo>
                    <a:pt x="1858" y="1"/>
                  </a:moveTo>
                  <a:cubicBezTo>
                    <a:pt x="822" y="1"/>
                    <a:pt x="1" y="834"/>
                    <a:pt x="1" y="1858"/>
                  </a:cubicBezTo>
                  <a:cubicBezTo>
                    <a:pt x="1"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48"/>
            <p:cNvSpPr/>
            <p:nvPr/>
          </p:nvSpPr>
          <p:spPr>
            <a:xfrm rot="5400000">
              <a:off x="6072419" y="4723580"/>
              <a:ext cx="75397" cy="75417"/>
            </a:xfrm>
            <a:custGeom>
              <a:avLst/>
              <a:gdLst/>
              <a:ahLst/>
              <a:cxnLst/>
              <a:rect l="l" t="t" r="r" b="b"/>
              <a:pathLst>
                <a:path w="3727" h="3728" extrusionOk="0">
                  <a:moveTo>
                    <a:pt x="1857" y="1"/>
                  </a:moveTo>
                  <a:cubicBezTo>
                    <a:pt x="833" y="1"/>
                    <a:pt x="0" y="834"/>
                    <a:pt x="0" y="1858"/>
                  </a:cubicBezTo>
                  <a:cubicBezTo>
                    <a:pt x="0" y="2894"/>
                    <a:pt x="833" y="3727"/>
                    <a:pt x="1857" y="3727"/>
                  </a:cubicBezTo>
                  <a:cubicBezTo>
                    <a:pt x="2893" y="3727"/>
                    <a:pt x="3727" y="2894"/>
                    <a:pt x="3727" y="1858"/>
                  </a:cubicBezTo>
                  <a:cubicBezTo>
                    <a:pt x="3727" y="834"/>
                    <a:pt x="2893" y="1"/>
                    <a:pt x="18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48"/>
            <p:cNvSpPr/>
            <p:nvPr/>
          </p:nvSpPr>
          <p:spPr>
            <a:xfrm rot="5400000">
              <a:off x="6072531" y="4925304"/>
              <a:ext cx="75175" cy="75417"/>
            </a:xfrm>
            <a:custGeom>
              <a:avLst/>
              <a:gdLst/>
              <a:ahLst/>
              <a:cxnLst/>
              <a:rect l="l" t="t" r="r" b="b"/>
              <a:pathLst>
                <a:path w="3716" h="3728" extrusionOk="0">
                  <a:moveTo>
                    <a:pt x="1858" y="1"/>
                  </a:moveTo>
                  <a:cubicBezTo>
                    <a:pt x="822" y="1"/>
                    <a:pt x="0" y="834"/>
                    <a:pt x="0" y="1858"/>
                  </a:cubicBezTo>
                  <a:cubicBezTo>
                    <a:pt x="0" y="2894"/>
                    <a:pt x="822" y="3727"/>
                    <a:pt x="1858" y="3727"/>
                  </a:cubicBezTo>
                  <a:cubicBezTo>
                    <a:pt x="2882" y="3727"/>
                    <a:pt x="3715" y="2894"/>
                    <a:pt x="3715" y="1858"/>
                  </a:cubicBezTo>
                  <a:cubicBezTo>
                    <a:pt x="3715" y="834"/>
                    <a:pt x="2882" y="1"/>
                    <a:pt x="18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TextBox 1">
            <a:extLst>
              <a:ext uri="{FF2B5EF4-FFF2-40B4-BE49-F238E27FC236}">
                <a16:creationId xmlns:a16="http://schemas.microsoft.com/office/drawing/2014/main" id="{E1D02723-3EB6-9D09-FF42-97AB27F752F8}"/>
              </a:ext>
            </a:extLst>
          </p:cNvPr>
          <p:cNvSpPr txBox="1"/>
          <p:nvPr/>
        </p:nvSpPr>
        <p:spPr>
          <a:xfrm>
            <a:off x="8625840" y="103708"/>
            <a:ext cx="388620" cy="30777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solidFill>
                  <a:sysClr val="windowText" lastClr="000000"/>
                </a:solidFill>
              </a:rPr>
              <a:t>36</a:t>
            </a:r>
            <a:endParaRPr lang="en-IN" dirty="0">
              <a:solidFill>
                <a:sysClr val="windowText" lastClr="000000"/>
              </a:solidFill>
            </a:endParaRPr>
          </a:p>
        </p:txBody>
      </p:sp>
    </p:spTree>
    <p:extLst>
      <p:ext uri="{BB962C8B-B14F-4D97-AF65-F5344CB8AC3E}">
        <p14:creationId xmlns:p14="http://schemas.microsoft.com/office/powerpoint/2010/main" val="868009322"/>
      </p:ext>
    </p:extLst>
  </p:cSld>
  <p:clrMapOvr>
    <a:masterClrMapping/>
  </p:clrMapOvr>
</p:sld>
</file>

<file path=ppt/theme/theme1.xml><?xml version="1.0" encoding="utf-8"?>
<a:theme xmlns:a="http://schemas.openxmlformats.org/drawingml/2006/main" name="Stress Awareness Month by Slidesgo">
  <a:themeElements>
    <a:clrScheme name="Simple Light">
      <a:dk1>
        <a:srgbClr val="033242"/>
      </a:dk1>
      <a:lt1>
        <a:srgbClr val="FFFFFF"/>
      </a:lt1>
      <a:dk2>
        <a:srgbClr val="949494"/>
      </a:dk2>
      <a:lt2>
        <a:srgbClr val="D6D6D6"/>
      </a:lt2>
      <a:accent1>
        <a:srgbClr val="126B85"/>
      </a:accent1>
      <a:accent2>
        <a:srgbClr val="033242"/>
      </a:accent2>
      <a:accent3>
        <a:srgbClr val="F3D652"/>
      </a:accent3>
      <a:accent4>
        <a:srgbClr val="F9FEFF"/>
      </a:accent4>
      <a:accent5>
        <a:srgbClr val="033242"/>
      </a:accent5>
      <a:accent6>
        <a:srgbClr val="000000"/>
      </a:accent6>
      <a:hlink>
        <a:srgbClr val="03324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Stress Awareness Month by Slidesgo</Template>
  <TotalTime>1127</TotalTime>
  <Words>3145</Words>
  <Application>Microsoft Office PowerPoint</Application>
  <PresentationFormat>On-screen Show (16:9)</PresentationFormat>
  <Paragraphs>630</Paragraphs>
  <Slides>35</Slides>
  <Notes>33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Open Sans</vt:lpstr>
      <vt:lpstr>Arial</vt:lpstr>
      <vt:lpstr>Wingdings</vt:lpstr>
      <vt:lpstr>Karla</vt:lpstr>
      <vt:lpstr>Grandview</vt:lpstr>
      <vt:lpstr>Open Sans ExtraBold</vt:lpstr>
      <vt:lpstr>Cambria Math</vt:lpstr>
      <vt:lpstr>Courier New</vt:lpstr>
      <vt:lpstr>Times New Roman</vt:lpstr>
      <vt:lpstr>Helvetica</vt:lpstr>
      <vt:lpstr>Stress Awareness Month by Slidesgo</vt:lpstr>
      <vt:lpstr>PowerPoint Presentation</vt:lpstr>
      <vt:lpstr>CONTENTS :</vt:lpstr>
      <vt:lpstr>ABSTRACT</vt:lpstr>
      <vt:lpstr>PowerPoint Presentation</vt:lpstr>
      <vt:lpstr>PowerPoint Presentation</vt:lpstr>
      <vt:lpstr>LITERATURE REVIEW</vt:lpstr>
      <vt:lpstr>PowerPoint Presentation</vt:lpstr>
      <vt:lpstr>PowerPoint Presentation</vt:lpstr>
      <vt:lpstr>METHODOLOGY</vt:lpstr>
      <vt:lpstr>TYPES OF VARIABLES :</vt:lpstr>
      <vt:lpstr>BASIC ANALYSIS</vt:lpstr>
      <vt:lpstr>PowerPoint Presentation</vt:lpstr>
      <vt:lpstr>PowerPoint Presentation</vt:lpstr>
      <vt:lpstr>Exploring Stress Factors and Stress Levels </vt:lpstr>
      <vt:lpstr>PowerPoint Presentation</vt:lpstr>
      <vt:lpstr>PowerPoint Presentation</vt:lpstr>
      <vt:lpstr>HYPOTHESIS :</vt:lpstr>
      <vt:lpstr>RESULTS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Investigating Coping Mechanisms and Stress Levels</vt:lpstr>
      <vt:lpstr>PowerPoint Presentation</vt:lpstr>
      <vt:lpstr>HYPOTHESIS :</vt:lpstr>
      <vt:lpstr>RESULTS :</vt:lpstr>
      <vt:lpstr>PowerPoint Presentation</vt:lpstr>
      <vt:lpstr>PowerPoint Presentation</vt:lpstr>
      <vt:lpstr>PowerPoint Presentation</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STRESS AWARENESS MONTH</dc:title>
  <dc:creator>Jayaraj David</dc:creator>
  <cp:lastModifiedBy>Jayaraj David</cp:lastModifiedBy>
  <cp:revision>40</cp:revision>
  <dcterms:created xsi:type="dcterms:W3CDTF">2023-10-06T11:07:07Z</dcterms:created>
  <dcterms:modified xsi:type="dcterms:W3CDTF">2023-10-08T21:45:42Z</dcterms:modified>
</cp:coreProperties>
</file>